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scope. Emphasize that this is end-to-end: we didn't just scan for vulnerabilities, we deliberately introduced them, attacked them, modeled the threats, quantified the financial risk, fixed the code, and then proved the fix worked. This mirrors what a real security consultant does on an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stage of the kill chain. Emphasize that this was deliberately designed to cover multiple MITRE ATT&amp;CK tactics in a single realistic scenario. Each box represents one vulnerability that an attacker could exploit in sequence. The attacker starts with credential stuffing (using leaked password lists), then escalates by exploiting weak file upload, no access control, missing audit logs, raw SQL, exposed data, and finally floods the login endpoint to cause a Denial of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Flask app was built with deliberate, documented vulnerabilities. Each vulnerability corresponds to a specific CWE and has a CVSS score assigned. This is NOT an accidental app — it was an intentional security lab environment. The code panel on the left shows real examples of the vulnerable code. The right panel summarizes each flaw with its industry-standard identifiers. SQL Injection scored 9.8 CRITICAL — the highest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Bandit is a Python-specific SAST tool developed by the Python Security community. It scans source code for common security issues by analyzing the AST (Abstract Syntax Tree). We ran it against our vulnerable Flask app and it correctly identified 5 HIGH, 3 MEDIUM, and 2 LOW severity issues. We then mapped each finding to a CVSS v3.1 base score. The SQL injection scored 9.8 — near maximum criticality. This automated scan forms the foundation of our risk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YAML pipeline is triggered on every push and pull request. When a developer commits code, GitHub Actions immediately runs Bandit against the Python source. If any HIGH severity issue is found, the pipeline fails — blocking the merge. This is 'shift-left' security: we catch vulnerabilities in the developer's workflow, not in a quarterly pentest. The cost to fix a bug at this stage is 30x cheaper than fixing it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STRIDE is a threat modeling framework developed by Microsoft. Each letter represents a category of threat. We mapped every vulnerability in our Flask app to its corresponding STRIDE category. Notice that our vulnerabilities hit ALL six STRIDE categories — this is a comprehensively insecure application. In a real engagement, STRIDE analysis helps prioritize which threats to address first based on risk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Annualized Loss Expectancy (ALE) is the gold standard for communicating risk in financial terms to executives and stakeholders. For SQL Injection: AV=$100K (the value of student data + system), EF=40% (we estimated 40% of records could be compromised per incident), ARO=1 (once per year for an unpatched vulnerability), giving ALE=$40,000/year. For DoS: AV=$50K, EF=40% (4 hours downtime per day), ARO=0.5 (every other year), giving SLE=$20K and ALE=$10,000/year. Combined annual expected loss is $50,000.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vulnerability, we implemented the industry-standard secure coding practice. Parameterized queries completely eliminate SQL injection by separating data from code. Werkzeug's secure_filename() strips path traversal characters. bcrypt is the gold standard for password hashing — it includes a salt and is deliberately slow. Native Python logging creates an audit trail. Flask sessions with role checks implement proper authorization. These aren't just patches — they're fundamental security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retesting phase proves that our mitigations actually worked. After applying all fixes and re-running Bandit, we went from 5 HIGH and 3 MEDIUM findings to zero. The pipeline now passes cleanly. The $40,000 annual SQL injection risk has been fully eliminated through parameterized queries. This before/after comparison is what you present to management to demonstrate the ROI of the security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big lessons. Emphasize that this project demonstrated a complete risk management lifecycle: we DESIGNED the risk, ASSESSED it with automated tools, MODELED the threats, QUANTIFIED the financial exposure, FIXED the code, and PROVED it worked. This is exactly what information security professionals do in practice. The most important lesson: risk management is not a checkbox — it's a continuous process embedded into every phase of software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C0392B"/>
          </a:solidFill>
          <a:ln/>
        </p:spPr>
      </p:sp>
      <p:sp>
        <p:nvSpPr>
          <p:cNvPr id="3" name="Shape 1"/>
          <p:cNvSpPr/>
          <p:nvPr/>
        </p:nvSpPr>
        <p:spPr>
          <a:xfrm>
            <a:off x="5943600" y="0"/>
            <a:ext cx="3200400" cy="5143500"/>
          </a:xfrm>
          <a:prstGeom prst="rect">
            <a:avLst/>
          </a:prstGeom>
          <a:solidFill>
            <a:srgbClr val="1B3A5C">
              <a:alpha val="50000"/>
            </a:srgbClr>
          </a:solidFill>
          <a:ln/>
        </p:spPr>
      </p:sp>
      <p:sp>
        <p:nvSpPr>
          <p:cNvPr id="4" name="Shape 2"/>
          <p:cNvSpPr/>
          <p:nvPr/>
        </p:nvSpPr>
        <p:spPr>
          <a:xfrm>
            <a:off x="6858000" y="0"/>
            <a:ext cx="2286000" cy="5143500"/>
          </a:xfrm>
          <a:prstGeom prst="rect">
            <a:avLst/>
          </a:prstGeom>
          <a:solidFill>
            <a:srgbClr val="2C5282">
              <a:alpha val="40000"/>
            </a:srgbClr>
          </a:solidFill>
          <a:ln/>
        </p:spPr>
      </p:sp>
      <p:pic>
        <p:nvPicPr>
          <p:cNvPr id="5" name="Image 0" descr="preencoded.png">    </p:cNvPr>
          <p:cNvPicPr>
            <a:picLocks noChangeAspect="1"/>
          </p:cNvPicPr>
          <p:nvPr/>
        </p:nvPicPr>
        <p:blipFill>
          <a:blip r:embed="rId1">
            <a:alphaModFix amt="80000"/>
          </a:blip>
          <a:stretch>
            <a:fillRect/>
          </a:stretch>
        </p:blipFill>
        <p:spPr>
          <a:xfrm>
            <a:off x="7132320" y="1097280"/>
            <a:ext cx="1645920" cy="1645920"/>
          </a:xfrm>
          <a:prstGeom prst="rect">
            <a:avLst/>
          </a:prstGeom>
        </p:spPr>
      </p:pic>
      <p:sp>
        <p:nvSpPr>
          <p:cNvPr id="6" name="Shape 3"/>
          <p:cNvSpPr/>
          <p:nvPr/>
        </p:nvSpPr>
        <p:spPr>
          <a:xfrm>
            <a:off x="320040" y="274320"/>
            <a:ext cx="2743200" cy="347472"/>
          </a:xfrm>
          <a:prstGeom prst="rect">
            <a:avLst>
              <a:gd name="adj" fmla="val 13158"/>
            </a:avLst>
          </a:prstGeom>
          <a:solidFill>
            <a:srgbClr val="C0392B"/>
          </a:solidFill>
          <a:ln/>
        </p:spPr>
      </p:sp>
      <p:sp>
        <p:nvSpPr>
          <p:cNvPr id="7" name="Text 4"/>
          <p:cNvSpPr/>
          <p:nvPr/>
        </p:nvSpPr>
        <p:spPr>
          <a:xfrm>
            <a:off x="320040" y="274320"/>
            <a:ext cx="2743200" cy="347472"/>
          </a:xfrm>
          <a:prstGeom prst="rect">
            <a:avLst/>
          </a:prstGeom>
          <a:noFill/>
          <a:ln/>
        </p:spPr>
        <p:txBody>
          <a:bodyPr wrap="square" lIns="0" tIns="0" rIns="0" bIns="0" rtlCol="0" anchor="ctr"/>
          <a:lstStyle/>
          <a:p>
            <a:pPr algn="ctr" indent="0" marL="0">
              <a:buNone/>
            </a:pPr>
            <a:r>
              <a:rPr lang="en-US" sz="700" b="1" dirty="0">
                <a:solidFill>
                  <a:srgbClr val="FFFFFF"/>
                </a:solidFill>
              </a:rPr>
              <a:t>INFORMATION SECURITY RISK MANAGEMENT</a:t>
            </a:r>
            <a:endParaRPr lang="en-US" sz="700" dirty="0"/>
          </a:p>
        </p:txBody>
      </p:sp>
      <p:sp>
        <p:nvSpPr>
          <p:cNvPr id="8" name="Text 5"/>
          <p:cNvSpPr/>
          <p:nvPr/>
        </p:nvSpPr>
        <p:spPr>
          <a:xfrm>
            <a:off x="320040" y="822960"/>
            <a:ext cx="6400800" cy="91440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End-to-End Risk Assessment</a:t>
            </a:r>
            <a:endParaRPr lang="en-US" sz="3800" dirty="0"/>
          </a:p>
        </p:txBody>
      </p:sp>
      <p:sp>
        <p:nvSpPr>
          <p:cNvPr id="9" name="Text 6"/>
          <p:cNvSpPr/>
          <p:nvPr/>
        </p:nvSpPr>
        <p:spPr>
          <a:xfrm>
            <a:off x="320040" y="1691640"/>
            <a:ext cx="6400800" cy="640080"/>
          </a:xfrm>
          <a:prstGeom prst="rect">
            <a:avLst/>
          </a:prstGeom>
          <a:noFill/>
          <a:ln/>
        </p:spPr>
        <p:txBody>
          <a:bodyPr wrap="square" rtlCol="0" anchor="ctr"/>
          <a:lstStyle/>
          <a:p>
            <a:pPr indent="0" marL="0">
              <a:buNone/>
            </a:pPr>
            <a:r>
              <a:rPr lang="en-US" sz="2800" dirty="0">
                <a:solidFill>
                  <a:srgbClr val="CADCFC"/>
                </a:solidFill>
                <a:latin typeface="Calibri" pitchFamily="34" charset="0"/>
                <a:ea typeface="Calibri" pitchFamily="34" charset="-122"/>
                <a:cs typeface="Calibri" pitchFamily="34" charset="-120"/>
              </a:rPr>
              <a:t>of a Software System</a:t>
            </a:r>
            <a:endParaRPr lang="en-US" sz="2800" dirty="0"/>
          </a:p>
        </p:txBody>
      </p:sp>
      <p:sp>
        <p:nvSpPr>
          <p:cNvPr id="10" name="Shape 7"/>
          <p:cNvSpPr/>
          <p:nvPr/>
        </p:nvSpPr>
        <p:spPr>
          <a:xfrm>
            <a:off x="320040" y="2468880"/>
            <a:ext cx="5029200" cy="36576"/>
          </a:xfrm>
          <a:prstGeom prst="rect">
            <a:avLst/>
          </a:prstGeom>
          <a:solidFill>
            <a:srgbClr val="C0392B"/>
          </a:solidFill>
          <a:ln/>
        </p:spPr>
      </p:sp>
      <p:sp>
        <p:nvSpPr>
          <p:cNvPr id="11" name="Text 8"/>
          <p:cNvSpPr/>
          <p:nvPr/>
        </p:nvSpPr>
        <p:spPr>
          <a:xfrm>
            <a:off x="320040" y="2578608"/>
            <a:ext cx="6583680" cy="457200"/>
          </a:xfrm>
          <a:prstGeom prst="rect">
            <a:avLst/>
          </a:prstGeom>
          <a:noFill/>
          <a:ln/>
        </p:spPr>
        <p:txBody>
          <a:bodyPr wrap="square" rtlCol="0" anchor="ctr"/>
          <a:lstStyle/>
          <a:p>
            <a:pPr indent="0" marL="0">
              <a:buNone/>
            </a:pPr>
            <a:r>
              <a:rPr lang="en-US" sz="1100" i="1" dirty="0">
                <a:solidFill>
                  <a:srgbClr val="A0C4FF"/>
                </a:solidFill>
                <a:latin typeface="Calibri" pitchFamily="34" charset="0"/>
                <a:ea typeface="Calibri" pitchFamily="34" charset="-122"/>
                <a:cs typeface="Calibri" pitchFamily="34" charset="-120"/>
              </a:rPr>
              <a:t>A Practical Study: Vulnerability Design → Threat Modeling → Risk Quantification → Secure Remediation</a:t>
            </a:r>
            <a:endParaRPr lang="en-US" sz="1100" dirty="0"/>
          </a:p>
        </p:txBody>
      </p:sp>
      <p:sp>
        <p:nvSpPr>
          <p:cNvPr id="12" name="Shape 9"/>
          <p:cNvSpPr/>
          <p:nvPr/>
        </p:nvSpPr>
        <p:spPr>
          <a:xfrm>
            <a:off x="320040" y="3200400"/>
            <a:ext cx="2560320" cy="658368"/>
          </a:xfrm>
          <a:prstGeom prst="rect">
            <a:avLst/>
          </a:prstGeom>
          <a:solidFill>
            <a:srgbClr val="2C5282">
              <a:alpha val="60000"/>
            </a:srgbClr>
          </a:solidFill>
          <a:ln/>
        </p:spPr>
      </p:sp>
      <p:pic>
        <p:nvPicPr>
          <p:cNvPr id="13" name="Image 1" descr="preencoded.png">    </p:cNvPr>
          <p:cNvPicPr>
            <a:picLocks noChangeAspect="1"/>
          </p:cNvPicPr>
          <p:nvPr/>
        </p:nvPicPr>
        <p:blipFill>
          <a:blip r:embed="rId2"/>
          <a:stretch>
            <a:fillRect/>
          </a:stretch>
        </p:blipFill>
        <p:spPr>
          <a:xfrm>
            <a:off x="411480" y="3273552"/>
            <a:ext cx="320040" cy="320040"/>
          </a:xfrm>
          <a:prstGeom prst="rect">
            <a:avLst/>
          </a:prstGeom>
        </p:spPr>
      </p:pic>
      <p:sp>
        <p:nvSpPr>
          <p:cNvPr id="14" name="Text 10"/>
          <p:cNvSpPr/>
          <p:nvPr/>
        </p:nvSpPr>
        <p:spPr>
          <a:xfrm>
            <a:off x="822960" y="3273552"/>
            <a:ext cx="201168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ISRM Final Project</a:t>
            </a:r>
            <a:endParaRPr lang="en-US" sz="900" dirty="0"/>
          </a:p>
        </p:txBody>
      </p:sp>
      <p:sp>
        <p:nvSpPr>
          <p:cNvPr id="15" name="Shape 11"/>
          <p:cNvSpPr/>
          <p:nvPr/>
        </p:nvSpPr>
        <p:spPr>
          <a:xfrm>
            <a:off x="3154680" y="3200400"/>
            <a:ext cx="2560320" cy="658368"/>
          </a:xfrm>
          <a:prstGeom prst="rect">
            <a:avLst/>
          </a:prstGeom>
          <a:solidFill>
            <a:srgbClr val="2C5282">
              <a:alpha val="60000"/>
            </a:srgbClr>
          </a:solidFill>
          <a:ln/>
        </p:spPr>
      </p:sp>
      <p:pic>
        <p:nvPicPr>
          <p:cNvPr id="16" name="Image 2" descr="preencoded.png">    </p:cNvPr>
          <p:cNvPicPr>
            <a:picLocks noChangeAspect="1"/>
          </p:cNvPicPr>
          <p:nvPr/>
        </p:nvPicPr>
        <p:blipFill>
          <a:blip r:embed="rId3"/>
          <a:stretch>
            <a:fillRect/>
          </a:stretch>
        </p:blipFill>
        <p:spPr>
          <a:xfrm>
            <a:off x="3246120" y="3273552"/>
            <a:ext cx="320040" cy="320040"/>
          </a:xfrm>
          <a:prstGeom prst="rect">
            <a:avLst/>
          </a:prstGeom>
        </p:spPr>
      </p:pic>
      <p:sp>
        <p:nvSpPr>
          <p:cNvPr id="17" name="Text 12"/>
          <p:cNvSpPr/>
          <p:nvPr/>
        </p:nvSpPr>
        <p:spPr>
          <a:xfrm>
            <a:off x="3657600" y="3273552"/>
            <a:ext cx="201168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Flask • MITRE ATT&amp;CK • DevSecOps</a:t>
            </a:r>
            <a:endParaRPr lang="en-US" sz="900" dirty="0"/>
          </a:p>
        </p:txBody>
      </p:sp>
      <p:sp>
        <p:nvSpPr>
          <p:cNvPr id="18" name="Shape 13"/>
          <p:cNvSpPr/>
          <p:nvPr/>
        </p:nvSpPr>
        <p:spPr>
          <a:xfrm>
            <a:off x="5989320" y="3200400"/>
            <a:ext cx="2560320" cy="658368"/>
          </a:xfrm>
          <a:prstGeom prst="rect">
            <a:avLst/>
          </a:prstGeom>
          <a:solidFill>
            <a:srgbClr val="2C5282">
              <a:alpha val="60000"/>
            </a:srgbClr>
          </a:solidFill>
          <a:ln/>
        </p:spPr>
      </p:sp>
      <p:pic>
        <p:nvPicPr>
          <p:cNvPr id="19" name="Image 3" descr="preencoded.png">    </p:cNvPr>
          <p:cNvPicPr>
            <a:picLocks noChangeAspect="1"/>
          </p:cNvPicPr>
          <p:nvPr/>
        </p:nvPicPr>
        <p:blipFill>
          <a:blip r:embed="rId4"/>
          <a:stretch>
            <a:fillRect/>
          </a:stretch>
        </p:blipFill>
        <p:spPr>
          <a:xfrm>
            <a:off x="6080760" y="3273552"/>
            <a:ext cx="320040" cy="320040"/>
          </a:xfrm>
          <a:prstGeom prst="rect">
            <a:avLst/>
          </a:prstGeom>
        </p:spPr>
      </p:pic>
      <p:sp>
        <p:nvSpPr>
          <p:cNvPr id="20" name="Text 14"/>
          <p:cNvSpPr/>
          <p:nvPr/>
        </p:nvSpPr>
        <p:spPr>
          <a:xfrm>
            <a:off x="6492240" y="3273552"/>
            <a:ext cx="201168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SAST • STRIDE • ALE Quantification</a:t>
            </a:r>
            <a:endParaRPr lang="en-US" sz="900" dirty="0"/>
          </a:p>
        </p:txBody>
      </p:sp>
      <p:sp>
        <p:nvSpPr>
          <p:cNvPr id="21" name="Text 15"/>
          <p:cNvSpPr/>
          <p:nvPr/>
        </p:nvSpPr>
        <p:spPr>
          <a:xfrm>
            <a:off x="0" y="4709160"/>
            <a:ext cx="9144000" cy="320040"/>
          </a:xfrm>
          <a:prstGeom prst="rect">
            <a:avLst/>
          </a:prstGeom>
          <a:noFill/>
          <a:ln/>
        </p:spPr>
        <p:txBody>
          <a:bodyPr wrap="square" rtlCol="0" anchor="ctr"/>
          <a:lstStyle/>
          <a:p>
            <a:pPr algn="ctr" indent="0" marL="0">
              <a:buNone/>
            </a:pPr>
            <a:r>
              <a:rPr lang="en-US" sz="900" i="1" dirty="0">
                <a:solidFill>
                  <a:srgbClr val="8898AA"/>
                </a:solidFill>
              </a:rPr>
              <a:t>Secure  •  Assess  •  Remediate  •  Verify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3A5C"/>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77724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Overview &amp; Goals</a:t>
            </a:r>
            <a:endParaRPr lang="en-US" sz="2600" dirty="0"/>
          </a:p>
        </p:txBody>
      </p:sp>
      <p:sp>
        <p:nvSpPr>
          <p:cNvPr id="5" name="Shape 2"/>
          <p:cNvSpPr/>
          <p:nvPr/>
        </p:nvSpPr>
        <p:spPr>
          <a:xfrm>
            <a:off x="274320" y="1051560"/>
            <a:ext cx="4023360" cy="3611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3"/>
          <p:cNvSpPr/>
          <p:nvPr/>
        </p:nvSpPr>
        <p:spPr>
          <a:xfrm>
            <a:off x="274320" y="1051560"/>
            <a:ext cx="4023360" cy="384048"/>
          </a:xfrm>
          <a:prstGeom prst="rect">
            <a:avLst/>
          </a:prstGeom>
          <a:solidFill>
            <a:srgbClr val="2C5282"/>
          </a:solidFill>
          <a:ln/>
        </p:spPr>
      </p:sp>
      <p:sp>
        <p:nvSpPr>
          <p:cNvPr id="7" name="Text 4"/>
          <p:cNvSpPr/>
          <p:nvPr/>
        </p:nvSpPr>
        <p:spPr>
          <a:xfrm>
            <a:off x="274320" y="1051560"/>
            <a:ext cx="4023360" cy="384048"/>
          </a:xfrm>
          <a:prstGeom prst="rect">
            <a:avLst/>
          </a:prstGeom>
          <a:noFill/>
          <a:ln/>
        </p:spPr>
        <p:txBody>
          <a:bodyPr wrap="square" lIns="0" tIns="0" rIns="0" bIns="0" rtlCol="0" anchor="ctr"/>
          <a:lstStyle/>
          <a:p>
            <a:pPr algn="ctr" indent="0" marL="0">
              <a:buNone/>
            </a:pPr>
            <a:r>
              <a:rPr lang="en-US" sz="1200" b="1" dirty="0">
                <a:solidFill>
                  <a:srgbClr val="FFFFFF"/>
                </a:solidFill>
              </a:rPr>
              <a:t>WHAT WE BUILT</a:t>
            </a:r>
            <a:endParaRPr lang="en-US" sz="1200" dirty="0"/>
          </a:p>
        </p:txBody>
      </p:sp>
      <p:pic>
        <p:nvPicPr>
          <p:cNvPr id="8" name="Image 1" descr="preencoded.png">    </p:cNvPr>
          <p:cNvPicPr>
            <a:picLocks noChangeAspect="1"/>
          </p:cNvPicPr>
          <p:nvPr/>
        </p:nvPicPr>
        <p:blipFill>
          <a:blip r:embed="rId2"/>
          <a:stretch>
            <a:fillRect/>
          </a:stretch>
        </p:blipFill>
        <p:spPr>
          <a:xfrm>
            <a:off x="457200" y="1645920"/>
            <a:ext cx="347472" cy="347472"/>
          </a:xfrm>
          <a:prstGeom prst="rect">
            <a:avLst/>
          </a:prstGeom>
        </p:spPr>
      </p:pic>
      <p:sp>
        <p:nvSpPr>
          <p:cNvPr id="9" name="Text 5"/>
          <p:cNvSpPr/>
          <p:nvPr/>
        </p:nvSpPr>
        <p:spPr>
          <a:xfrm>
            <a:off x="960120" y="1600200"/>
            <a:ext cx="3108960" cy="320040"/>
          </a:xfrm>
          <a:prstGeom prst="rect">
            <a:avLst/>
          </a:prstGeom>
          <a:noFill/>
          <a:ln/>
        </p:spPr>
        <p:txBody>
          <a:bodyPr wrap="square" lIns="0" tIns="0" rIns="0" bIns="0"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Vulnerable Flask App</a:t>
            </a:r>
            <a:endParaRPr lang="en-US" sz="1100" dirty="0"/>
          </a:p>
        </p:txBody>
      </p:sp>
      <p:sp>
        <p:nvSpPr>
          <p:cNvPr id="10" name="Text 6"/>
          <p:cNvSpPr/>
          <p:nvPr/>
        </p:nvSpPr>
        <p:spPr>
          <a:xfrm>
            <a:off x="960120" y="1901952"/>
            <a:ext cx="3108960" cy="594360"/>
          </a:xfrm>
          <a:prstGeom prst="rect">
            <a:avLst/>
          </a:prstGeom>
          <a:noFill/>
          <a:ln/>
        </p:spPr>
        <p:txBody>
          <a:bodyPr wrap="square" lIns="0" tIns="0" rIns="0" bIns="0" rtlCol="0" anchor="ctr"/>
          <a:lstStyle/>
          <a:p>
            <a:pPr indent="0" marL="0">
              <a:buNone/>
            </a:pPr>
            <a:r>
              <a:rPr lang="en-US" sz="900" dirty="0">
                <a:solidFill>
                  <a:srgbClr val="2D3748"/>
                </a:solidFill>
                <a:latin typeface="Calibri" pitchFamily="34" charset="0"/>
                <a:ea typeface="Calibri" pitchFamily="34" charset="-122"/>
                <a:cs typeface="Calibri" pitchFamily="34" charset="-120"/>
              </a:rPr>
              <a:t>Student Management System with 7 intentional security vulnerabilities built in to simulate a real-world insecure application.</a:t>
            </a:r>
            <a:endParaRPr lang="en-US" sz="900" dirty="0"/>
          </a:p>
        </p:txBody>
      </p:sp>
      <p:pic>
        <p:nvPicPr>
          <p:cNvPr id="11" name="Image 2" descr="preencoded.png">    </p:cNvPr>
          <p:cNvPicPr>
            <a:picLocks noChangeAspect="1"/>
          </p:cNvPicPr>
          <p:nvPr/>
        </p:nvPicPr>
        <p:blipFill>
          <a:blip r:embed="rId3"/>
          <a:stretch>
            <a:fillRect/>
          </a:stretch>
        </p:blipFill>
        <p:spPr>
          <a:xfrm>
            <a:off x="457200" y="2651760"/>
            <a:ext cx="347472" cy="347472"/>
          </a:xfrm>
          <a:prstGeom prst="rect">
            <a:avLst/>
          </a:prstGeom>
        </p:spPr>
      </p:pic>
      <p:sp>
        <p:nvSpPr>
          <p:cNvPr id="12" name="Text 7"/>
          <p:cNvSpPr/>
          <p:nvPr/>
        </p:nvSpPr>
        <p:spPr>
          <a:xfrm>
            <a:off x="960120" y="2606040"/>
            <a:ext cx="3108960" cy="320040"/>
          </a:xfrm>
          <a:prstGeom prst="rect">
            <a:avLst/>
          </a:prstGeom>
          <a:noFill/>
          <a:ln/>
        </p:spPr>
        <p:txBody>
          <a:bodyPr wrap="square" lIns="0" tIns="0" rIns="0" bIns="0"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Simulated Cyber Attack</a:t>
            </a:r>
            <a:endParaRPr lang="en-US" sz="1100" dirty="0"/>
          </a:p>
        </p:txBody>
      </p:sp>
      <p:sp>
        <p:nvSpPr>
          <p:cNvPr id="13" name="Text 8"/>
          <p:cNvSpPr/>
          <p:nvPr/>
        </p:nvSpPr>
        <p:spPr>
          <a:xfrm>
            <a:off x="960120" y="2907792"/>
            <a:ext cx="3108960" cy="594360"/>
          </a:xfrm>
          <a:prstGeom prst="rect">
            <a:avLst/>
          </a:prstGeom>
          <a:noFill/>
          <a:ln/>
        </p:spPr>
        <p:txBody>
          <a:bodyPr wrap="square" lIns="0" tIns="0" rIns="0" bIns="0" rtlCol="0" anchor="ctr"/>
          <a:lstStyle/>
          <a:p>
            <a:pPr indent="0" marL="0">
              <a:buNone/>
            </a:pPr>
            <a:r>
              <a:rPr lang="en-US" sz="900" dirty="0">
                <a:solidFill>
                  <a:srgbClr val="2D3748"/>
                </a:solidFill>
                <a:latin typeface="Calibri" pitchFamily="34" charset="0"/>
                <a:ea typeface="Calibri" pitchFamily="34" charset="-122"/>
                <a:cs typeface="Calibri" pitchFamily="34" charset="-120"/>
              </a:rPr>
              <a:t>Multi-stage attack pathway designed using the MITRE ATT&amp;CK framework across 7 distinct attack phases.</a:t>
            </a:r>
            <a:endParaRPr lang="en-US" sz="900" dirty="0"/>
          </a:p>
        </p:txBody>
      </p:sp>
      <p:pic>
        <p:nvPicPr>
          <p:cNvPr id="14" name="Image 3" descr="preencoded.png">    </p:cNvPr>
          <p:cNvPicPr>
            <a:picLocks noChangeAspect="1"/>
          </p:cNvPicPr>
          <p:nvPr/>
        </p:nvPicPr>
        <p:blipFill>
          <a:blip r:embed="rId4"/>
          <a:stretch>
            <a:fillRect/>
          </a:stretch>
        </p:blipFill>
        <p:spPr>
          <a:xfrm>
            <a:off x="457200" y="3657600"/>
            <a:ext cx="347472" cy="347472"/>
          </a:xfrm>
          <a:prstGeom prst="rect">
            <a:avLst/>
          </a:prstGeom>
        </p:spPr>
      </p:pic>
      <p:sp>
        <p:nvSpPr>
          <p:cNvPr id="15" name="Text 9"/>
          <p:cNvSpPr/>
          <p:nvPr/>
        </p:nvSpPr>
        <p:spPr>
          <a:xfrm>
            <a:off x="960120" y="3611880"/>
            <a:ext cx="3108960" cy="320040"/>
          </a:xfrm>
          <a:prstGeom prst="rect">
            <a:avLst/>
          </a:prstGeom>
          <a:noFill/>
          <a:ln/>
        </p:spPr>
        <p:txBody>
          <a:bodyPr wrap="square" lIns="0" tIns="0" rIns="0" bIns="0"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Risk Assessment</a:t>
            </a:r>
            <a:endParaRPr lang="en-US" sz="1100" dirty="0"/>
          </a:p>
        </p:txBody>
      </p:sp>
      <p:sp>
        <p:nvSpPr>
          <p:cNvPr id="16" name="Text 10"/>
          <p:cNvSpPr/>
          <p:nvPr/>
        </p:nvSpPr>
        <p:spPr>
          <a:xfrm>
            <a:off x="960120" y="3913632"/>
            <a:ext cx="3108960" cy="594360"/>
          </a:xfrm>
          <a:prstGeom prst="rect">
            <a:avLst/>
          </a:prstGeom>
          <a:noFill/>
          <a:ln/>
        </p:spPr>
        <p:txBody>
          <a:bodyPr wrap="square" lIns="0" tIns="0" rIns="0" bIns="0" rtlCol="0" anchor="ctr"/>
          <a:lstStyle/>
          <a:p>
            <a:pPr indent="0" marL="0">
              <a:buNone/>
            </a:pPr>
            <a:r>
              <a:rPr lang="en-US" sz="900" dirty="0">
                <a:solidFill>
                  <a:srgbClr val="2D3748"/>
                </a:solidFill>
                <a:latin typeface="Calibri" pitchFamily="34" charset="0"/>
                <a:ea typeface="Calibri" pitchFamily="34" charset="-122"/>
                <a:cs typeface="Calibri" pitchFamily="34" charset="-120"/>
              </a:rPr>
              <a:t>Full SAST analysis via Bandit, CVSS scoring, STRIDE threat modeling, and ALE-based financial quantification.</a:t>
            </a:r>
            <a:endParaRPr lang="en-US" sz="900" dirty="0"/>
          </a:p>
        </p:txBody>
      </p:sp>
      <p:sp>
        <p:nvSpPr>
          <p:cNvPr id="17" name="Shape 11"/>
          <p:cNvSpPr/>
          <p:nvPr/>
        </p:nvSpPr>
        <p:spPr>
          <a:xfrm>
            <a:off x="4572000" y="1051560"/>
            <a:ext cx="4297680" cy="3611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2"/>
          <p:cNvSpPr/>
          <p:nvPr/>
        </p:nvSpPr>
        <p:spPr>
          <a:xfrm>
            <a:off x="4572000" y="1051560"/>
            <a:ext cx="4297680" cy="384048"/>
          </a:xfrm>
          <a:prstGeom prst="rect">
            <a:avLst/>
          </a:prstGeom>
          <a:solidFill>
            <a:srgbClr val="4A6FA5"/>
          </a:solidFill>
          <a:ln/>
        </p:spPr>
      </p:sp>
      <p:sp>
        <p:nvSpPr>
          <p:cNvPr id="19" name="Text 13"/>
          <p:cNvSpPr/>
          <p:nvPr/>
        </p:nvSpPr>
        <p:spPr>
          <a:xfrm>
            <a:off x="4572000" y="1051560"/>
            <a:ext cx="4297680" cy="384048"/>
          </a:xfrm>
          <a:prstGeom prst="rect">
            <a:avLst/>
          </a:prstGeom>
          <a:noFill/>
          <a:ln/>
        </p:spPr>
        <p:txBody>
          <a:bodyPr wrap="square" lIns="0" tIns="0" rIns="0" bIns="0" rtlCol="0" anchor="ctr"/>
          <a:lstStyle/>
          <a:p>
            <a:pPr algn="ctr" indent="0" marL="0">
              <a:buNone/>
            </a:pPr>
            <a:r>
              <a:rPr lang="en-US" sz="1200" b="1" dirty="0">
                <a:solidFill>
                  <a:srgbClr val="FFFFFF"/>
                </a:solidFill>
              </a:rPr>
              <a:t>THE 8-PHASE METHODOLOGY</a:t>
            </a:r>
            <a:endParaRPr lang="en-US" sz="1200" dirty="0"/>
          </a:p>
        </p:txBody>
      </p:sp>
      <p:sp>
        <p:nvSpPr>
          <p:cNvPr id="20" name="Shape 14"/>
          <p:cNvSpPr/>
          <p:nvPr/>
        </p:nvSpPr>
        <p:spPr>
          <a:xfrm>
            <a:off x="4754880" y="1572768"/>
            <a:ext cx="384048" cy="329184"/>
          </a:xfrm>
          <a:prstGeom prst="rect">
            <a:avLst/>
          </a:prstGeom>
          <a:solidFill>
            <a:srgbClr val="1B3A5C"/>
          </a:solidFill>
          <a:ln/>
        </p:spPr>
      </p:sp>
      <p:sp>
        <p:nvSpPr>
          <p:cNvPr id="21" name="Text 15"/>
          <p:cNvSpPr/>
          <p:nvPr/>
        </p:nvSpPr>
        <p:spPr>
          <a:xfrm>
            <a:off x="4754880" y="1572768"/>
            <a:ext cx="384048" cy="329184"/>
          </a:xfrm>
          <a:prstGeom prst="rect">
            <a:avLst/>
          </a:prstGeom>
          <a:noFill/>
          <a:ln/>
        </p:spPr>
        <p:txBody>
          <a:bodyPr wrap="square" lIns="0" tIns="0" rIns="0" bIns="0" rtlCol="0" anchor="ctr"/>
          <a:lstStyle/>
          <a:p>
            <a:pPr algn="ctr" indent="0" marL="0">
              <a:buNone/>
            </a:pPr>
            <a:r>
              <a:rPr lang="en-US" sz="900" b="1" dirty="0">
                <a:solidFill>
                  <a:srgbClr val="FFFFFF"/>
                </a:solidFill>
              </a:rPr>
              <a:t>1–2</a:t>
            </a:r>
            <a:endParaRPr lang="en-US" sz="900" dirty="0"/>
          </a:p>
        </p:txBody>
      </p:sp>
      <p:sp>
        <p:nvSpPr>
          <p:cNvPr id="22" name="Text 16"/>
          <p:cNvSpPr/>
          <p:nvPr/>
        </p:nvSpPr>
        <p:spPr>
          <a:xfrm>
            <a:off x="5230368" y="1591056"/>
            <a:ext cx="3474720" cy="310896"/>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Attack Design + Vulnerable System Build</a:t>
            </a:r>
            <a:endParaRPr lang="en-US" sz="1000" dirty="0"/>
          </a:p>
        </p:txBody>
      </p:sp>
      <p:sp>
        <p:nvSpPr>
          <p:cNvPr id="23" name="Shape 17"/>
          <p:cNvSpPr/>
          <p:nvPr/>
        </p:nvSpPr>
        <p:spPr>
          <a:xfrm>
            <a:off x="4754880" y="2020824"/>
            <a:ext cx="384048" cy="329184"/>
          </a:xfrm>
          <a:prstGeom prst="rect">
            <a:avLst/>
          </a:prstGeom>
          <a:solidFill>
            <a:srgbClr val="1B3A5C"/>
          </a:solidFill>
          <a:ln/>
        </p:spPr>
      </p:sp>
      <p:sp>
        <p:nvSpPr>
          <p:cNvPr id="24" name="Text 18"/>
          <p:cNvSpPr/>
          <p:nvPr/>
        </p:nvSpPr>
        <p:spPr>
          <a:xfrm>
            <a:off x="4754880" y="2020824"/>
            <a:ext cx="384048" cy="329184"/>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5" name="Text 19"/>
          <p:cNvSpPr/>
          <p:nvPr/>
        </p:nvSpPr>
        <p:spPr>
          <a:xfrm>
            <a:off x="5230368" y="2039112"/>
            <a:ext cx="3474720" cy="310896"/>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SAST Assessment (Bandit + CVSS Scoring)</a:t>
            </a:r>
            <a:endParaRPr lang="en-US" sz="1000" dirty="0"/>
          </a:p>
        </p:txBody>
      </p:sp>
      <p:sp>
        <p:nvSpPr>
          <p:cNvPr id="26" name="Shape 20"/>
          <p:cNvSpPr/>
          <p:nvPr/>
        </p:nvSpPr>
        <p:spPr>
          <a:xfrm>
            <a:off x="4754880" y="2468880"/>
            <a:ext cx="384048" cy="329184"/>
          </a:xfrm>
          <a:prstGeom prst="rect">
            <a:avLst/>
          </a:prstGeom>
          <a:solidFill>
            <a:srgbClr val="1B3A5C"/>
          </a:solidFill>
          <a:ln/>
        </p:spPr>
      </p:sp>
      <p:sp>
        <p:nvSpPr>
          <p:cNvPr id="27" name="Text 21"/>
          <p:cNvSpPr/>
          <p:nvPr/>
        </p:nvSpPr>
        <p:spPr>
          <a:xfrm>
            <a:off x="4754880" y="2468880"/>
            <a:ext cx="384048" cy="329184"/>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8" name="Text 22"/>
          <p:cNvSpPr/>
          <p:nvPr/>
        </p:nvSpPr>
        <p:spPr>
          <a:xfrm>
            <a:off x="5230368" y="2487168"/>
            <a:ext cx="3474720" cy="310896"/>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DevSecOps CI/CD Integration (GitHub Actions)</a:t>
            </a:r>
            <a:endParaRPr lang="en-US" sz="1000" dirty="0"/>
          </a:p>
        </p:txBody>
      </p:sp>
      <p:sp>
        <p:nvSpPr>
          <p:cNvPr id="29" name="Shape 23"/>
          <p:cNvSpPr/>
          <p:nvPr/>
        </p:nvSpPr>
        <p:spPr>
          <a:xfrm>
            <a:off x="4754880" y="2916936"/>
            <a:ext cx="384048" cy="329184"/>
          </a:xfrm>
          <a:prstGeom prst="rect">
            <a:avLst/>
          </a:prstGeom>
          <a:solidFill>
            <a:srgbClr val="1B3A5C"/>
          </a:solidFill>
          <a:ln/>
        </p:spPr>
      </p:sp>
      <p:sp>
        <p:nvSpPr>
          <p:cNvPr id="30" name="Text 24"/>
          <p:cNvSpPr/>
          <p:nvPr/>
        </p:nvSpPr>
        <p:spPr>
          <a:xfrm>
            <a:off x="4754880" y="2916936"/>
            <a:ext cx="384048" cy="329184"/>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31" name="Text 25"/>
          <p:cNvSpPr/>
          <p:nvPr/>
        </p:nvSpPr>
        <p:spPr>
          <a:xfrm>
            <a:off x="5230368" y="2935224"/>
            <a:ext cx="3474720" cy="310896"/>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STRIDE Threat Modeling</a:t>
            </a:r>
            <a:endParaRPr lang="en-US" sz="1000" dirty="0"/>
          </a:p>
        </p:txBody>
      </p:sp>
      <p:sp>
        <p:nvSpPr>
          <p:cNvPr id="32" name="Shape 26"/>
          <p:cNvSpPr/>
          <p:nvPr/>
        </p:nvSpPr>
        <p:spPr>
          <a:xfrm>
            <a:off x="4754880" y="3364992"/>
            <a:ext cx="384048" cy="329184"/>
          </a:xfrm>
          <a:prstGeom prst="rect">
            <a:avLst/>
          </a:prstGeom>
          <a:solidFill>
            <a:srgbClr val="1B3A5C"/>
          </a:solidFill>
          <a:ln/>
        </p:spPr>
      </p:sp>
      <p:sp>
        <p:nvSpPr>
          <p:cNvPr id="33" name="Text 27"/>
          <p:cNvSpPr/>
          <p:nvPr/>
        </p:nvSpPr>
        <p:spPr>
          <a:xfrm>
            <a:off x="4754880" y="3364992"/>
            <a:ext cx="384048" cy="329184"/>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34" name="Text 28"/>
          <p:cNvSpPr/>
          <p:nvPr/>
        </p:nvSpPr>
        <p:spPr>
          <a:xfrm>
            <a:off x="5230368" y="3383280"/>
            <a:ext cx="3474720" cy="310896"/>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Risk Quantification (ALE Calculation)</a:t>
            </a:r>
            <a:endParaRPr lang="en-US" sz="1000" dirty="0"/>
          </a:p>
        </p:txBody>
      </p:sp>
      <p:sp>
        <p:nvSpPr>
          <p:cNvPr id="35" name="Shape 29"/>
          <p:cNvSpPr/>
          <p:nvPr/>
        </p:nvSpPr>
        <p:spPr>
          <a:xfrm>
            <a:off x="4754880" y="3813048"/>
            <a:ext cx="384048" cy="329184"/>
          </a:xfrm>
          <a:prstGeom prst="rect">
            <a:avLst/>
          </a:prstGeom>
          <a:solidFill>
            <a:srgbClr val="1B3A5C"/>
          </a:solidFill>
          <a:ln/>
        </p:spPr>
      </p:sp>
      <p:sp>
        <p:nvSpPr>
          <p:cNvPr id="36" name="Text 30"/>
          <p:cNvSpPr/>
          <p:nvPr/>
        </p:nvSpPr>
        <p:spPr>
          <a:xfrm>
            <a:off x="4754880" y="3813048"/>
            <a:ext cx="384048" cy="329184"/>
          </a:xfrm>
          <a:prstGeom prst="rect">
            <a:avLst/>
          </a:prstGeom>
          <a:noFill/>
          <a:ln/>
        </p:spPr>
        <p:txBody>
          <a:bodyPr wrap="square" lIns="0" tIns="0" rIns="0" bIns="0" rtlCol="0" anchor="ctr"/>
          <a:lstStyle/>
          <a:p>
            <a:pPr algn="ctr" indent="0" marL="0">
              <a:buNone/>
            </a:pPr>
            <a:r>
              <a:rPr lang="en-US" sz="900" b="1" dirty="0">
                <a:solidFill>
                  <a:srgbClr val="FFFFFF"/>
                </a:solidFill>
              </a:rPr>
              <a:t>7</a:t>
            </a:r>
            <a:endParaRPr lang="en-US" sz="900" dirty="0"/>
          </a:p>
        </p:txBody>
      </p:sp>
      <p:sp>
        <p:nvSpPr>
          <p:cNvPr id="37" name="Text 31"/>
          <p:cNvSpPr/>
          <p:nvPr/>
        </p:nvSpPr>
        <p:spPr>
          <a:xfrm>
            <a:off x="5230368" y="3831336"/>
            <a:ext cx="3474720" cy="310896"/>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Code Remediation &amp; Secure Controls</a:t>
            </a:r>
            <a:endParaRPr lang="en-US" sz="1000" dirty="0"/>
          </a:p>
        </p:txBody>
      </p:sp>
      <p:sp>
        <p:nvSpPr>
          <p:cNvPr id="38" name="Shape 32"/>
          <p:cNvSpPr/>
          <p:nvPr/>
        </p:nvSpPr>
        <p:spPr>
          <a:xfrm>
            <a:off x="4754880" y="4261104"/>
            <a:ext cx="384048" cy="329184"/>
          </a:xfrm>
          <a:prstGeom prst="rect">
            <a:avLst/>
          </a:prstGeom>
          <a:solidFill>
            <a:srgbClr val="1B3A5C"/>
          </a:solidFill>
          <a:ln/>
        </p:spPr>
      </p:sp>
      <p:sp>
        <p:nvSpPr>
          <p:cNvPr id="39" name="Text 33"/>
          <p:cNvSpPr/>
          <p:nvPr/>
        </p:nvSpPr>
        <p:spPr>
          <a:xfrm>
            <a:off x="4754880" y="4261104"/>
            <a:ext cx="384048" cy="329184"/>
          </a:xfrm>
          <a:prstGeom prst="rect">
            <a:avLst/>
          </a:prstGeom>
          <a:noFill/>
          <a:ln/>
        </p:spPr>
        <p:txBody>
          <a:bodyPr wrap="square" lIns="0" tIns="0" rIns="0" bIns="0" rtlCol="0" anchor="ctr"/>
          <a:lstStyle/>
          <a:p>
            <a:pPr algn="ctr" indent="0" marL="0">
              <a:buNone/>
            </a:pPr>
            <a:r>
              <a:rPr lang="en-US" sz="900" b="1" dirty="0">
                <a:solidFill>
                  <a:srgbClr val="FFFFFF"/>
                </a:solidFill>
              </a:rPr>
              <a:t>8</a:t>
            </a:r>
            <a:endParaRPr lang="en-US" sz="900" dirty="0"/>
          </a:p>
        </p:txBody>
      </p:sp>
      <p:sp>
        <p:nvSpPr>
          <p:cNvPr id="40" name="Text 34"/>
          <p:cNvSpPr/>
          <p:nvPr/>
        </p:nvSpPr>
        <p:spPr>
          <a:xfrm>
            <a:off x="5230368" y="4279392"/>
            <a:ext cx="3474720" cy="310896"/>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Retesting &amp; Control Effectiveness Proof</a:t>
            </a:r>
            <a:endParaRPr lang="en-US" sz="1000" dirty="0"/>
          </a:p>
        </p:txBody>
      </p:sp>
      <p:sp>
        <p:nvSpPr>
          <p:cNvPr id="41" name="Shape 35"/>
          <p:cNvSpPr/>
          <p:nvPr/>
        </p:nvSpPr>
        <p:spPr>
          <a:xfrm>
            <a:off x="0" y="4754880"/>
            <a:ext cx="9144000" cy="320040"/>
          </a:xfrm>
          <a:prstGeom prst="rect">
            <a:avLst/>
          </a:prstGeom>
          <a:solidFill>
            <a:srgbClr val="E8EDF3"/>
          </a:solidFill>
          <a:ln/>
        </p:spPr>
      </p:sp>
      <p:sp>
        <p:nvSpPr>
          <p:cNvPr id="42" name="Text 36"/>
          <p:cNvSpPr/>
          <p:nvPr/>
        </p:nvSpPr>
        <p:spPr>
          <a:xfrm>
            <a:off x="274320" y="4773168"/>
            <a:ext cx="8595360" cy="256032"/>
          </a:xfrm>
          <a:prstGeom prst="rect">
            <a:avLst/>
          </a:prstGeom>
          <a:noFill/>
          <a:ln/>
        </p:spPr>
        <p:txBody>
          <a:bodyPr wrap="square"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Goal: Demonstrate a complete risk management lifecycle — from intentional vulnerability to verified remediation — within a realistic DevSecOps pipeline.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68580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1: Attack Scenario Design</a:t>
            </a:r>
            <a:endParaRPr lang="en-US" sz="2400" dirty="0"/>
          </a:p>
        </p:txBody>
      </p:sp>
      <p:sp>
        <p:nvSpPr>
          <p:cNvPr id="5" name="Text 2"/>
          <p:cNvSpPr/>
          <p:nvPr/>
        </p:nvSpPr>
        <p:spPr>
          <a:xfrm>
            <a:off x="914400" y="530352"/>
            <a:ext cx="6858000" cy="320040"/>
          </a:xfrm>
          <a:prstGeom prst="rect">
            <a:avLst/>
          </a:prstGeom>
          <a:noFill/>
          <a:ln/>
        </p:spPr>
        <p:txBody>
          <a:bodyPr wrap="square" lIns="0" tIns="0" rIns="0" bIns="0" rtlCol="0" anchor="ctr"/>
          <a:lstStyle/>
          <a:p>
            <a:pPr indent="0" marL="0">
              <a:buNone/>
            </a:pPr>
            <a:r>
              <a:rPr lang="en-US" sz="1100" dirty="0">
                <a:solidFill>
                  <a:srgbClr val="A0C4FF"/>
                </a:solidFill>
                <a:latin typeface="Calibri" pitchFamily="34" charset="0"/>
                <a:ea typeface="Calibri" pitchFamily="34" charset="-122"/>
                <a:cs typeface="Calibri" pitchFamily="34" charset="-120"/>
              </a:rPr>
              <a:t>MITRE ATT&amp;CK Framework  •  7-Stage Kill Chain</a:t>
            </a:r>
            <a:endParaRPr lang="en-US" sz="1100" dirty="0"/>
          </a:p>
        </p:txBody>
      </p:sp>
      <p:sp>
        <p:nvSpPr>
          <p:cNvPr id="6" name="Shape 3"/>
          <p:cNvSpPr/>
          <p:nvPr/>
        </p:nvSpPr>
        <p:spPr>
          <a:xfrm>
            <a:off x="182880" y="1097280"/>
            <a:ext cx="1115568" cy="1828800"/>
          </a:xfrm>
          <a:prstGeom prst="rect">
            <a:avLst/>
          </a:prstGeom>
          <a:solidFill>
            <a:srgbClr val="C0392B"/>
          </a:solidFill>
          <a:ln/>
          <a:effectLst>
            <a:outerShdw sx="100000" sy="100000" kx="0" ky="0" algn="bl" rotWithShape="0" blurRad="63500" dist="25400" dir="8100000">
              <a:srgbClr val="000000">
                <a:alpha val="8000"/>
              </a:srgbClr>
            </a:outerShdw>
          </a:effectLst>
        </p:spPr>
      </p:sp>
      <p:sp>
        <p:nvSpPr>
          <p:cNvPr id="7" name="Shape 4"/>
          <p:cNvSpPr/>
          <p:nvPr/>
        </p:nvSpPr>
        <p:spPr>
          <a:xfrm>
            <a:off x="566928" y="1188720"/>
            <a:ext cx="347472" cy="347472"/>
          </a:xfrm>
          <a:prstGeom prst="ellipse">
            <a:avLst/>
          </a:prstGeom>
          <a:solidFill>
            <a:srgbClr val="FFFFFF"/>
          </a:solidFill>
          <a:ln/>
        </p:spPr>
      </p:sp>
      <p:sp>
        <p:nvSpPr>
          <p:cNvPr id="8" name="Text 5"/>
          <p:cNvSpPr/>
          <p:nvPr/>
        </p:nvSpPr>
        <p:spPr>
          <a:xfrm>
            <a:off x="566928" y="1188720"/>
            <a:ext cx="347472" cy="347472"/>
          </a:xfrm>
          <a:prstGeom prst="rect">
            <a:avLst/>
          </a:prstGeom>
          <a:noFill/>
          <a:ln/>
        </p:spPr>
        <p:txBody>
          <a:bodyPr wrap="square" lIns="0" tIns="0" rIns="0" bIns="0" rtlCol="0" anchor="ctr"/>
          <a:lstStyle/>
          <a:p>
            <a:pPr algn="ctr" indent="0" marL="0">
              <a:buNone/>
            </a:pPr>
            <a:r>
              <a:rPr lang="en-US" sz="1100" b="1" dirty="0">
                <a:solidFill>
                  <a:srgbClr val="C0392B"/>
                </a:solidFill>
              </a:rPr>
              <a:t>1</a:t>
            </a:r>
            <a:endParaRPr lang="en-US" sz="1100" dirty="0"/>
          </a:p>
        </p:txBody>
      </p:sp>
      <p:pic>
        <p:nvPicPr>
          <p:cNvPr id="9" name="Image 1" descr="preencoded.png">    </p:cNvPr>
          <p:cNvPicPr>
            <a:picLocks noChangeAspect="1"/>
          </p:cNvPicPr>
          <p:nvPr/>
        </p:nvPicPr>
        <p:blipFill>
          <a:blip r:embed="rId2"/>
          <a:stretch>
            <a:fillRect/>
          </a:stretch>
        </p:blipFill>
        <p:spPr>
          <a:xfrm>
            <a:off x="512064" y="1627632"/>
            <a:ext cx="457200" cy="457200"/>
          </a:xfrm>
          <a:prstGeom prst="rect">
            <a:avLst/>
          </a:prstGeom>
        </p:spPr>
      </p:pic>
      <p:sp>
        <p:nvSpPr>
          <p:cNvPr id="10" name="Text 6"/>
          <p:cNvSpPr/>
          <p:nvPr/>
        </p:nvSpPr>
        <p:spPr>
          <a:xfrm>
            <a:off x="219456" y="2148840"/>
            <a:ext cx="1042416"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Credential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Stuffing</a:t>
            </a:r>
            <a:endParaRPr lang="en-US" sz="900" dirty="0"/>
          </a:p>
        </p:txBody>
      </p:sp>
      <p:sp>
        <p:nvSpPr>
          <p:cNvPr id="11" name="Shape 7"/>
          <p:cNvSpPr/>
          <p:nvPr/>
        </p:nvSpPr>
        <p:spPr>
          <a:xfrm>
            <a:off x="182880" y="2606040"/>
            <a:ext cx="1115568" cy="320040"/>
          </a:xfrm>
          <a:prstGeom prst="rect">
            <a:avLst/>
          </a:prstGeom>
          <a:solidFill>
            <a:srgbClr val="0D1B2A">
              <a:alpha val="70000"/>
            </a:srgbClr>
          </a:solidFill>
          <a:ln/>
        </p:spPr>
      </p:sp>
      <p:sp>
        <p:nvSpPr>
          <p:cNvPr id="12" name="Text 8"/>
          <p:cNvSpPr/>
          <p:nvPr/>
        </p:nvSpPr>
        <p:spPr>
          <a:xfrm>
            <a:off x="182880" y="2606040"/>
            <a:ext cx="1115568" cy="320040"/>
          </a:xfrm>
          <a:prstGeom prst="rect">
            <a:avLst/>
          </a:prstGeom>
          <a:noFill/>
          <a:ln/>
        </p:spPr>
        <p:txBody>
          <a:bodyPr wrap="square" lIns="0" tIns="0" rIns="0" bIns="0" rtlCol="0" anchor="ctr"/>
          <a:lstStyle/>
          <a:p>
            <a:pPr algn="ctr" indent="0" marL="0">
              <a:buNone/>
            </a:pPr>
            <a:r>
              <a:rPr lang="en-US" sz="750" i="1" dirty="0">
                <a:solidFill>
                  <a:srgbClr val="E0E0E0"/>
                </a:solidFill>
              </a:rPr>
              <a:t>Initial Access</a:t>
            </a:r>
            <a:endParaRPr lang="en-US" sz="750" dirty="0"/>
          </a:p>
        </p:txBody>
      </p:sp>
      <p:sp>
        <p:nvSpPr>
          <p:cNvPr id="13" name="Shape 9"/>
          <p:cNvSpPr/>
          <p:nvPr/>
        </p:nvSpPr>
        <p:spPr>
          <a:xfrm>
            <a:off x="1298448" y="1975104"/>
            <a:ext cx="91440" cy="73152"/>
          </a:xfrm>
          <a:prstGeom prst="rect">
            <a:avLst/>
          </a:prstGeom>
          <a:solidFill>
            <a:srgbClr val="718096"/>
          </a:solidFill>
          <a:ln/>
        </p:spPr>
      </p:sp>
      <p:sp>
        <p:nvSpPr>
          <p:cNvPr id="14" name="Shape 10"/>
          <p:cNvSpPr/>
          <p:nvPr/>
        </p:nvSpPr>
        <p:spPr>
          <a:xfrm>
            <a:off x="1389888" y="1097280"/>
            <a:ext cx="1115568" cy="1828800"/>
          </a:xfrm>
          <a:prstGeom prst="rect">
            <a:avLst/>
          </a:prstGeom>
          <a:solidFill>
            <a:srgbClr val="8B1A1A"/>
          </a:solidFill>
          <a:ln/>
          <a:effectLst>
            <a:outerShdw sx="100000" sy="100000" kx="0" ky="0" algn="bl" rotWithShape="0" blurRad="63500" dist="25400" dir="8100000">
              <a:srgbClr val="000000">
                <a:alpha val="8000"/>
              </a:srgbClr>
            </a:outerShdw>
          </a:effectLst>
        </p:spPr>
      </p:sp>
      <p:sp>
        <p:nvSpPr>
          <p:cNvPr id="15" name="Shape 11"/>
          <p:cNvSpPr/>
          <p:nvPr/>
        </p:nvSpPr>
        <p:spPr>
          <a:xfrm>
            <a:off x="1773936" y="1188720"/>
            <a:ext cx="347472" cy="347472"/>
          </a:xfrm>
          <a:prstGeom prst="ellipse">
            <a:avLst/>
          </a:prstGeom>
          <a:solidFill>
            <a:srgbClr val="FFFFFF"/>
          </a:solidFill>
          <a:ln/>
        </p:spPr>
      </p:sp>
      <p:sp>
        <p:nvSpPr>
          <p:cNvPr id="16" name="Text 12"/>
          <p:cNvSpPr/>
          <p:nvPr/>
        </p:nvSpPr>
        <p:spPr>
          <a:xfrm>
            <a:off x="1773936" y="1188720"/>
            <a:ext cx="347472" cy="347472"/>
          </a:xfrm>
          <a:prstGeom prst="rect">
            <a:avLst/>
          </a:prstGeom>
          <a:noFill/>
          <a:ln/>
        </p:spPr>
        <p:txBody>
          <a:bodyPr wrap="square" lIns="0" tIns="0" rIns="0" bIns="0" rtlCol="0" anchor="ctr"/>
          <a:lstStyle/>
          <a:p>
            <a:pPr algn="ctr" indent="0" marL="0">
              <a:buNone/>
            </a:pPr>
            <a:r>
              <a:rPr lang="en-US" sz="1100" b="1" dirty="0">
                <a:solidFill>
                  <a:srgbClr val="8B1A1A"/>
                </a:solidFill>
              </a:rPr>
              <a:t>2</a:t>
            </a:r>
            <a:endParaRPr lang="en-US" sz="1100" dirty="0"/>
          </a:p>
        </p:txBody>
      </p:sp>
      <p:pic>
        <p:nvPicPr>
          <p:cNvPr id="17" name="Image 2" descr="preencoded.png">    </p:cNvPr>
          <p:cNvPicPr>
            <a:picLocks noChangeAspect="1"/>
          </p:cNvPicPr>
          <p:nvPr/>
        </p:nvPicPr>
        <p:blipFill>
          <a:blip r:embed="rId3"/>
          <a:stretch>
            <a:fillRect/>
          </a:stretch>
        </p:blipFill>
        <p:spPr>
          <a:xfrm>
            <a:off x="1719072" y="1627632"/>
            <a:ext cx="457200" cy="457200"/>
          </a:xfrm>
          <a:prstGeom prst="rect">
            <a:avLst/>
          </a:prstGeom>
        </p:spPr>
      </p:pic>
      <p:sp>
        <p:nvSpPr>
          <p:cNvPr id="18" name="Text 13"/>
          <p:cNvSpPr/>
          <p:nvPr/>
        </p:nvSpPr>
        <p:spPr>
          <a:xfrm>
            <a:off x="1426464" y="2148840"/>
            <a:ext cx="1042416"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Insecure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File Upload</a:t>
            </a:r>
            <a:endParaRPr lang="en-US" sz="900" dirty="0"/>
          </a:p>
        </p:txBody>
      </p:sp>
      <p:sp>
        <p:nvSpPr>
          <p:cNvPr id="19" name="Shape 14"/>
          <p:cNvSpPr/>
          <p:nvPr/>
        </p:nvSpPr>
        <p:spPr>
          <a:xfrm>
            <a:off x="1389888" y="2606040"/>
            <a:ext cx="1115568" cy="320040"/>
          </a:xfrm>
          <a:prstGeom prst="rect">
            <a:avLst/>
          </a:prstGeom>
          <a:solidFill>
            <a:srgbClr val="0D1B2A">
              <a:alpha val="70000"/>
            </a:srgbClr>
          </a:solidFill>
          <a:ln/>
        </p:spPr>
      </p:sp>
      <p:sp>
        <p:nvSpPr>
          <p:cNvPr id="20" name="Text 15"/>
          <p:cNvSpPr/>
          <p:nvPr/>
        </p:nvSpPr>
        <p:spPr>
          <a:xfrm>
            <a:off x="1389888" y="2606040"/>
            <a:ext cx="1115568" cy="320040"/>
          </a:xfrm>
          <a:prstGeom prst="rect">
            <a:avLst/>
          </a:prstGeom>
          <a:noFill/>
          <a:ln/>
        </p:spPr>
        <p:txBody>
          <a:bodyPr wrap="square" lIns="0" tIns="0" rIns="0" bIns="0" rtlCol="0" anchor="ctr"/>
          <a:lstStyle/>
          <a:p>
            <a:pPr algn="ctr" indent="0" marL="0">
              <a:buNone/>
            </a:pPr>
            <a:r>
              <a:rPr lang="en-US" sz="750" i="1" dirty="0">
                <a:solidFill>
                  <a:srgbClr val="E0E0E0"/>
                </a:solidFill>
              </a:rPr>
              <a:t>Execution</a:t>
            </a:r>
            <a:endParaRPr lang="en-US" sz="750" dirty="0"/>
          </a:p>
        </p:txBody>
      </p:sp>
      <p:sp>
        <p:nvSpPr>
          <p:cNvPr id="21" name="Shape 16"/>
          <p:cNvSpPr/>
          <p:nvPr/>
        </p:nvSpPr>
        <p:spPr>
          <a:xfrm>
            <a:off x="2505456" y="1975104"/>
            <a:ext cx="91440" cy="73152"/>
          </a:xfrm>
          <a:prstGeom prst="rect">
            <a:avLst/>
          </a:prstGeom>
          <a:solidFill>
            <a:srgbClr val="718096"/>
          </a:solidFill>
          <a:ln/>
        </p:spPr>
      </p:sp>
      <p:sp>
        <p:nvSpPr>
          <p:cNvPr id="22" name="Shape 17"/>
          <p:cNvSpPr/>
          <p:nvPr/>
        </p:nvSpPr>
        <p:spPr>
          <a:xfrm>
            <a:off x="2596896" y="1097280"/>
            <a:ext cx="1115568" cy="1828800"/>
          </a:xfrm>
          <a:prstGeom prst="rect">
            <a:avLst/>
          </a:prstGeom>
          <a:solidFill>
            <a:srgbClr val="E67E22"/>
          </a:solidFill>
          <a:ln/>
          <a:effectLst>
            <a:outerShdw sx="100000" sy="100000" kx="0" ky="0" algn="bl" rotWithShape="0" blurRad="63500" dist="25400" dir="8100000">
              <a:srgbClr val="000000">
                <a:alpha val="8000"/>
              </a:srgbClr>
            </a:outerShdw>
          </a:effectLst>
        </p:spPr>
      </p:sp>
      <p:sp>
        <p:nvSpPr>
          <p:cNvPr id="23" name="Shape 18"/>
          <p:cNvSpPr/>
          <p:nvPr/>
        </p:nvSpPr>
        <p:spPr>
          <a:xfrm>
            <a:off x="2980944" y="1188720"/>
            <a:ext cx="347472" cy="347472"/>
          </a:xfrm>
          <a:prstGeom prst="ellipse">
            <a:avLst/>
          </a:prstGeom>
          <a:solidFill>
            <a:srgbClr val="FFFFFF"/>
          </a:solidFill>
          <a:ln/>
        </p:spPr>
      </p:sp>
      <p:sp>
        <p:nvSpPr>
          <p:cNvPr id="24" name="Text 19"/>
          <p:cNvSpPr/>
          <p:nvPr/>
        </p:nvSpPr>
        <p:spPr>
          <a:xfrm>
            <a:off x="2980944" y="1188720"/>
            <a:ext cx="347472" cy="347472"/>
          </a:xfrm>
          <a:prstGeom prst="rect">
            <a:avLst/>
          </a:prstGeom>
          <a:noFill/>
          <a:ln/>
        </p:spPr>
        <p:txBody>
          <a:bodyPr wrap="square" lIns="0" tIns="0" rIns="0" bIns="0" rtlCol="0" anchor="ctr"/>
          <a:lstStyle/>
          <a:p>
            <a:pPr algn="ctr" indent="0" marL="0">
              <a:buNone/>
            </a:pPr>
            <a:r>
              <a:rPr lang="en-US" sz="1100" b="1" dirty="0">
                <a:solidFill>
                  <a:srgbClr val="E67E22"/>
                </a:solidFill>
              </a:rPr>
              <a:t>3</a:t>
            </a:r>
            <a:endParaRPr lang="en-US" sz="1100" dirty="0"/>
          </a:p>
        </p:txBody>
      </p:sp>
      <p:pic>
        <p:nvPicPr>
          <p:cNvPr id="25" name="Image 3" descr="preencoded.png">    </p:cNvPr>
          <p:cNvPicPr>
            <a:picLocks noChangeAspect="1"/>
          </p:cNvPicPr>
          <p:nvPr/>
        </p:nvPicPr>
        <p:blipFill>
          <a:blip r:embed="rId4"/>
          <a:stretch>
            <a:fillRect/>
          </a:stretch>
        </p:blipFill>
        <p:spPr>
          <a:xfrm>
            <a:off x="2926080" y="1627632"/>
            <a:ext cx="457200" cy="457200"/>
          </a:xfrm>
          <a:prstGeom prst="rect">
            <a:avLst/>
          </a:prstGeom>
        </p:spPr>
      </p:pic>
      <p:sp>
        <p:nvSpPr>
          <p:cNvPr id="26" name="Text 20"/>
          <p:cNvSpPr/>
          <p:nvPr/>
        </p:nvSpPr>
        <p:spPr>
          <a:xfrm>
            <a:off x="2633472" y="2148840"/>
            <a:ext cx="1042416"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Privilege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Escalation</a:t>
            </a:r>
            <a:endParaRPr lang="en-US" sz="900" dirty="0"/>
          </a:p>
        </p:txBody>
      </p:sp>
      <p:sp>
        <p:nvSpPr>
          <p:cNvPr id="27" name="Shape 21"/>
          <p:cNvSpPr/>
          <p:nvPr/>
        </p:nvSpPr>
        <p:spPr>
          <a:xfrm>
            <a:off x="2596896" y="2606040"/>
            <a:ext cx="1115568" cy="320040"/>
          </a:xfrm>
          <a:prstGeom prst="rect">
            <a:avLst/>
          </a:prstGeom>
          <a:solidFill>
            <a:srgbClr val="0D1B2A">
              <a:alpha val="70000"/>
            </a:srgbClr>
          </a:solidFill>
          <a:ln/>
        </p:spPr>
      </p:sp>
      <p:sp>
        <p:nvSpPr>
          <p:cNvPr id="28" name="Text 22"/>
          <p:cNvSpPr/>
          <p:nvPr/>
        </p:nvSpPr>
        <p:spPr>
          <a:xfrm>
            <a:off x="2596896" y="2606040"/>
            <a:ext cx="1115568" cy="320040"/>
          </a:xfrm>
          <a:prstGeom prst="rect">
            <a:avLst/>
          </a:prstGeom>
          <a:noFill/>
          <a:ln/>
        </p:spPr>
        <p:txBody>
          <a:bodyPr wrap="square" lIns="0" tIns="0" rIns="0" bIns="0" rtlCol="0" anchor="ctr"/>
          <a:lstStyle/>
          <a:p>
            <a:pPr algn="ctr" indent="0" marL="0">
              <a:buNone/>
            </a:pPr>
            <a:r>
              <a:rPr lang="en-US" sz="750" i="1" dirty="0">
                <a:solidFill>
                  <a:srgbClr val="E0E0E0"/>
                </a:solidFill>
              </a:rPr>
              <a:t>Priv. Escalation</a:t>
            </a:r>
            <a:endParaRPr lang="en-US" sz="750" dirty="0"/>
          </a:p>
        </p:txBody>
      </p:sp>
      <p:sp>
        <p:nvSpPr>
          <p:cNvPr id="29" name="Shape 23"/>
          <p:cNvSpPr/>
          <p:nvPr/>
        </p:nvSpPr>
        <p:spPr>
          <a:xfrm>
            <a:off x="3712464" y="1975104"/>
            <a:ext cx="91440" cy="73152"/>
          </a:xfrm>
          <a:prstGeom prst="rect">
            <a:avLst/>
          </a:prstGeom>
          <a:solidFill>
            <a:srgbClr val="718096"/>
          </a:solidFill>
          <a:ln/>
        </p:spPr>
      </p:sp>
      <p:sp>
        <p:nvSpPr>
          <p:cNvPr id="30" name="Shape 24"/>
          <p:cNvSpPr/>
          <p:nvPr/>
        </p:nvSpPr>
        <p:spPr>
          <a:xfrm>
            <a:off x="3803904" y="1097280"/>
            <a:ext cx="1115568" cy="1828800"/>
          </a:xfrm>
          <a:prstGeom prst="rect">
            <a:avLst/>
          </a:prstGeom>
          <a:solidFill>
            <a:srgbClr val="7B5C00"/>
          </a:solidFill>
          <a:ln/>
          <a:effectLst>
            <a:outerShdw sx="100000" sy="100000" kx="0" ky="0" algn="bl" rotWithShape="0" blurRad="63500" dist="25400" dir="8100000">
              <a:srgbClr val="000000">
                <a:alpha val="8000"/>
              </a:srgbClr>
            </a:outerShdw>
          </a:effectLst>
        </p:spPr>
      </p:sp>
      <p:sp>
        <p:nvSpPr>
          <p:cNvPr id="31" name="Shape 25"/>
          <p:cNvSpPr/>
          <p:nvPr/>
        </p:nvSpPr>
        <p:spPr>
          <a:xfrm>
            <a:off x="4187952" y="1188720"/>
            <a:ext cx="347472" cy="347472"/>
          </a:xfrm>
          <a:prstGeom prst="ellipse">
            <a:avLst/>
          </a:prstGeom>
          <a:solidFill>
            <a:srgbClr val="FFFFFF"/>
          </a:solidFill>
          <a:ln/>
        </p:spPr>
      </p:sp>
      <p:sp>
        <p:nvSpPr>
          <p:cNvPr id="32" name="Text 26"/>
          <p:cNvSpPr/>
          <p:nvPr/>
        </p:nvSpPr>
        <p:spPr>
          <a:xfrm>
            <a:off x="4187952" y="1188720"/>
            <a:ext cx="347472" cy="347472"/>
          </a:xfrm>
          <a:prstGeom prst="rect">
            <a:avLst/>
          </a:prstGeom>
          <a:noFill/>
          <a:ln/>
        </p:spPr>
        <p:txBody>
          <a:bodyPr wrap="square" lIns="0" tIns="0" rIns="0" bIns="0" rtlCol="0" anchor="ctr"/>
          <a:lstStyle/>
          <a:p>
            <a:pPr algn="ctr" indent="0" marL="0">
              <a:buNone/>
            </a:pPr>
            <a:r>
              <a:rPr lang="en-US" sz="1100" b="1" dirty="0">
                <a:solidFill>
                  <a:srgbClr val="7B5C00"/>
                </a:solidFill>
              </a:rPr>
              <a:t>4</a:t>
            </a:r>
            <a:endParaRPr lang="en-US" sz="1100" dirty="0"/>
          </a:p>
        </p:txBody>
      </p:sp>
      <p:pic>
        <p:nvPicPr>
          <p:cNvPr id="33" name="Image 4" descr="preencoded.png">    </p:cNvPr>
          <p:cNvPicPr>
            <a:picLocks noChangeAspect="1"/>
          </p:cNvPicPr>
          <p:nvPr/>
        </p:nvPicPr>
        <p:blipFill>
          <a:blip r:embed="rId5"/>
          <a:stretch>
            <a:fillRect/>
          </a:stretch>
        </p:blipFill>
        <p:spPr>
          <a:xfrm>
            <a:off x="4133088" y="1627632"/>
            <a:ext cx="457200" cy="457200"/>
          </a:xfrm>
          <a:prstGeom prst="rect">
            <a:avLst/>
          </a:prstGeom>
        </p:spPr>
      </p:pic>
      <p:sp>
        <p:nvSpPr>
          <p:cNvPr id="34" name="Text 27"/>
          <p:cNvSpPr/>
          <p:nvPr/>
        </p:nvSpPr>
        <p:spPr>
          <a:xfrm>
            <a:off x="3840480" y="2148840"/>
            <a:ext cx="1042416"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 Logging</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&amp; Monitoring</a:t>
            </a:r>
            <a:endParaRPr lang="en-US" sz="900" dirty="0"/>
          </a:p>
        </p:txBody>
      </p:sp>
      <p:sp>
        <p:nvSpPr>
          <p:cNvPr id="35" name="Shape 28"/>
          <p:cNvSpPr/>
          <p:nvPr/>
        </p:nvSpPr>
        <p:spPr>
          <a:xfrm>
            <a:off x="3803904" y="2606040"/>
            <a:ext cx="1115568" cy="320040"/>
          </a:xfrm>
          <a:prstGeom prst="rect">
            <a:avLst/>
          </a:prstGeom>
          <a:solidFill>
            <a:srgbClr val="0D1B2A">
              <a:alpha val="70000"/>
            </a:srgbClr>
          </a:solidFill>
          <a:ln/>
        </p:spPr>
      </p:sp>
      <p:sp>
        <p:nvSpPr>
          <p:cNvPr id="36" name="Text 29"/>
          <p:cNvSpPr/>
          <p:nvPr/>
        </p:nvSpPr>
        <p:spPr>
          <a:xfrm>
            <a:off x="3803904" y="2606040"/>
            <a:ext cx="1115568" cy="320040"/>
          </a:xfrm>
          <a:prstGeom prst="rect">
            <a:avLst/>
          </a:prstGeom>
          <a:noFill/>
          <a:ln/>
        </p:spPr>
        <p:txBody>
          <a:bodyPr wrap="square" lIns="0" tIns="0" rIns="0" bIns="0" rtlCol="0" anchor="ctr"/>
          <a:lstStyle/>
          <a:p>
            <a:pPr algn="ctr" indent="0" marL="0">
              <a:buNone/>
            </a:pPr>
            <a:r>
              <a:rPr lang="en-US" sz="750" i="1" dirty="0">
                <a:solidFill>
                  <a:srgbClr val="E0E0E0"/>
                </a:solidFill>
              </a:rPr>
              <a:t>Defense Evasion</a:t>
            </a:r>
            <a:endParaRPr lang="en-US" sz="750" dirty="0"/>
          </a:p>
        </p:txBody>
      </p:sp>
      <p:sp>
        <p:nvSpPr>
          <p:cNvPr id="37" name="Shape 30"/>
          <p:cNvSpPr/>
          <p:nvPr/>
        </p:nvSpPr>
        <p:spPr>
          <a:xfrm>
            <a:off x="4919472" y="1975104"/>
            <a:ext cx="91440" cy="73152"/>
          </a:xfrm>
          <a:prstGeom prst="rect">
            <a:avLst/>
          </a:prstGeom>
          <a:solidFill>
            <a:srgbClr val="718096"/>
          </a:solidFill>
          <a:ln/>
        </p:spPr>
      </p:sp>
      <p:sp>
        <p:nvSpPr>
          <p:cNvPr id="38" name="Shape 31"/>
          <p:cNvSpPr/>
          <p:nvPr/>
        </p:nvSpPr>
        <p:spPr>
          <a:xfrm>
            <a:off x="5010912" y="1097280"/>
            <a:ext cx="1115568" cy="1828800"/>
          </a:xfrm>
          <a:prstGeom prst="rect">
            <a:avLst/>
          </a:prstGeom>
          <a:solidFill>
            <a:srgbClr val="4A6FA5"/>
          </a:solidFill>
          <a:ln/>
          <a:effectLst>
            <a:outerShdw sx="100000" sy="100000" kx="0" ky="0" algn="bl" rotWithShape="0" blurRad="63500" dist="25400" dir="8100000">
              <a:srgbClr val="000000">
                <a:alpha val="8000"/>
              </a:srgbClr>
            </a:outerShdw>
          </a:effectLst>
        </p:spPr>
      </p:sp>
      <p:sp>
        <p:nvSpPr>
          <p:cNvPr id="39" name="Shape 32"/>
          <p:cNvSpPr/>
          <p:nvPr/>
        </p:nvSpPr>
        <p:spPr>
          <a:xfrm>
            <a:off x="5394960" y="1188720"/>
            <a:ext cx="347472" cy="347472"/>
          </a:xfrm>
          <a:prstGeom prst="ellipse">
            <a:avLst/>
          </a:prstGeom>
          <a:solidFill>
            <a:srgbClr val="FFFFFF"/>
          </a:solidFill>
          <a:ln/>
        </p:spPr>
      </p:sp>
      <p:sp>
        <p:nvSpPr>
          <p:cNvPr id="40" name="Text 33"/>
          <p:cNvSpPr/>
          <p:nvPr/>
        </p:nvSpPr>
        <p:spPr>
          <a:xfrm>
            <a:off x="5394960" y="1188720"/>
            <a:ext cx="347472" cy="347472"/>
          </a:xfrm>
          <a:prstGeom prst="rect">
            <a:avLst/>
          </a:prstGeom>
          <a:noFill/>
          <a:ln/>
        </p:spPr>
        <p:txBody>
          <a:bodyPr wrap="square" lIns="0" tIns="0" rIns="0" bIns="0" rtlCol="0" anchor="ctr"/>
          <a:lstStyle/>
          <a:p>
            <a:pPr algn="ctr" indent="0" marL="0">
              <a:buNone/>
            </a:pPr>
            <a:r>
              <a:rPr lang="en-US" sz="1100" b="1" dirty="0">
                <a:solidFill>
                  <a:srgbClr val="4A6FA5"/>
                </a:solidFill>
              </a:rPr>
              <a:t>5</a:t>
            </a:r>
            <a:endParaRPr lang="en-US" sz="1100" dirty="0"/>
          </a:p>
        </p:txBody>
      </p:sp>
      <p:pic>
        <p:nvPicPr>
          <p:cNvPr id="41" name="Image 5" descr="preencoded.png">    </p:cNvPr>
          <p:cNvPicPr>
            <a:picLocks noChangeAspect="1"/>
          </p:cNvPicPr>
          <p:nvPr/>
        </p:nvPicPr>
        <p:blipFill>
          <a:blip r:embed="rId6"/>
          <a:stretch>
            <a:fillRect/>
          </a:stretch>
        </p:blipFill>
        <p:spPr>
          <a:xfrm>
            <a:off x="5340096" y="1627632"/>
            <a:ext cx="457200" cy="457200"/>
          </a:xfrm>
          <a:prstGeom prst="rect">
            <a:avLst/>
          </a:prstGeom>
        </p:spPr>
      </p:pic>
      <p:sp>
        <p:nvSpPr>
          <p:cNvPr id="42" name="Text 34"/>
          <p:cNvSpPr/>
          <p:nvPr/>
        </p:nvSpPr>
        <p:spPr>
          <a:xfrm>
            <a:off x="5047488" y="2148840"/>
            <a:ext cx="1042416"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SQL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Injection</a:t>
            </a:r>
            <a:endParaRPr lang="en-US" sz="900" dirty="0"/>
          </a:p>
        </p:txBody>
      </p:sp>
      <p:sp>
        <p:nvSpPr>
          <p:cNvPr id="43" name="Shape 35"/>
          <p:cNvSpPr/>
          <p:nvPr/>
        </p:nvSpPr>
        <p:spPr>
          <a:xfrm>
            <a:off x="5010912" y="2606040"/>
            <a:ext cx="1115568" cy="320040"/>
          </a:xfrm>
          <a:prstGeom prst="rect">
            <a:avLst/>
          </a:prstGeom>
          <a:solidFill>
            <a:srgbClr val="0D1B2A">
              <a:alpha val="70000"/>
            </a:srgbClr>
          </a:solidFill>
          <a:ln/>
        </p:spPr>
      </p:sp>
      <p:sp>
        <p:nvSpPr>
          <p:cNvPr id="44" name="Text 36"/>
          <p:cNvSpPr/>
          <p:nvPr/>
        </p:nvSpPr>
        <p:spPr>
          <a:xfrm>
            <a:off x="5010912" y="2606040"/>
            <a:ext cx="1115568" cy="320040"/>
          </a:xfrm>
          <a:prstGeom prst="rect">
            <a:avLst/>
          </a:prstGeom>
          <a:noFill/>
          <a:ln/>
        </p:spPr>
        <p:txBody>
          <a:bodyPr wrap="square" lIns="0" tIns="0" rIns="0" bIns="0" rtlCol="0" anchor="ctr"/>
          <a:lstStyle/>
          <a:p>
            <a:pPr algn="ctr" indent="0" marL="0">
              <a:buNone/>
            </a:pPr>
            <a:r>
              <a:rPr lang="en-US" sz="750" i="1" dirty="0">
                <a:solidFill>
                  <a:srgbClr val="E0E0E0"/>
                </a:solidFill>
              </a:rPr>
              <a:t>Collection</a:t>
            </a:r>
            <a:endParaRPr lang="en-US" sz="750" dirty="0"/>
          </a:p>
        </p:txBody>
      </p:sp>
      <p:sp>
        <p:nvSpPr>
          <p:cNvPr id="45" name="Shape 37"/>
          <p:cNvSpPr/>
          <p:nvPr/>
        </p:nvSpPr>
        <p:spPr>
          <a:xfrm>
            <a:off x="6126480" y="1975104"/>
            <a:ext cx="91440" cy="73152"/>
          </a:xfrm>
          <a:prstGeom prst="rect">
            <a:avLst/>
          </a:prstGeom>
          <a:solidFill>
            <a:srgbClr val="718096"/>
          </a:solidFill>
          <a:ln/>
        </p:spPr>
      </p:sp>
      <p:sp>
        <p:nvSpPr>
          <p:cNvPr id="46" name="Shape 38"/>
          <p:cNvSpPr/>
          <p:nvPr/>
        </p:nvSpPr>
        <p:spPr>
          <a:xfrm>
            <a:off x="6217920" y="1097280"/>
            <a:ext cx="1115568" cy="1828800"/>
          </a:xfrm>
          <a:prstGeom prst="rect">
            <a:avLst/>
          </a:prstGeom>
          <a:solidFill>
            <a:srgbClr val="2C5282"/>
          </a:solidFill>
          <a:ln/>
          <a:effectLst>
            <a:outerShdw sx="100000" sy="100000" kx="0" ky="0" algn="bl" rotWithShape="0" blurRad="63500" dist="25400" dir="8100000">
              <a:srgbClr val="000000">
                <a:alpha val="8000"/>
              </a:srgbClr>
            </a:outerShdw>
          </a:effectLst>
        </p:spPr>
      </p:sp>
      <p:sp>
        <p:nvSpPr>
          <p:cNvPr id="47" name="Shape 39"/>
          <p:cNvSpPr/>
          <p:nvPr/>
        </p:nvSpPr>
        <p:spPr>
          <a:xfrm>
            <a:off x="6601968" y="1188720"/>
            <a:ext cx="347472" cy="347472"/>
          </a:xfrm>
          <a:prstGeom prst="ellipse">
            <a:avLst/>
          </a:prstGeom>
          <a:solidFill>
            <a:srgbClr val="FFFFFF"/>
          </a:solidFill>
          <a:ln/>
        </p:spPr>
      </p:sp>
      <p:sp>
        <p:nvSpPr>
          <p:cNvPr id="48" name="Text 40"/>
          <p:cNvSpPr/>
          <p:nvPr/>
        </p:nvSpPr>
        <p:spPr>
          <a:xfrm>
            <a:off x="6601968" y="1188720"/>
            <a:ext cx="347472" cy="347472"/>
          </a:xfrm>
          <a:prstGeom prst="rect">
            <a:avLst/>
          </a:prstGeom>
          <a:noFill/>
          <a:ln/>
        </p:spPr>
        <p:txBody>
          <a:bodyPr wrap="square" lIns="0" tIns="0" rIns="0" bIns="0" rtlCol="0" anchor="ctr"/>
          <a:lstStyle/>
          <a:p>
            <a:pPr algn="ctr" indent="0" marL="0">
              <a:buNone/>
            </a:pPr>
            <a:r>
              <a:rPr lang="en-US" sz="1100" b="1" dirty="0">
                <a:solidFill>
                  <a:srgbClr val="2C5282"/>
                </a:solidFill>
              </a:rPr>
              <a:t>6</a:t>
            </a:r>
            <a:endParaRPr lang="en-US" sz="1100" dirty="0"/>
          </a:p>
        </p:txBody>
      </p:sp>
      <p:pic>
        <p:nvPicPr>
          <p:cNvPr id="49" name="Image 6" descr="preencoded.png">    </p:cNvPr>
          <p:cNvPicPr>
            <a:picLocks noChangeAspect="1"/>
          </p:cNvPicPr>
          <p:nvPr/>
        </p:nvPicPr>
        <p:blipFill>
          <a:blip r:embed="rId7"/>
          <a:stretch>
            <a:fillRect/>
          </a:stretch>
        </p:blipFill>
        <p:spPr>
          <a:xfrm>
            <a:off x="6547104" y="1627632"/>
            <a:ext cx="457200" cy="457200"/>
          </a:xfrm>
          <a:prstGeom prst="rect">
            <a:avLst/>
          </a:prstGeom>
        </p:spPr>
      </p:pic>
      <p:sp>
        <p:nvSpPr>
          <p:cNvPr id="50" name="Text 41"/>
          <p:cNvSpPr/>
          <p:nvPr/>
        </p:nvSpPr>
        <p:spPr>
          <a:xfrm>
            <a:off x="6254496" y="2148840"/>
            <a:ext cx="1042416"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Exposure</a:t>
            </a:r>
            <a:endParaRPr lang="en-US" sz="900" dirty="0"/>
          </a:p>
        </p:txBody>
      </p:sp>
      <p:sp>
        <p:nvSpPr>
          <p:cNvPr id="51" name="Shape 42"/>
          <p:cNvSpPr/>
          <p:nvPr/>
        </p:nvSpPr>
        <p:spPr>
          <a:xfrm>
            <a:off x="6217920" y="2606040"/>
            <a:ext cx="1115568" cy="320040"/>
          </a:xfrm>
          <a:prstGeom prst="rect">
            <a:avLst/>
          </a:prstGeom>
          <a:solidFill>
            <a:srgbClr val="0D1B2A">
              <a:alpha val="70000"/>
            </a:srgbClr>
          </a:solidFill>
          <a:ln/>
        </p:spPr>
      </p:sp>
      <p:sp>
        <p:nvSpPr>
          <p:cNvPr id="52" name="Text 43"/>
          <p:cNvSpPr/>
          <p:nvPr/>
        </p:nvSpPr>
        <p:spPr>
          <a:xfrm>
            <a:off x="6217920" y="2606040"/>
            <a:ext cx="1115568" cy="320040"/>
          </a:xfrm>
          <a:prstGeom prst="rect">
            <a:avLst/>
          </a:prstGeom>
          <a:noFill/>
          <a:ln/>
        </p:spPr>
        <p:txBody>
          <a:bodyPr wrap="square" lIns="0" tIns="0" rIns="0" bIns="0" rtlCol="0" anchor="ctr"/>
          <a:lstStyle/>
          <a:p>
            <a:pPr algn="ctr" indent="0" marL="0">
              <a:buNone/>
            </a:pPr>
            <a:r>
              <a:rPr lang="en-US" sz="750" i="1" dirty="0">
                <a:solidFill>
                  <a:srgbClr val="E0E0E0"/>
                </a:solidFill>
              </a:rPr>
              <a:t>Exfiltration</a:t>
            </a:r>
            <a:endParaRPr lang="en-US" sz="750" dirty="0"/>
          </a:p>
        </p:txBody>
      </p:sp>
      <p:sp>
        <p:nvSpPr>
          <p:cNvPr id="53" name="Shape 44"/>
          <p:cNvSpPr/>
          <p:nvPr/>
        </p:nvSpPr>
        <p:spPr>
          <a:xfrm>
            <a:off x="7333488" y="1975104"/>
            <a:ext cx="91440" cy="73152"/>
          </a:xfrm>
          <a:prstGeom prst="rect">
            <a:avLst/>
          </a:prstGeom>
          <a:solidFill>
            <a:srgbClr val="718096"/>
          </a:solidFill>
          <a:ln/>
        </p:spPr>
      </p:sp>
      <p:sp>
        <p:nvSpPr>
          <p:cNvPr id="54" name="Shape 45"/>
          <p:cNvSpPr/>
          <p:nvPr/>
        </p:nvSpPr>
        <p:spPr>
          <a:xfrm>
            <a:off x="7424928" y="1097280"/>
            <a:ext cx="1115568" cy="1828800"/>
          </a:xfrm>
          <a:prstGeom prst="rect">
            <a:avLst/>
          </a:prstGeom>
          <a:solidFill>
            <a:srgbClr val="1A4A1A"/>
          </a:solidFill>
          <a:ln/>
          <a:effectLst>
            <a:outerShdw sx="100000" sy="100000" kx="0" ky="0" algn="bl" rotWithShape="0" blurRad="63500" dist="25400" dir="8100000">
              <a:srgbClr val="000000">
                <a:alpha val="8000"/>
              </a:srgbClr>
            </a:outerShdw>
          </a:effectLst>
        </p:spPr>
      </p:sp>
      <p:sp>
        <p:nvSpPr>
          <p:cNvPr id="55" name="Shape 46"/>
          <p:cNvSpPr/>
          <p:nvPr/>
        </p:nvSpPr>
        <p:spPr>
          <a:xfrm>
            <a:off x="7808976" y="1188720"/>
            <a:ext cx="347472" cy="347472"/>
          </a:xfrm>
          <a:prstGeom prst="ellipse">
            <a:avLst/>
          </a:prstGeom>
          <a:solidFill>
            <a:srgbClr val="FFFFFF"/>
          </a:solidFill>
          <a:ln/>
        </p:spPr>
      </p:sp>
      <p:sp>
        <p:nvSpPr>
          <p:cNvPr id="56" name="Text 47"/>
          <p:cNvSpPr/>
          <p:nvPr/>
        </p:nvSpPr>
        <p:spPr>
          <a:xfrm>
            <a:off x="7808976" y="1188720"/>
            <a:ext cx="347472" cy="347472"/>
          </a:xfrm>
          <a:prstGeom prst="rect">
            <a:avLst/>
          </a:prstGeom>
          <a:noFill/>
          <a:ln/>
        </p:spPr>
        <p:txBody>
          <a:bodyPr wrap="square" lIns="0" tIns="0" rIns="0" bIns="0" rtlCol="0" anchor="ctr"/>
          <a:lstStyle/>
          <a:p>
            <a:pPr algn="ctr" indent="0" marL="0">
              <a:buNone/>
            </a:pPr>
            <a:r>
              <a:rPr lang="en-US" sz="1100" b="1" dirty="0">
                <a:solidFill>
                  <a:srgbClr val="1A4A1A"/>
                </a:solidFill>
              </a:rPr>
              <a:t>7</a:t>
            </a:r>
            <a:endParaRPr lang="en-US" sz="1100" dirty="0"/>
          </a:p>
        </p:txBody>
      </p:sp>
      <p:pic>
        <p:nvPicPr>
          <p:cNvPr id="57" name="Image 7" descr="preencoded.png">    </p:cNvPr>
          <p:cNvPicPr>
            <a:picLocks noChangeAspect="1"/>
          </p:cNvPicPr>
          <p:nvPr/>
        </p:nvPicPr>
        <p:blipFill>
          <a:blip r:embed="rId8"/>
          <a:stretch>
            <a:fillRect/>
          </a:stretch>
        </p:blipFill>
        <p:spPr>
          <a:xfrm>
            <a:off x="7754112" y="1627632"/>
            <a:ext cx="457200" cy="457200"/>
          </a:xfrm>
          <a:prstGeom prst="rect">
            <a:avLst/>
          </a:prstGeom>
        </p:spPr>
      </p:pic>
      <p:sp>
        <p:nvSpPr>
          <p:cNvPr id="58" name="Text 48"/>
          <p:cNvSpPr/>
          <p:nvPr/>
        </p:nvSpPr>
        <p:spPr>
          <a:xfrm>
            <a:off x="7461504" y="2148840"/>
            <a:ext cx="1042416"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Login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Flooding (DoS)</a:t>
            </a:r>
            <a:endParaRPr lang="en-US" sz="900" dirty="0"/>
          </a:p>
        </p:txBody>
      </p:sp>
      <p:sp>
        <p:nvSpPr>
          <p:cNvPr id="59" name="Shape 49"/>
          <p:cNvSpPr/>
          <p:nvPr/>
        </p:nvSpPr>
        <p:spPr>
          <a:xfrm>
            <a:off x="7424928" y="2606040"/>
            <a:ext cx="1115568" cy="320040"/>
          </a:xfrm>
          <a:prstGeom prst="rect">
            <a:avLst/>
          </a:prstGeom>
          <a:solidFill>
            <a:srgbClr val="0D1B2A">
              <a:alpha val="70000"/>
            </a:srgbClr>
          </a:solidFill>
          <a:ln/>
        </p:spPr>
      </p:sp>
      <p:sp>
        <p:nvSpPr>
          <p:cNvPr id="60" name="Text 50"/>
          <p:cNvSpPr/>
          <p:nvPr/>
        </p:nvSpPr>
        <p:spPr>
          <a:xfrm>
            <a:off x="7424928" y="2606040"/>
            <a:ext cx="1115568" cy="320040"/>
          </a:xfrm>
          <a:prstGeom prst="rect">
            <a:avLst/>
          </a:prstGeom>
          <a:noFill/>
          <a:ln/>
        </p:spPr>
        <p:txBody>
          <a:bodyPr wrap="square" lIns="0" tIns="0" rIns="0" bIns="0" rtlCol="0" anchor="ctr"/>
          <a:lstStyle/>
          <a:p>
            <a:pPr algn="ctr" indent="0" marL="0">
              <a:buNone/>
            </a:pPr>
            <a:r>
              <a:rPr lang="en-US" sz="750" i="1" dirty="0">
                <a:solidFill>
                  <a:srgbClr val="E0E0E0"/>
                </a:solidFill>
              </a:rPr>
              <a:t>Impact</a:t>
            </a:r>
            <a:endParaRPr lang="en-US" sz="750" dirty="0"/>
          </a:p>
        </p:txBody>
      </p:sp>
      <p:sp>
        <p:nvSpPr>
          <p:cNvPr id="61" name="Shape 51"/>
          <p:cNvSpPr/>
          <p:nvPr/>
        </p:nvSpPr>
        <p:spPr>
          <a:xfrm>
            <a:off x="182880" y="3127248"/>
            <a:ext cx="8778240" cy="685800"/>
          </a:xfrm>
          <a:prstGeom prst="rect">
            <a:avLst/>
          </a:prstGeom>
          <a:solidFill>
            <a:srgbClr val="FFF3CD"/>
          </a:solidFill>
          <a:ln/>
          <a:effectLst>
            <a:outerShdw sx="100000" sy="100000" kx="0" ky="0" algn="bl" rotWithShape="0" blurRad="63500" dist="25400" dir="8100000">
              <a:srgbClr val="000000">
                <a:alpha val="8000"/>
              </a:srgbClr>
            </a:outerShdw>
          </a:effectLst>
        </p:spPr>
      </p:sp>
      <p:pic>
        <p:nvPicPr>
          <p:cNvPr id="62" name="Image 8" descr="preencoded.png">    </p:cNvPr>
          <p:cNvPicPr>
            <a:picLocks noChangeAspect="1"/>
          </p:cNvPicPr>
          <p:nvPr/>
        </p:nvPicPr>
        <p:blipFill>
          <a:blip r:embed="rId9"/>
          <a:stretch>
            <a:fillRect/>
          </a:stretch>
        </p:blipFill>
        <p:spPr>
          <a:xfrm>
            <a:off x="320040" y="3218688"/>
            <a:ext cx="347472" cy="347472"/>
          </a:xfrm>
          <a:prstGeom prst="rect">
            <a:avLst/>
          </a:prstGeom>
        </p:spPr>
      </p:pic>
      <p:sp>
        <p:nvSpPr>
          <p:cNvPr id="63" name="Text 52"/>
          <p:cNvSpPr/>
          <p:nvPr/>
        </p:nvSpPr>
        <p:spPr>
          <a:xfrm>
            <a:off x="749808" y="3172968"/>
            <a:ext cx="1828800" cy="274320"/>
          </a:xfrm>
          <a:prstGeom prst="rect">
            <a:avLst/>
          </a:prstGeom>
          <a:noFill/>
          <a:ln/>
        </p:spPr>
        <p:txBody>
          <a:bodyPr wrap="square" lIns="0" tIns="0" rIns="0" bIns="0" rtlCol="0" anchor="ctr"/>
          <a:lstStyle/>
          <a:p>
            <a:pPr indent="0" marL="0">
              <a:buNone/>
            </a:pPr>
            <a:r>
              <a:rPr lang="en-US" sz="1000" b="1" dirty="0">
                <a:solidFill>
                  <a:srgbClr val="7B4F00"/>
                </a:solidFill>
              </a:rPr>
              <a:t>Design Rationale:</a:t>
            </a:r>
            <a:endParaRPr lang="en-US" sz="1000" dirty="0"/>
          </a:p>
        </p:txBody>
      </p:sp>
      <p:sp>
        <p:nvSpPr>
          <p:cNvPr id="64" name="Text 53"/>
          <p:cNvSpPr/>
          <p:nvPr/>
        </p:nvSpPr>
        <p:spPr>
          <a:xfrm>
            <a:off x="749808" y="3429000"/>
            <a:ext cx="8046720" cy="320040"/>
          </a:xfrm>
          <a:prstGeom prst="rect">
            <a:avLst/>
          </a:prstGeom>
          <a:noFill/>
          <a:ln/>
        </p:spPr>
        <p:txBody>
          <a:bodyPr wrap="square" lIns="0" tIns="0" rIns="0" bIns="0" rtlCol="0" anchor="ctr"/>
          <a:lstStyle/>
          <a:p>
            <a:pPr indent="0" marL="0">
              <a:buNone/>
            </a:pPr>
            <a:r>
              <a:rPr lang="en-US" sz="900" dirty="0">
                <a:solidFill>
                  <a:srgbClr val="2D3748"/>
                </a:solidFill>
                <a:latin typeface="Calibri" pitchFamily="34" charset="0"/>
                <a:ea typeface="Calibri" pitchFamily="34" charset="-122"/>
                <a:cs typeface="Calibri" pitchFamily="34" charset="-120"/>
              </a:rPr>
              <a:t>Each stage maps directly to MITRE ATT&amp;CK tactics. The pathway was designed to reflect realistic, chained attacks against a student data management system — escalating from initial access through to full data exfiltration and service disruption.</a:t>
            </a:r>
            <a:endParaRPr lang="en-US" sz="900" dirty="0"/>
          </a:p>
        </p:txBody>
      </p:sp>
      <p:sp>
        <p:nvSpPr>
          <p:cNvPr id="65" name="Shape 54"/>
          <p:cNvSpPr/>
          <p:nvPr/>
        </p:nvSpPr>
        <p:spPr>
          <a:xfrm>
            <a:off x="182880" y="3904488"/>
            <a:ext cx="8778240" cy="502920"/>
          </a:xfrm>
          <a:prstGeom prst="rect">
            <a:avLst/>
          </a:prstGeom>
          <a:solidFill>
            <a:srgbClr val="E8F1FA"/>
          </a:solidFill>
          <a:ln/>
        </p:spPr>
      </p:sp>
      <p:sp>
        <p:nvSpPr>
          <p:cNvPr id="66" name="Text 55"/>
          <p:cNvSpPr/>
          <p:nvPr/>
        </p:nvSpPr>
        <p:spPr>
          <a:xfrm>
            <a:off x="320040" y="3959352"/>
            <a:ext cx="1920240" cy="274320"/>
          </a:xfrm>
          <a:prstGeom prst="rect">
            <a:avLst/>
          </a:prstGeom>
          <a:noFill/>
          <a:ln/>
        </p:spPr>
        <p:txBody>
          <a:bodyPr wrap="square" lIns="0" tIns="0" rIns="0" bIns="0" rtlCol="0" anchor="ctr"/>
          <a:lstStyle/>
          <a:p>
            <a:pPr indent="0" marL="0">
              <a:buNone/>
            </a:pPr>
            <a:r>
              <a:rPr lang="en-US" sz="900" b="1" dirty="0">
                <a:solidFill>
                  <a:srgbClr val="1B3A5C"/>
                </a:solidFill>
              </a:rPr>
              <a:t>Mapped Vulnerabilities: </a:t>
            </a:r>
            <a:endParaRPr lang="en-US" sz="900" dirty="0"/>
          </a:p>
        </p:txBody>
      </p:sp>
      <p:sp>
        <p:nvSpPr>
          <p:cNvPr id="67" name="Text 56"/>
          <p:cNvSpPr/>
          <p:nvPr/>
        </p:nvSpPr>
        <p:spPr>
          <a:xfrm>
            <a:off x="2240280" y="3959352"/>
            <a:ext cx="6583680" cy="274320"/>
          </a:xfrm>
          <a:prstGeom prst="rect">
            <a:avLst/>
          </a:prstGeom>
          <a:noFill/>
          <a:ln/>
        </p:spPr>
        <p:txBody>
          <a:bodyPr wrap="square" lIns="0" tIns="0" rIns="0" bIns="0" rtlCol="0" anchor="ctr"/>
          <a:lstStyle/>
          <a:p>
            <a:pPr indent="0" marL="0">
              <a:buNone/>
            </a:pPr>
            <a:r>
              <a:rPr lang="en-US" sz="900" dirty="0">
                <a:solidFill>
                  <a:srgbClr val="2D3748"/>
                </a:solidFill>
                <a:latin typeface="Calibri" pitchFamily="34" charset="0"/>
                <a:ea typeface="Calibri" pitchFamily="34" charset="-122"/>
                <a:cs typeface="Calibri" pitchFamily="34" charset="-120"/>
              </a:rPr>
              <a:t>Plaintext passwords  |  Unrestricted file upload  |  No role checks  |  Missing logging  |  Raw SQL queries  |  Sensitive data in responses  |  No rate limiting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3A5C"/>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77724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2: The Vulnerable Flask Application</a:t>
            </a:r>
            <a:endParaRPr lang="en-US" sz="2400" dirty="0"/>
          </a:p>
        </p:txBody>
      </p:sp>
      <p:sp>
        <p:nvSpPr>
          <p:cNvPr id="5" name="Shape 2"/>
          <p:cNvSpPr/>
          <p:nvPr/>
        </p:nvSpPr>
        <p:spPr>
          <a:xfrm>
            <a:off x="274320" y="1005840"/>
            <a:ext cx="4572000" cy="3794760"/>
          </a:xfrm>
          <a:prstGeom prst="rect">
            <a:avLst/>
          </a:prstGeom>
          <a:solidFill>
            <a:srgbClr val="1E1E2E"/>
          </a:solidFill>
          <a:ln/>
          <a:effectLst>
            <a:outerShdw sx="100000" sy="100000" kx="0" ky="0" algn="bl" rotWithShape="0" blurRad="101600" dist="38100" dir="8100000">
              <a:srgbClr val="000000">
                <a:alpha val="10000"/>
              </a:srgbClr>
            </a:outerShdw>
          </a:effectLst>
        </p:spPr>
      </p:sp>
      <p:sp>
        <p:nvSpPr>
          <p:cNvPr id="6" name="Shape 3"/>
          <p:cNvSpPr/>
          <p:nvPr/>
        </p:nvSpPr>
        <p:spPr>
          <a:xfrm>
            <a:off x="274320" y="1005840"/>
            <a:ext cx="4572000" cy="320040"/>
          </a:xfrm>
          <a:prstGeom prst="rect">
            <a:avLst/>
          </a:prstGeom>
          <a:solidFill>
            <a:srgbClr val="2D2D3F"/>
          </a:solidFill>
          <a:ln/>
        </p:spPr>
      </p:sp>
      <p:sp>
        <p:nvSpPr>
          <p:cNvPr id="7" name="Shape 4"/>
          <p:cNvSpPr/>
          <p:nvPr/>
        </p:nvSpPr>
        <p:spPr>
          <a:xfrm>
            <a:off x="384048" y="1069848"/>
            <a:ext cx="164592" cy="164592"/>
          </a:xfrm>
          <a:prstGeom prst="ellipse">
            <a:avLst/>
          </a:prstGeom>
          <a:solidFill>
            <a:srgbClr val="FF5F57"/>
          </a:solidFill>
          <a:ln/>
        </p:spPr>
      </p:sp>
      <p:sp>
        <p:nvSpPr>
          <p:cNvPr id="8" name="Shape 5"/>
          <p:cNvSpPr/>
          <p:nvPr/>
        </p:nvSpPr>
        <p:spPr>
          <a:xfrm>
            <a:off x="603504" y="1069848"/>
            <a:ext cx="164592" cy="164592"/>
          </a:xfrm>
          <a:prstGeom prst="ellipse">
            <a:avLst/>
          </a:prstGeom>
          <a:solidFill>
            <a:srgbClr val="FFBD2E"/>
          </a:solidFill>
          <a:ln/>
        </p:spPr>
      </p:sp>
      <p:sp>
        <p:nvSpPr>
          <p:cNvPr id="9" name="Shape 6"/>
          <p:cNvSpPr/>
          <p:nvPr/>
        </p:nvSpPr>
        <p:spPr>
          <a:xfrm>
            <a:off x="822960" y="1069848"/>
            <a:ext cx="164592" cy="164592"/>
          </a:xfrm>
          <a:prstGeom prst="ellipse">
            <a:avLst/>
          </a:prstGeom>
          <a:solidFill>
            <a:srgbClr val="28CA41"/>
          </a:solidFill>
          <a:ln/>
        </p:spPr>
      </p:sp>
      <p:sp>
        <p:nvSpPr>
          <p:cNvPr id="10" name="Text 7"/>
          <p:cNvSpPr/>
          <p:nvPr/>
        </p:nvSpPr>
        <p:spPr>
          <a:xfrm>
            <a:off x="1097280" y="1042416"/>
            <a:ext cx="3566160" cy="256032"/>
          </a:xfrm>
          <a:prstGeom prst="rect">
            <a:avLst/>
          </a:prstGeom>
          <a:noFill/>
          <a:ln/>
        </p:spPr>
        <p:txBody>
          <a:bodyPr wrap="square" lIns="0" tIns="0" rIns="0" bIns="0" rtlCol="0" anchor="ctr"/>
          <a:lstStyle/>
          <a:p>
            <a:pPr indent="0" marL="0">
              <a:buNone/>
            </a:pPr>
            <a:r>
              <a:rPr lang="en-US" sz="800" dirty="0">
                <a:solidFill>
                  <a:srgbClr val="8888AA"/>
                </a:solidFill>
                <a:latin typeface="Consolas" pitchFamily="34" charset="0"/>
                <a:ea typeface="Consolas" pitchFamily="34" charset="-122"/>
                <a:cs typeface="Consolas" pitchFamily="34" charset="-120"/>
              </a:rPr>
              <a:t>app.py  —  Intentional Vulnerabilities</a:t>
            </a:r>
            <a:endParaRPr lang="en-US" sz="800" dirty="0"/>
          </a:p>
        </p:txBody>
      </p:sp>
      <p:sp>
        <p:nvSpPr>
          <p:cNvPr id="11" name="Text 8"/>
          <p:cNvSpPr/>
          <p:nvPr/>
        </p:nvSpPr>
        <p:spPr>
          <a:xfrm>
            <a:off x="411480" y="1417320"/>
            <a:ext cx="4297680" cy="210312"/>
          </a:xfrm>
          <a:prstGeom prst="rect">
            <a:avLst/>
          </a:prstGeom>
          <a:noFill/>
          <a:ln/>
        </p:spPr>
        <p:txBody>
          <a:bodyPr wrap="square" lIns="0" tIns="0" rIns="0" bIns="0" rtlCol="0" anchor="ctr"/>
          <a:lstStyle/>
          <a:p>
            <a:pPr indent="0" marL="0">
              <a:buNone/>
            </a:pPr>
            <a:r>
              <a:rPr lang="en-US" sz="850" dirty="0">
                <a:solidFill>
                  <a:srgbClr val="6A9955"/>
                </a:solidFill>
                <a:latin typeface="Consolas" pitchFamily="34" charset="0"/>
                <a:ea typeface="Consolas" pitchFamily="34" charset="-122"/>
                <a:cs typeface="Consolas" pitchFamily="34" charset="-120"/>
              </a:rPr>
              <a:t># ❌ VULN 1: Plaintext password storage</a:t>
            </a:r>
            <a:endParaRPr lang="en-US" sz="850" dirty="0"/>
          </a:p>
        </p:txBody>
      </p:sp>
      <p:sp>
        <p:nvSpPr>
          <p:cNvPr id="12" name="Text 9"/>
          <p:cNvSpPr/>
          <p:nvPr/>
        </p:nvSpPr>
        <p:spPr>
          <a:xfrm>
            <a:off x="411480" y="1636776"/>
            <a:ext cx="4297680" cy="210312"/>
          </a:xfrm>
          <a:prstGeom prst="rect">
            <a:avLst/>
          </a:prstGeom>
          <a:noFill/>
          <a:ln/>
        </p:spPr>
        <p:txBody>
          <a:bodyPr wrap="square" lIns="0" tIns="0" rIns="0" bIns="0" rtlCol="0" anchor="ctr"/>
          <a:lstStyle/>
          <a:p>
            <a:pPr indent="0" marL="0">
              <a:buNone/>
            </a:pPr>
            <a:r>
              <a:rPr lang="en-US" sz="850" dirty="0">
                <a:solidFill>
                  <a:srgbClr val="CE9178"/>
                </a:solidFill>
                <a:latin typeface="Consolas" pitchFamily="34" charset="0"/>
                <a:ea typeface="Consolas" pitchFamily="34" charset="-122"/>
                <a:cs typeface="Consolas" pitchFamily="34" charset="-120"/>
              </a:rPr>
              <a:t>db.execute(f"INSERT INTO users VALUES ('{username}', '{password}')")</a:t>
            </a:r>
            <a:endParaRPr lang="en-US" sz="850" dirty="0"/>
          </a:p>
        </p:txBody>
      </p:sp>
      <p:sp>
        <p:nvSpPr>
          <p:cNvPr id="13" name="Text 10"/>
          <p:cNvSpPr/>
          <p:nvPr/>
        </p:nvSpPr>
        <p:spPr>
          <a:xfrm>
            <a:off x="411480" y="1856232"/>
            <a:ext cx="4297680" cy="210312"/>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a:t>
            </a:r>
            <a:endParaRPr lang="en-US" sz="850" dirty="0"/>
          </a:p>
        </p:txBody>
      </p:sp>
      <p:sp>
        <p:nvSpPr>
          <p:cNvPr id="14" name="Text 11"/>
          <p:cNvSpPr/>
          <p:nvPr/>
        </p:nvSpPr>
        <p:spPr>
          <a:xfrm>
            <a:off x="411480" y="2075688"/>
            <a:ext cx="4297680" cy="210312"/>
          </a:xfrm>
          <a:prstGeom prst="rect">
            <a:avLst/>
          </a:prstGeom>
          <a:noFill/>
          <a:ln/>
        </p:spPr>
        <p:txBody>
          <a:bodyPr wrap="square" lIns="0" tIns="0" rIns="0" bIns="0" rtlCol="0" anchor="ctr"/>
          <a:lstStyle/>
          <a:p>
            <a:pPr indent="0" marL="0">
              <a:buNone/>
            </a:pPr>
            <a:r>
              <a:rPr lang="en-US" sz="850" dirty="0">
                <a:solidFill>
                  <a:srgbClr val="6A9955"/>
                </a:solidFill>
                <a:latin typeface="Consolas" pitchFamily="34" charset="0"/>
                <a:ea typeface="Consolas" pitchFamily="34" charset="-122"/>
                <a:cs typeface="Consolas" pitchFamily="34" charset="-120"/>
              </a:rPr>
              <a:t># ❌ VULN 2: No file type validation</a:t>
            </a:r>
            <a:endParaRPr lang="en-US" sz="850" dirty="0"/>
          </a:p>
        </p:txBody>
      </p:sp>
      <p:sp>
        <p:nvSpPr>
          <p:cNvPr id="15" name="Text 12"/>
          <p:cNvSpPr/>
          <p:nvPr/>
        </p:nvSpPr>
        <p:spPr>
          <a:xfrm>
            <a:off x="411480" y="2295144"/>
            <a:ext cx="4297680" cy="210312"/>
          </a:xfrm>
          <a:prstGeom prst="rect">
            <a:avLst/>
          </a:prstGeom>
          <a:noFill/>
          <a:ln/>
        </p:spPr>
        <p:txBody>
          <a:bodyPr wrap="square" lIns="0" tIns="0" rIns="0" bIns="0" rtlCol="0" anchor="ctr"/>
          <a:lstStyle/>
          <a:p>
            <a:pPr indent="0" marL="0">
              <a:buNone/>
            </a:pPr>
            <a:r>
              <a:rPr lang="en-US" sz="850" dirty="0">
                <a:solidFill>
                  <a:srgbClr val="CE9178"/>
                </a:solidFill>
                <a:latin typeface="Consolas" pitchFamily="34" charset="0"/>
                <a:ea typeface="Consolas" pitchFamily="34" charset="-122"/>
                <a:cs typeface="Consolas" pitchFamily="34" charset="-120"/>
              </a:rPr>
              <a:t>file.save(os.path.join('uploads', file.filename))</a:t>
            </a:r>
            <a:endParaRPr lang="en-US" sz="850" dirty="0"/>
          </a:p>
        </p:txBody>
      </p:sp>
      <p:sp>
        <p:nvSpPr>
          <p:cNvPr id="16" name="Text 13"/>
          <p:cNvSpPr/>
          <p:nvPr/>
        </p:nvSpPr>
        <p:spPr>
          <a:xfrm>
            <a:off x="411480" y="2514600"/>
            <a:ext cx="4297680" cy="210312"/>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a:t>
            </a:r>
            <a:endParaRPr lang="en-US" sz="850" dirty="0"/>
          </a:p>
        </p:txBody>
      </p:sp>
      <p:sp>
        <p:nvSpPr>
          <p:cNvPr id="17" name="Text 14"/>
          <p:cNvSpPr/>
          <p:nvPr/>
        </p:nvSpPr>
        <p:spPr>
          <a:xfrm>
            <a:off x="411480" y="2734056"/>
            <a:ext cx="4297680" cy="210312"/>
          </a:xfrm>
          <a:prstGeom prst="rect">
            <a:avLst/>
          </a:prstGeom>
          <a:noFill/>
          <a:ln/>
        </p:spPr>
        <p:txBody>
          <a:bodyPr wrap="square" lIns="0" tIns="0" rIns="0" bIns="0" rtlCol="0" anchor="ctr"/>
          <a:lstStyle/>
          <a:p>
            <a:pPr indent="0" marL="0">
              <a:buNone/>
            </a:pPr>
            <a:r>
              <a:rPr lang="en-US" sz="850" dirty="0">
                <a:solidFill>
                  <a:srgbClr val="6A9955"/>
                </a:solidFill>
                <a:latin typeface="Consolas" pitchFamily="34" charset="0"/>
                <a:ea typeface="Consolas" pitchFamily="34" charset="-122"/>
                <a:cs typeface="Consolas" pitchFamily="34" charset="-120"/>
              </a:rPr>
              <a:t># ❌ VULN 3: SQL Injection</a:t>
            </a:r>
            <a:endParaRPr lang="en-US" sz="850" dirty="0"/>
          </a:p>
        </p:txBody>
      </p:sp>
      <p:sp>
        <p:nvSpPr>
          <p:cNvPr id="18" name="Text 15"/>
          <p:cNvSpPr/>
          <p:nvPr/>
        </p:nvSpPr>
        <p:spPr>
          <a:xfrm>
            <a:off x="411480" y="2953512"/>
            <a:ext cx="4297680" cy="210312"/>
          </a:xfrm>
          <a:prstGeom prst="rect">
            <a:avLst/>
          </a:prstGeom>
          <a:noFill/>
          <a:ln/>
        </p:spPr>
        <p:txBody>
          <a:bodyPr wrap="square" lIns="0" tIns="0" rIns="0" bIns="0" rtlCol="0" anchor="ctr"/>
          <a:lstStyle/>
          <a:p>
            <a:pPr indent="0" marL="0">
              <a:buNone/>
            </a:pPr>
            <a:r>
              <a:rPr lang="en-US" sz="850" dirty="0">
                <a:solidFill>
                  <a:srgbClr val="F44747"/>
                </a:solidFill>
                <a:latin typeface="Consolas" pitchFamily="34" charset="0"/>
                <a:ea typeface="Consolas" pitchFamily="34" charset="-122"/>
                <a:cs typeface="Consolas" pitchFamily="34" charset="-120"/>
              </a:rPr>
              <a:t>query = f"SELECT * FROM students WHERE id={user_input}"</a:t>
            </a:r>
            <a:endParaRPr lang="en-US" sz="850" dirty="0"/>
          </a:p>
        </p:txBody>
      </p:sp>
      <p:sp>
        <p:nvSpPr>
          <p:cNvPr id="19" name="Text 16"/>
          <p:cNvSpPr/>
          <p:nvPr/>
        </p:nvSpPr>
        <p:spPr>
          <a:xfrm>
            <a:off x="411480" y="3172968"/>
            <a:ext cx="4297680" cy="210312"/>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a:t>
            </a:r>
            <a:endParaRPr lang="en-US" sz="850" dirty="0"/>
          </a:p>
        </p:txBody>
      </p:sp>
      <p:sp>
        <p:nvSpPr>
          <p:cNvPr id="20" name="Text 17"/>
          <p:cNvSpPr/>
          <p:nvPr/>
        </p:nvSpPr>
        <p:spPr>
          <a:xfrm>
            <a:off x="411480" y="3392424"/>
            <a:ext cx="4297680" cy="210312"/>
          </a:xfrm>
          <a:prstGeom prst="rect">
            <a:avLst/>
          </a:prstGeom>
          <a:noFill/>
          <a:ln/>
        </p:spPr>
        <p:txBody>
          <a:bodyPr wrap="square" lIns="0" tIns="0" rIns="0" bIns="0" rtlCol="0" anchor="ctr"/>
          <a:lstStyle/>
          <a:p>
            <a:pPr indent="0" marL="0">
              <a:buNone/>
            </a:pPr>
            <a:r>
              <a:rPr lang="en-US" sz="850" dirty="0">
                <a:solidFill>
                  <a:srgbClr val="6A9955"/>
                </a:solidFill>
                <a:latin typeface="Consolas" pitchFamily="34" charset="0"/>
                <a:ea typeface="Consolas" pitchFamily="34" charset="-122"/>
                <a:cs typeface="Consolas" pitchFamily="34" charset="-120"/>
              </a:rPr>
              <a:t># ❌ VULN 4: No logging of sensitive actions</a:t>
            </a:r>
            <a:endParaRPr lang="en-US" sz="850" dirty="0"/>
          </a:p>
        </p:txBody>
      </p:sp>
      <p:sp>
        <p:nvSpPr>
          <p:cNvPr id="21" name="Text 18"/>
          <p:cNvSpPr/>
          <p:nvPr/>
        </p:nvSpPr>
        <p:spPr>
          <a:xfrm>
            <a:off x="411480" y="3611880"/>
            <a:ext cx="4297680" cy="210312"/>
          </a:xfrm>
          <a:prstGeom prst="rect">
            <a:avLst/>
          </a:prstGeom>
          <a:noFill/>
          <a:ln/>
        </p:spPr>
        <p:txBody>
          <a:bodyPr wrap="square" lIns="0" tIns="0" rIns="0" bIns="0" rtlCol="0" anchor="ctr"/>
          <a:lstStyle/>
          <a:p>
            <a:pPr indent="0" marL="0">
              <a:buNone/>
            </a:pPr>
            <a:r>
              <a:rPr lang="en-US" sz="850" dirty="0">
                <a:solidFill>
                  <a:srgbClr val="608B4E"/>
                </a:solidFill>
                <a:latin typeface="Consolas" pitchFamily="34" charset="0"/>
                <a:ea typeface="Consolas" pitchFamily="34" charset="-122"/>
                <a:cs typeface="Consolas" pitchFamily="34" charset="-120"/>
              </a:rPr>
              <a:t># (no log.info or audit trail here)</a:t>
            </a:r>
            <a:endParaRPr lang="en-US" sz="850" dirty="0"/>
          </a:p>
        </p:txBody>
      </p:sp>
      <p:sp>
        <p:nvSpPr>
          <p:cNvPr id="22" name="Text 19"/>
          <p:cNvSpPr/>
          <p:nvPr/>
        </p:nvSpPr>
        <p:spPr>
          <a:xfrm>
            <a:off x="411480" y="3831336"/>
            <a:ext cx="4297680" cy="210312"/>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a:t>
            </a:r>
            <a:endParaRPr lang="en-US" sz="850" dirty="0"/>
          </a:p>
        </p:txBody>
      </p:sp>
      <p:sp>
        <p:nvSpPr>
          <p:cNvPr id="23" name="Text 20"/>
          <p:cNvSpPr/>
          <p:nvPr/>
        </p:nvSpPr>
        <p:spPr>
          <a:xfrm>
            <a:off x="411480" y="4050792"/>
            <a:ext cx="4297680" cy="210312"/>
          </a:xfrm>
          <a:prstGeom prst="rect">
            <a:avLst/>
          </a:prstGeom>
          <a:noFill/>
          <a:ln/>
        </p:spPr>
        <p:txBody>
          <a:bodyPr wrap="square" lIns="0" tIns="0" rIns="0" bIns="0" rtlCol="0" anchor="ctr"/>
          <a:lstStyle/>
          <a:p>
            <a:pPr indent="0" marL="0">
              <a:buNone/>
            </a:pPr>
            <a:r>
              <a:rPr lang="en-US" sz="850" dirty="0">
                <a:solidFill>
                  <a:srgbClr val="6A9955"/>
                </a:solidFill>
                <a:latin typeface="Consolas" pitchFamily="34" charset="0"/>
                <a:ea typeface="Consolas" pitchFamily="34" charset="-122"/>
                <a:cs typeface="Consolas" pitchFamily="34" charset="-120"/>
              </a:rPr>
              <a:t># ❌ VULN 5: No rate limiting on login</a:t>
            </a:r>
            <a:endParaRPr lang="en-US" sz="850" dirty="0"/>
          </a:p>
        </p:txBody>
      </p:sp>
      <p:sp>
        <p:nvSpPr>
          <p:cNvPr id="24" name="Text 21"/>
          <p:cNvSpPr/>
          <p:nvPr/>
        </p:nvSpPr>
        <p:spPr>
          <a:xfrm>
            <a:off x="411480" y="4270248"/>
            <a:ext cx="4297680" cy="210312"/>
          </a:xfrm>
          <a:prstGeom prst="rect">
            <a:avLst/>
          </a:prstGeom>
          <a:noFill/>
          <a:ln/>
        </p:spPr>
        <p:txBody>
          <a:bodyPr wrap="square" lIns="0" tIns="0" rIns="0" bIns="0" rtlCol="0" anchor="ctr"/>
          <a:lstStyle/>
          <a:p>
            <a:pPr indent="0" marL="0">
              <a:buNone/>
            </a:pPr>
            <a:r>
              <a:rPr lang="en-US" sz="850" dirty="0">
                <a:solidFill>
                  <a:srgbClr val="CE9178"/>
                </a:solidFill>
                <a:latin typeface="Consolas" pitchFamily="34" charset="0"/>
                <a:ea typeface="Consolas" pitchFamily="34" charset="-122"/>
                <a:cs typeface="Consolas" pitchFamily="34" charset="-120"/>
              </a:rPr>
              <a:t>@app.route('/login', methods=['POST'])  # unlimited</a:t>
            </a:r>
            <a:endParaRPr lang="en-US" sz="850" dirty="0"/>
          </a:p>
        </p:txBody>
      </p:sp>
      <p:sp>
        <p:nvSpPr>
          <p:cNvPr id="25" name="Shape 22"/>
          <p:cNvSpPr/>
          <p:nvPr/>
        </p:nvSpPr>
        <p:spPr>
          <a:xfrm>
            <a:off x="5120640" y="1005840"/>
            <a:ext cx="3749040" cy="45720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26" name="Shape 23"/>
          <p:cNvSpPr/>
          <p:nvPr/>
        </p:nvSpPr>
        <p:spPr>
          <a:xfrm>
            <a:off x="5120640" y="1005840"/>
            <a:ext cx="54864" cy="457200"/>
          </a:xfrm>
          <a:prstGeom prst="rect">
            <a:avLst/>
          </a:prstGeom>
          <a:solidFill>
            <a:srgbClr val="C0392B"/>
          </a:solidFill>
          <a:ln/>
        </p:spPr>
      </p:sp>
      <p:sp>
        <p:nvSpPr>
          <p:cNvPr id="27" name="Text 24"/>
          <p:cNvSpPr/>
          <p:nvPr/>
        </p:nvSpPr>
        <p:spPr>
          <a:xfrm>
            <a:off x="5285232" y="1042416"/>
            <a:ext cx="2286000" cy="21945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Plaintext Passwords</a:t>
            </a:r>
            <a:endParaRPr lang="en-US" sz="950" dirty="0"/>
          </a:p>
        </p:txBody>
      </p:sp>
      <p:sp>
        <p:nvSpPr>
          <p:cNvPr id="28" name="Text 25"/>
          <p:cNvSpPr/>
          <p:nvPr/>
        </p:nvSpPr>
        <p:spPr>
          <a:xfrm>
            <a:off x="5285232" y="1252728"/>
            <a:ext cx="1371600" cy="164592"/>
          </a:xfrm>
          <a:prstGeom prst="rect">
            <a:avLst/>
          </a:prstGeom>
          <a:noFill/>
          <a:ln/>
        </p:spPr>
        <p:txBody>
          <a:bodyPr wrap="square" lIns="0" tIns="0" rIns="0" bIns="0" rtlCol="0" anchor="ctr"/>
          <a:lstStyle/>
          <a:p>
            <a:pPr indent="0" marL="0">
              <a:buNone/>
            </a:pPr>
            <a:r>
              <a:rPr lang="en-US" sz="800" dirty="0">
                <a:solidFill>
                  <a:srgbClr val="718096"/>
                </a:solidFill>
                <a:latin typeface="Calibri" pitchFamily="34" charset="0"/>
                <a:ea typeface="Calibri" pitchFamily="34" charset="-122"/>
                <a:cs typeface="Calibri" pitchFamily="34" charset="-120"/>
              </a:rPr>
              <a:t>CWE-256</a:t>
            </a:r>
            <a:endParaRPr lang="en-US" sz="800" dirty="0"/>
          </a:p>
        </p:txBody>
      </p:sp>
      <p:sp>
        <p:nvSpPr>
          <p:cNvPr id="29" name="Shape 26"/>
          <p:cNvSpPr/>
          <p:nvPr/>
        </p:nvSpPr>
        <p:spPr>
          <a:xfrm>
            <a:off x="7772400" y="1078992"/>
            <a:ext cx="1005840" cy="292608"/>
          </a:xfrm>
          <a:prstGeom prst="rect">
            <a:avLst/>
          </a:prstGeom>
          <a:solidFill>
            <a:srgbClr val="C0392B"/>
          </a:solidFill>
          <a:ln/>
        </p:spPr>
      </p:sp>
      <p:sp>
        <p:nvSpPr>
          <p:cNvPr id="30" name="Text 27"/>
          <p:cNvSpPr/>
          <p:nvPr/>
        </p:nvSpPr>
        <p:spPr>
          <a:xfrm>
            <a:off x="7772400" y="1078992"/>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rPr>
              <a:t>7.5 HIGH</a:t>
            </a:r>
            <a:endParaRPr lang="en-US" sz="800" dirty="0"/>
          </a:p>
        </p:txBody>
      </p:sp>
      <p:sp>
        <p:nvSpPr>
          <p:cNvPr id="31" name="Shape 28"/>
          <p:cNvSpPr/>
          <p:nvPr/>
        </p:nvSpPr>
        <p:spPr>
          <a:xfrm>
            <a:off x="5120640" y="1527048"/>
            <a:ext cx="3749040" cy="45720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32" name="Shape 29"/>
          <p:cNvSpPr/>
          <p:nvPr/>
        </p:nvSpPr>
        <p:spPr>
          <a:xfrm>
            <a:off x="5120640" y="1527048"/>
            <a:ext cx="54864" cy="457200"/>
          </a:xfrm>
          <a:prstGeom prst="rect">
            <a:avLst/>
          </a:prstGeom>
          <a:solidFill>
            <a:srgbClr val="C0392B"/>
          </a:solidFill>
          <a:ln/>
        </p:spPr>
      </p:sp>
      <p:sp>
        <p:nvSpPr>
          <p:cNvPr id="33" name="Text 30"/>
          <p:cNvSpPr/>
          <p:nvPr/>
        </p:nvSpPr>
        <p:spPr>
          <a:xfrm>
            <a:off x="5285232" y="1563624"/>
            <a:ext cx="2286000" cy="21945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Unrestricted File Upload</a:t>
            </a:r>
            <a:endParaRPr lang="en-US" sz="950" dirty="0"/>
          </a:p>
        </p:txBody>
      </p:sp>
      <p:sp>
        <p:nvSpPr>
          <p:cNvPr id="34" name="Text 31"/>
          <p:cNvSpPr/>
          <p:nvPr/>
        </p:nvSpPr>
        <p:spPr>
          <a:xfrm>
            <a:off x="5285232" y="1773936"/>
            <a:ext cx="1371600" cy="164592"/>
          </a:xfrm>
          <a:prstGeom prst="rect">
            <a:avLst/>
          </a:prstGeom>
          <a:noFill/>
          <a:ln/>
        </p:spPr>
        <p:txBody>
          <a:bodyPr wrap="square" lIns="0" tIns="0" rIns="0" bIns="0" rtlCol="0" anchor="ctr"/>
          <a:lstStyle/>
          <a:p>
            <a:pPr indent="0" marL="0">
              <a:buNone/>
            </a:pPr>
            <a:r>
              <a:rPr lang="en-US" sz="800" dirty="0">
                <a:solidFill>
                  <a:srgbClr val="718096"/>
                </a:solidFill>
                <a:latin typeface="Calibri" pitchFamily="34" charset="0"/>
                <a:ea typeface="Calibri" pitchFamily="34" charset="-122"/>
                <a:cs typeface="Calibri" pitchFamily="34" charset="-120"/>
              </a:rPr>
              <a:t>CWE-434</a:t>
            </a:r>
            <a:endParaRPr lang="en-US" sz="800" dirty="0"/>
          </a:p>
        </p:txBody>
      </p:sp>
      <p:sp>
        <p:nvSpPr>
          <p:cNvPr id="35" name="Shape 32"/>
          <p:cNvSpPr/>
          <p:nvPr/>
        </p:nvSpPr>
        <p:spPr>
          <a:xfrm>
            <a:off x="7772400" y="1600200"/>
            <a:ext cx="1005840" cy="292608"/>
          </a:xfrm>
          <a:prstGeom prst="rect">
            <a:avLst/>
          </a:prstGeom>
          <a:solidFill>
            <a:srgbClr val="C0392B"/>
          </a:solidFill>
          <a:ln/>
        </p:spPr>
      </p:sp>
      <p:sp>
        <p:nvSpPr>
          <p:cNvPr id="36" name="Text 33"/>
          <p:cNvSpPr/>
          <p:nvPr/>
        </p:nvSpPr>
        <p:spPr>
          <a:xfrm>
            <a:off x="7772400" y="1600200"/>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rPr>
              <a:t>8.1 HIGH</a:t>
            </a:r>
            <a:endParaRPr lang="en-US" sz="800" dirty="0"/>
          </a:p>
        </p:txBody>
      </p:sp>
      <p:sp>
        <p:nvSpPr>
          <p:cNvPr id="37" name="Shape 34"/>
          <p:cNvSpPr/>
          <p:nvPr/>
        </p:nvSpPr>
        <p:spPr>
          <a:xfrm>
            <a:off x="5120640" y="2048256"/>
            <a:ext cx="3749040" cy="45720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38" name="Shape 35"/>
          <p:cNvSpPr/>
          <p:nvPr/>
        </p:nvSpPr>
        <p:spPr>
          <a:xfrm>
            <a:off x="5120640" y="2048256"/>
            <a:ext cx="54864" cy="457200"/>
          </a:xfrm>
          <a:prstGeom prst="rect">
            <a:avLst/>
          </a:prstGeom>
          <a:solidFill>
            <a:srgbClr val="8B0000"/>
          </a:solidFill>
          <a:ln/>
        </p:spPr>
      </p:sp>
      <p:sp>
        <p:nvSpPr>
          <p:cNvPr id="39" name="Text 36"/>
          <p:cNvSpPr/>
          <p:nvPr/>
        </p:nvSpPr>
        <p:spPr>
          <a:xfrm>
            <a:off x="5285232" y="2084832"/>
            <a:ext cx="2286000" cy="21945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SQL Injection</a:t>
            </a:r>
            <a:endParaRPr lang="en-US" sz="950" dirty="0"/>
          </a:p>
        </p:txBody>
      </p:sp>
      <p:sp>
        <p:nvSpPr>
          <p:cNvPr id="40" name="Text 37"/>
          <p:cNvSpPr/>
          <p:nvPr/>
        </p:nvSpPr>
        <p:spPr>
          <a:xfrm>
            <a:off x="5285232" y="2295144"/>
            <a:ext cx="1371600" cy="164592"/>
          </a:xfrm>
          <a:prstGeom prst="rect">
            <a:avLst/>
          </a:prstGeom>
          <a:noFill/>
          <a:ln/>
        </p:spPr>
        <p:txBody>
          <a:bodyPr wrap="square" lIns="0" tIns="0" rIns="0" bIns="0" rtlCol="0" anchor="ctr"/>
          <a:lstStyle/>
          <a:p>
            <a:pPr indent="0" marL="0">
              <a:buNone/>
            </a:pPr>
            <a:r>
              <a:rPr lang="en-US" sz="800" dirty="0">
                <a:solidFill>
                  <a:srgbClr val="718096"/>
                </a:solidFill>
                <a:latin typeface="Calibri" pitchFamily="34" charset="0"/>
                <a:ea typeface="Calibri" pitchFamily="34" charset="-122"/>
                <a:cs typeface="Calibri" pitchFamily="34" charset="-120"/>
              </a:rPr>
              <a:t>CWE-89</a:t>
            </a:r>
            <a:endParaRPr lang="en-US" sz="800" dirty="0"/>
          </a:p>
        </p:txBody>
      </p:sp>
      <p:sp>
        <p:nvSpPr>
          <p:cNvPr id="41" name="Shape 38"/>
          <p:cNvSpPr/>
          <p:nvPr/>
        </p:nvSpPr>
        <p:spPr>
          <a:xfrm>
            <a:off x="7772400" y="2121408"/>
            <a:ext cx="1005840" cy="292608"/>
          </a:xfrm>
          <a:prstGeom prst="rect">
            <a:avLst/>
          </a:prstGeom>
          <a:solidFill>
            <a:srgbClr val="8B0000"/>
          </a:solidFill>
          <a:ln/>
        </p:spPr>
      </p:sp>
      <p:sp>
        <p:nvSpPr>
          <p:cNvPr id="42" name="Text 39"/>
          <p:cNvSpPr/>
          <p:nvPr/>
        </p:nvSpPr>
        <p:spPr>
          <a:xfrm>
            <a:off x="7772400" y="2121408"/>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rPr>
              <a:t>9.8 CRITICAL</a:t>
            </a:r>
            <a:endParaRPr lang="en-US" sz="800" dirty="0"/>
          </a:p>
        </p:txBody>
      </p:sp>
      <p:sp>
        <p:nvSpPr>
          <p:cNvPr id="43" name="Shape 40"/>
          <p:cNvSpPr/>
          <p:nvPr/>
        </p:nvSpPr>
        <p:spPr>
          <a:xfrm>
            <a:off x="5120640" y="2569464"/>
            <a:ext cx="3749040" cy="45720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44" name="Shape 41"/>
          <p:cNvSpPr/>
          <p:nvPr/>
        </p:nvSpPr>
        <p:spPr>
          <a:xfrm>
            <a:off x="5120640" y="2569464"/>
            <a:ext cx="54864" cy="457200"/>
          </a:xfrm>
          <a:prstGeom prst="rect">
            <a:avLst/>
          </a:prstGeom>
          <a:solidFill>
            <a:srgbClr val="E67E22"/>
          </a:solidFill>
          <a:ln/>
        </p:spPr>
      </p:sp>
      <p:sp>
        <p:nvSpPr>
          <p:cNvPr id="45" name="Text 42"/>
          <p:cNvSpPr/>
          <p:nvPr/>
        </p:nvSpPr>
        <p:spPr>
          <a:xfrm>
            <a:off x="5285232" y="2606040"/>
            <a:ext cx="2286000" cy="21945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Missing Audit Logging</a:t>
            </a:r>
            <a:endParaRPr lang="en-US" sz="950" dirty="0"/>
          </a:p>
        </p:txBody>
      </p:sp>
      <p:sp>
        <p:nvSpPr>
          <p:cNvPr id="46" name="Text 43"/>
          <p:cNvSpPr/>
          <p:nvPr/>
        </p:nvSpPr>
        <p:spPr>
          <a:xfrm>
            <a:off x="5285232" y="2816352"/>
            <a:ext cx="1371600" cy="164592"/>
          </a:xfrm>
          <a:prstGeom prst="rect">
            <a:avLst/>
          </a:prstGeom>
          <a:noFill/>
          <a:ln/>
        </p:spPr>
        <p:txBody>
          <a:bodyPr wrap="square" lIns="0" tIns="0" rIns="0" bIns="0" rtlCol="0" anchor="ctr"/>
          <a:lstStyle/>
          <a:p>
            <a:pPr indent="0" marL="0">
              <a:buNone/>
            </a:pPr>
            <a:r>
              <a:rPr lang="en-US" sz="800" dirty="0">
                <a:solidFill>
                  <a:srgbClr val="718096"/>
                </a:solidFill>
                <a:latin typeface="Calibri" pitchFamily="34" charset="0"/>
                <a:ea typeface="Calibri" pitchFamily="34" charset="-122"/>
                <a:cs typeface="Calibri" pitchFamily="34" charset="-120"/>
              </a:rPr>
              <a:t>CWE-778</a:t>
            </a:r>
            <a:endParaRPr lang="en-US" sz="800" dirty="0"/>
          </a:p>
        </p:txBody>
      </p:sp>
      <p:sp>
        <p:nvSpPr>
          <p:cNvPr id="47" name="Shape 44"/>
          <p:cNvSpPr/>
          <p:nvPr/>
        </p:nvSpPr>
        <p:spPr>
          <a:xfrm>
            <a:off x="7772400" y="2642616"/>
            <a:ext cx="1005840" cy="292608"/>
          </a:xfrm>
          <a:prstGeom prst="rect">
            <a:avLst/>
          </a:prstGeom>
          <a:solidFill>
            <a:srgbClr val="E67E22"/>
          </a:solidFill>
          <a:ln/>
        </p:spPr>
      </p:sp>
      <p:sp>
        <p:nvSpPr>
          <p:cNvPr id="48" name="Text 45"/>
          <p:cNvSpPr/>
          <p:nvPr/>
        </p:nvSpPr>
        <p:spPr>
          <a:xfrm>
            <a:off x="7772400" y="2642616"/>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rPr>
              <a:t>5.3 MEDIUM</a:t>
            </a:r>
            <a:endParaRPr lang="en-US" sz="800" dirty="0"/>
          </a:p>
        </p:txBody>
      </p:sp>
      <p:sp>
        <p:nvSpPr>
          <p:cNvPr id="49" name="Shape 46"/>
          <p:cNvSpPr/>
          <p:nvPr/>
        </p:nvSpPr>
        <p:spPr>
          <a:xfrm>
            <a:off x="5120640" y="3090672"/>
            <a:ext cx="3749040" cy="45720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50" name="Shape 47"/>
          <p:cNvSpPr/>
          <p:nvPr/>
        </p:nvSpPr>
        <p:spPr>
          <a:xfrm>
            <a:off x="5120640" y="3090672"/>
            <a:ext cx="54864" cy="457200"/>
          </a:xfrm>
          <a:prstGeom prst="rect">
            <a:avLst/>
          </a:prstGeom>
          <a:solidFill>
            <a:srgbClr val="C0392B"/>
          </a:solidFill>
          <a:ln/>
        </p:spPr>
      </p:sp>
      <p:sp>
        <p:nvSpPr>
          <p:cNvPr id="51" name="Text 48"/>
          <p:cNvSpPr/>
          <p:nvPr/>
        </p:nvSpPr>
        <p:spPr>
          <a:xfrm>
            <a:off x="5285232" y="3127248"/>
            <a:ext cx="2286000" cy="21945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No Privilege Checks</a:t>
            </a:r>
            <a:endParaRPr lang="en-US" sz="950" dirty="0"/>
          </a:p>
        </p:txBody>
      </p:sp>
      <p:sp>
        <p:nvSpPr>
          <p:cNvPr id="52" name="Text 49"/>
          <p:cNvSpPr/>
          <p:nvPr/>
        </p:nvSpPr>
        <p:spPr>
          <a:xfrm>
            <a:off x="5285232" y="3337560"/>
            <a:ext cx="1371600" cy="164592"/>
          </a:xfrm>
          <a:prstGeom prst="rect">
            <a:avLst/>
          </a:prstGeom>
          <a:noFill/>
          <a:ln/>
        </p:spPr>
        <p:txBody>
          <a:bodyPr wrap="square" lIns="0" tIns="0" rIns="0" bIns="0" rtlCol="0" anchor="ctr"/>
          <a:lstStyle/>
          <a:p>
            <a:pPr indent="0" marL="0">
              <a:buNone/>
            </a:pPr>
            <a:r>
              <a:rPr lang="en-US" sz="800" dirty="0">
                <a:solidFill>
                  <a:srgbClr val="718096"/>
                </a:solidFill>
                <a:latin typeface="Calibri" pitchFamily="34" charset="0"/>
                <a:ea typeface="Calibri" pitchFamily="34" charset="-122"/>
                <a:cs typeface="Calibri" pitchFamily="34" charset="-120"/>
              </a:rPr>
              <a:t>CWE-862</a:t>
            </a:r>
            <a:endParaRPr lang="en-US" sz="800" dirty="0"/>
          </a:p>
        </p:txBody>
      </p:sp>
      <p:sp>
        <p:nvSpPr>
          <p:cNvPr id="53" name="Shape 50"/>
          <p:cNvSpPr/>
          <p:nvPr/>
        </p:nvSpPr>
        <p:spPr>
          <a:xfrm>
            <a:off x="7772400" y="3163824"/>
            <a:ext cx="1005840" cy="292608"/>
          </a:xfrm>
          <a:prstGeom prst="rect">
            <a:avLst/>
          </a:prstGeom>
          <a:solidFill>
            <a:srgbClr val="C0392B"/>
          </a:solidFill>
          <a:ln/>
        </p:spPr>
      </p:sp>
      <p:sp>
        <p:nvSpPr>
          <p:cNvPr id="54" name="Text 51"/>
          <p:cNvSpPr/>
          <p:nvPr/>
        </p:nvSpPr>
        <p:spPr>
          <a:xfrm>
            <a:off x="7772400" y="3163824"/>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rPr>
              <a:t>8.8 HIGH</a:t>
            </a:r>
            <a:endParaRPr lang="en-US" sz="800" dirty="0"/>
          </a:p>
        </p:txBody>
      </p:sp>
      <p:sp>
        <p:nvSpPr>
          <p:cNvPr id="55" name="Shape 52"/>
          <p:cNvSpPr/>
          <p:nvPr/>
        </p:nvSpPr>
        <p:spPr>
          <a:xfrm>
            <a:off x="5120640" y="3611880"/>
            <a:ext cx="3749040" cy="45720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56" name="Shape 53"/>
          <p:cNvSpPr/>
          <p:nvPr/>
        </p:nvSpPr>
        <p:spPr>
          <a:xfrm>
            <a:off x="5120640" y="3611880"/>
            <a:ext cx="54864" cy="457200"/>
          </a:xfrm>
          <a:prstGeom prst="rect">
            <a:avLst/>
          </a:prstGeom>
          <a:solidFill>
            <a:srgbClr val="E67E22"/>
          </a:solidFill>
          <a:ln/>
        </p:spPr>
      </p:sp>
      <p:sp>
        <p:nvSpPr>
          <p:cNvPr id="57" name="Text 54"/>
          <p:cNvSpPr/>
          <p:nvPr/>
        </p:nvSpPr>
        <p:spPr>
          <a:xfrm>
            <a:off x="5285232" y="3648456"/>
            <a:ext cx="2286000" cy="21945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Login Rate Limiting Absent</a:t>
            </a:r>
            <a:endParaRPr lang="en-US" sz="950" dirty="0"/>
          </a:p>
        </p:txBody>
      </p:sp>
      <p:sp>
        <p:nvSpPr>
          <p:cNvPr id="58" name="Text 55"/>
          <p:cNvSpPr/>
          <p:nvPr/>
        </p:nvSpPr>
        <p:spPr>
          <a:xfrm>
            <a:off x="5285232" y="3858768"/>
            <a:ext cx="1371600" cy="164592"/>
          </a:xfrm>
          <a:prstGeom prst="rect">
            <a:avLst/>
          </a:prstGeom>
          <a:noFill/>
          <a:ln/>
        </p:spPr>
        <p:txBody>
          <a:bodyPr wrap="square" lIns="0" tIns="0" rIns="0" bIns="0" rtlCol="0" anchor="ctr"/>
          <a:lstStyle/>
          <a:p>
            <a:pPr indent="0" marL="0">
              <a:buNone/>
            </a:pPr>
            <a:r>
              <a:rPr lang="en-US" sz="800" dirty="0">
                <a:solidFill>
                  <a:srgbClr val="718096"/>
                </a:solidFill>
                <a:latin typeface="Calibri" pitchFamily="34" charset="0"/>
                <a:ea typeface="Calibri" pitchFamily="34" charset="-122"/>
                <a:cs typeface="Calibri" pitchFamily="34" charset="-120"/>
              </a:rPr>
              <a:t>CWE-307</a:t>
            </a:r>
            <a:endParaRPr lang="en-US" sz="800" dirty="0"/>
          </a:p>
        </p:txBody>
      </p:sp>
      <p:sp>
        <p:nvSpPr>
          <p:cNvPr id="59" name="Shape 56"/>
          <p:cNvSpPr/>
          <p:nvPr/>
        </p:nvSpPr>
        <p:spPr>
          <a:xfrm>
            <a:off x="7772400" y="3685032"/>
            <a:ext cx="1005840" cy="292608"/>
          </a:xfrm>
          <a:prstGeom prst="rect">
            <a:avLst/>
          </a:prstGeom>
          <a:solidFill>
            <a:srgbClr val="E67E22"/>
          </a:solidFill>
          <a:ln/>
        </p:spPr>
      </p:sp>
      <p:sp>
        <p:nvSpPr>
          <p:cNvPr id="60" name="Text 57"/>
          <p:cNvSpPr/>
          <p:nvPr/>
        </p:nvSpPr>
        <p:spPr>
          <a:xfrm>
            <a:off x="7772400" y="3685032"/>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rPr>
              <a:t>6.5 MEDIUM</a:t>
            </a:r>
            <a:endParaRPr lang="en-US" sz="800" dirty="0"/>
          </a:p>
        </p:txBody>
      </p:sp>
      <p:sp>
        <p:nvSpPr>
          <p:cNvPr id="61" name="Shape 58"/>
          <p:cNvSpPr/>
          <p:nvPr/>
        </p:nvSpPr>
        <p:spPr>
          <a:xfrm>
            <a:off x="5120640" y="4133088"/>
            <a:ext cx="3749040" cy="45720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62" name="Shape 59"/>
          <p:cNvSpPr/>
          <p:nvPr/>
        </p:nvSpPr>
        <p:spPr>
          <a:xfrm>
            <a:off x="5120640" y="4133088"/>
            <a:ext cx="54864" cy="457200"/>
          </a:xfrm>
          <a:prstGeom prst="rect">
            <a:avLst/>
          </a:prstGeom>
          <a:solidFill>
            <a:srgbClr val="C0392B"/>
          </a:solidFill>
          <a:ln/>
        </p:spPr>
      </p:sp>
      <p:sp>
        <p:nvSpPr>
          <p:cNvPr id="63" name="Text 60"/>
          <p:cNvSpPr/>
          <p:nvPr/>
        </p:nvSpPr>
        <p:spPr>
          <a:xfrm>
            <a:off x="5285232" y="4169664"/>
            <a:ext cx="2286000" cy="219456"/>
          </a:xfrm>
          <a:prstGeom prst="rect">
            <a:avLst/>
          </a:prstGeom>
          <a:noFill/>
          <a:ln/>
        </p:spPr>
        <p:txBody>
          <a:bodyPr wrap="square" lIns="0" tIns="0" rIns="0" bIns="0" rtlCol="0" anchor="ctr"/>
          <a:lstStyle/>
          <a:p>
            <a:pPr indent="0" marL="0">
              <a:buNone/>
            </a:pPr>
            <a:r>
              <a:rPr lang="en-US" sz="950" b="1" dirty="0">
                <a:solidFill>
                  <a:srgbClr val="1A202C"/>
                </a:solidFill>
                <a:latin typeface="Calibri" pitchFamily="34" charset="0"/>
                <a:ea typeface="Calibri" pitchFamily="34" charset="-122"/>
                <a:cs typeface="Calibri" pitchFamily="34" charset="-120"/>
              </a:rPr>
              <a:t>Sensitive Data Exposure</a:t>
            </a:r>
            <a:endParaRPr lang="en-US" sz="950" dirty="0"/>
          </a:p>
        </p:txBody>
      </p:sp>
      <p:sp>
        <p:nvSpPr>
          <p:cNvPr id="64" name="Text 61"/>
          <p:cNvSpPr/>
          <p:nvPr/>
        </p:nvSpPr>
        <p:spPr>
          <a:xfrm>
            <a:off x="5285232" y="4379976"/>
            <a:ext cx="1371600" cy="164592"/>
          </a:xfrm>
          <a:prstGeom prst="rect">
            <a:avLst/>
          </a:prstGeom>
          <a:noFill/>
          <a:ln/>
        </p:spPr>
        <p:txBody>
          <a:bodyPr wrap="square" lIns="0" tIns="0" rIns="0" bIns="0" rtlCol="0" anchor="ctr"/>
          <a:lstStyle/>
          <a:p>
            <a:pPr indent="0" marL="0">
              <a:buNone/>
            </a:pPr>
            <a:r>
              <a:rPr lang="en-US" sz="800" dirty="0">
                <a:solidFill>
                  <a:srgbClr val="718096"/>
                </a:solidFill>
                <a:latin typeface="Calibri" pitchFamily="34" charset="0"/>
                <a:ea typeface="Calibri" pitchFamily="34" charset="-122"/>
                <a:cs typeface="Calibri" pitchFamily="34" charset="-120"/>
              </a:rPr>
              <a:t>CWE-200</a:t>
            </a:r>
            <a:endParaRPr lang="en-US" sz="800" dirty="0"/>
          </a:p>
        </p:txBody>
      </p:sp>
      <p:sp>
        <p:nvSpPr>
          <p:cNvPr id="65" name="Shape 62"/>
          <p:cNvSpPr/>
          <p:nvPr/>
        </p:nvSpPr>
        <p:spPr>
          <a:xfrm>
            <a:off x="7772400" y="4206240"/>
            <a:ext cx="1005840" cy="292608"/>
          </a:xfrm>
          <a:prstGeom prst="rect">
            <a:avLst/>
          </a:prstGeom>
          <a:solidFill>
            <a:srgbClr val="C0392B"/>
          </a:solidFill>
          <a:ln/>
        </p:spPr>
      </p:sp>
      <p:sp>
        <p:nvSpPr>
          <p:cNvPr id="66" name="Text 63"/>
          <p:cNvSpPr/>
          <p:nvPr/>
        </p:nvSpPr>
        <p:spPr>
          <a:xfrm>
            <a:off x="7772400" y="4206240"/>
            <a:ext cx="1005840" cy="292608"/>
          </a:xfrm>
          <a:prstGeom prst="rect">
            <a:avLst/>
          </a:prstGeom>
          <a:noFill/>
          <a:ln/>
        </p:spPr>
        <p:txBody>
          <a:bodyPr wrap="square" lIns="0" tIns="0" rIns="0" bIns="0" rtlCol="0" anchor="ctr"/>
          <a:lstStyle/>
          <a:p>
            <a:pPr algn="ctr" indent="0" marL="0">
              <a:buNone/>
            </a:pPr>
            <a:r>
              <a:rPr lang="en-US" sz="800" b="1" dirty="0">
                <a:solidFill>
                  <a:srgbClr val="FFFFFF"/>
                </a:solidFill>
              </a:rPr>
              <a:t>7.4 HIGH</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4A6FA5"/>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77724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3: SAST Assessment with Bandit</a:t>
            </a:r>
            <a:endParaRPr lang="en-US" sz="2400" dirty="0"/>
          </a:p>
        </p:txBody>
      </p:sp>
      <p:sp>
        <p:nvSpPr>
          <p:cNvPr id="5" name="Shape 2"/>
          <p:cNvSpPr/>
          <p:nvPr/>
        </p:nvSpPr>
        <p:spPr>
          <a:xfrm>
            <a:off x="274320" y="1005840"/>
            <a:ext cx="3931920" cy="3749040"/>
          </a:xfrm>
          <a:prstGeom prst="rect">
            <a:avLst/>
          </a:prstGeom>
          <a:solidFill>
            <a:srgbClr val="1A1A2E"/>
          </a:solidFill>
          <a:ln/>
          <a:effectLst>
            <a:outerShdw sx="100000" sy="100000" kx="0" ky="0" algn="bl" rotWithShape="0" blurRad="101600" dist="38100" dir="8100000">
              <a:srgbClr val="000000">
                <a:alpha val="10000"/>
              </a:srgbClr>
            </a:outerShdw>
          </a:effectLst>
        </p:spPr>
      </p:sp>
      <p:sp>
        <p:nvSpPr>
          <p:cNvPr id="6" name="Shape 3"/>
          <p:cNvSpPr/>
          <p:nvPr/>
        </p:nvSpPr>
        <p:spPr>
          <a:xfrm>
            <a:off x="274320" y="1005840"/>
            <a:ext cx="3931920" cy="347472"/>
          </a:xfrm>
          <a:prstGeom prst="rect">
            <a:avLst/>
          </a:prstGeom>
          <a:solidFill>
            <a:srgbClr val="16213E"/>
          </a:solidFill>
          <a:ln/>
        </p:spPr>
      </p:sp>
      <p:sp>
        <p:nvSpPr>
          <p:cNvPr id="7" name="Text 4"/>
          <p:cNvSpPr/>
          <p:nvPr/>
        </p:nvSpPr>
        <p:spPr>
          <a:xfrm>
            <a:off x="411480" y="1069848"/>
            <a:ext cx="3657600" cy="219456"/>
          </a:xfrm>
          <a:prstGeom prst="rect">
            <a:avLst/>
          </a:prstGeom>
          <a:noFill/>
          <a:ln/>
        </p:spPr>
        <p:txBody>
          <a:bodyPr wrap="square" lIns="0" tIns="0" rIns="0" bIns="0" rtlCol="0" anchor="ctr"/>
          <a:lstStyle/>
          <a:p>
            <a:pPr indent="0" marL="0">
              <a:buNone/>
            </a:pPr>
            <a:r>
              <a:rPr lang="en-US" sz="900" dirty="0">
                <a:solidFill>
                  <a:srgbClr val="00FF88"/>
                </a:solidFill>
                <a:latin typeface="Consolas" pitchFamily="34" charset="0"/>
                <a:ea typeface="Consolas" pitchFamily="34" charset="-122"/>
                <a:cs typeface="Consolas" pitchFamily="34" charset="-120"/>
              </a:rPr>
              <a:t>$ bandit -r app.py -f txt</a:t>
            </a:r>
            <a:endParaRPr lang="en-US" sz="900" dirty="0"/>
          </a:p>
        </p:txBody>
      </p:sp>
      <p:sp>
        <p:nvSpPr>
          <p:cNvPr id="8" name="Text 5"/>
          <p:cNvSpPr/>
          <p:nvPr/>
        </p:nvSpPr>
        <p:spPr>
          <a:xfrm>
            <a:off x="411480" y="1444752"/>
            <a:ext cx="3657600" cy="173736"/>
          </a:xfrm>
          <a:prstGeom prst="rect">
            <a:avLst/>
          </a:prstGeom>
          <a:noFill/>
          <a:ln/>
        </p:spPr>
        <p:txBody>
          <a:bodyPr wrap="square" lIns="0" tIns="0" rIns="0" bIns="0" rtlCol="0" anchor="ctr"/>
          <a:lstStyle/>
          <a:p>
            <a:pPr indent="0" marL="0">
              <a:buNone/>
            </a:pPr>
            <a:r>
              <a:rPr lang="en-US" sz="800" dirty="0">
                <a:solidFill>
                  <a:srgbClr val="FF5252"/>
                </a:solidFill>
                <a:latin typeface="Consolas" pitchFamily="34" charset="0"/>
                <a:ea typeface="Consolas" pitchFamily="34" charset="-122"/>
                <a:cs typeface="Consolas" pitchFamily="34" charset="-120"/>
              </a:rPr>
              <a:t>&gt;&gt; Issue: [B608] SQL injection possible.</a:t>
            </a:r>
            <a:endParaRPr lang="en-US" sz="800" dirty="0"/>
          </a:p>
        </p:txBody>
      </p:sp>
      <p:sp>
        <p:nvSpPr>
          <p:cNvPr id="9" name="Text 6"/>
          <p:cNvSpPr/>
          <p:nvPr/>
        </p:nvSpPr>
        <p:spPr>
          <a:xfrm>
            <a:off x="411480" y="1627632"/>
            <a:ext cx="3657600" cy="173736"/>
          </a:xfrm>
          <a:prstGeom prst="rect">
            <a:avLst/>
          </a:prstGeom>
          <a:noFill/>
          <a:ln/>
        </p:spPr>
        <p:txBody>
          <a:bodyPr wrap="square" lIns="0" tIns="0" rIns="0" bIns="0" rtlCol="0" anchor="ctr"/>
          <a:lstStyle/>
          <a:p>
            <a:pPr indent="0" marL="0">
              <a:buNone/>
            </a:pPr>
            <a:r>
              <a:rPr lang="en-US" sz="800" dirty="0">
                <a:solidFill>
                  <a:srgbClr val="FF8A80"/>
                </a:solidFill>
                <a:latin typeface="Consolas" pitchFamily="34" charset="0"/>
                <a:ea typeface="Consolas" pitchFamily="34" charset="-122"/>
                <a:cs typeface="Consolas" pitchFamily="34" charset="-120"/>
              </a:rPr>
              <a:t>   Severity: HIGH   Confidence: MEDIUM</a:t>
            </a:r>
            <a:endParaRPr lang="en-US" sz="800" dirty="0"/>
          </a:p>
        </p:txBody>
      </p:sp>
      <p:sp>
        <p:nvSpPr>
          <p:cNvPr id="10" name="Text 7"/>
          <p:cNvSpPr/>
          <p:nvPr/>
        </p:nvSpPr>
        <p:spPr>
          <a:xfrm>
            <a:off x="411480" y="1810512"/>
            <a:ext cx="3657600" cy="173736"/>
          </a:xfrm>
          <a:prstGeom prst="rect">
            <a:avLst/>
          </a:prstGeom>
          <a:noFill/>
          <a:ln/>
        </p:spPr>
        <p:txBody>
          <a:bodyPr wrap="square" lIns="0" tIns="0" rIns="0" bIns="0" rtlCol="0" anchor="ctr"/>
          <a:lstStyle/>
          <a:p>
            <a:pPr indent="0" marL="0">
              <a:buNone/>
            </a:pPr>
            <a:r>
              <a:rPr lang="en-US" sz="800" dirty="0">
                <a:solidFill>
                  <a:srgbClr val="80CBC4"/>
                </a:solidFill>
                <a:latin typeface="Consolas" pitchFamily="34" charset="0"/>
                <a:ea typeface="Consolas" pitchFamily="34" charset="-122"/>
                <a:cs typeface="Consolas" pitchFamily="34" charset="-120"/>
              </a:rPr>
              <a:t>   Location: app.py:47</a:t>
            </a:r>
            <a:endParaRPr lang="en-US" sz="800" dirty="0"/>
          </a:p>
        </p:txBody>
      </p:sp>
      <p:sp>
        <p:nvSpPr>
          <p:cNvPr id="11" name="Text 8"/>
          <p:cNvSpPr/>
          <p:nvPr/>
        </p:nvSpPr>
        <p:spPr>
          <a:xfrm>
            <a:off x="411480" y="1993392"/>
            <a:ext cx="3657600" cy="17373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p:txBody>
      </p:sp>
      <p:sp>
        <p:nvSpPr>
          <p:cNvPr id="12" name="Text 9"/>
          <p:cNvSpPr/>
          <p:nvPr/>
        </p:nvSpPr>
        <p:spPr>
          <a:xfrm>
            <a:off x="411480" y="2176272"/>
            <a:ext cx="3657600" cy="173736"/>
          </a:xfrm>
          <a:prstGeom prst="rect">
            <a:avLst/>
          </a:prstGeom>
          <a:noFill/>
          <a:ln/>
        </p:spPr>
        <p:txBody>
          <a:bodyPr wrap="square" lIns="0" tIns="0" rIns="0" bIns="0" rtlCol="0" anchor="ctr"/>
          <a:lstStyle/>
          <a:p>
            <a:pPr indent="0" marL="0">
              <a:buNone/>
            </a:pPr>
            <a:r>
              <a:rPr lang="en-US" sz="800" dirty="0">
                <a:solidFill>
                  <a:srgbClr val="FF5252"/>
                </a:solidFill>
                <a:latin typeface="Consolas" pitchFamily="34" charset="0"/>
                <a:ea typeface="Consolas" pitchFamily="34" charset="-122"/>
                <a:cs typeface="Consolas" pitchFamily="34" charset="-120"/>
              </a:rPr>
              <a:t>&gt;&gt; Issue: [B602] subprocess popen w/ shell.</a:t>
            </a:r>
            <a:endParaRPr lang="en-US" sz="800" dirty="0"/>
          </a:p>
        </p:txBody>
      </p:sp>
      <p:sp>
        <p:nvSpPr>
          <p:cNvPr id="13" name="Text 10"/>
          <p:cNvSpPr/>
          <p:nvPr/>
        </p:nvSpPr>
        <p:spPr>
          <a:xfrm>
            <a:off x="411480" y="2359152"/>
            <a:ext cx="3657600" cy="173736"/>
          </a:xfrm>
          <a:prstGeom prst="rect">
            <a:avLst/>
          </a:prstGeom>
          <a:noFill/>
          <a:ln/>
        </p:spPr>
        <p:txBody>
          <a:bodyPr wrap="square" lIns="0" tIns="0" rIns="0" bIns="0" rtlCol="0" anchor="ctr"/>
          <a:lstStyle/>
          <a:p>
            <a:pPr indent="0" marL="0">
              <a:buNone/>
            </a:pPr>
            <a:r>
              <a:rPr lang="en-US" sz="800" dirty="0">
                <a:solidFill>
                  <a:srgbClr val="FF8A80"/>
                </a:solidFill>
                <a:latin typeface="Consolas" pitchFamily="34" charset="0"/>
                <a:ea typeface="Consolas" pitchFamily="34" charset="-122"/>
                <a:cs typeface="Consolas" pitchFamily="34" charset="-120"/>
              </a:rPr>
              <a:t>   Severity: HIGH   Confidence: HIGH</a:t>
            </a:r>
            <a:endParaRPr lang="en-US" sz="800" dirty="0"/>
          </a:p>
        </p:txBody>
      </p:sp>
      <p:sp>
        <p:nvSpPr>
          <p:cNvPr id="14" name="Text 11"/>
          <p:cNvSpPr/>
          <p:nvPr/>
        </p:nvSpPr>
        <p:spPr>
          <a:xfrm>
            <a:off x="411480" y="2542032"/>
            <a:ext cx="3657600" cy="17373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p:txBody>
      </p:sp>
      <p:sp>
        <p:nvSpPr>
          <p:cNvPr id="15" name="Text 12"/>
          <p:cNvSpPr/>
          <p:nvPr/>
        </p:nvSpPr>
        <p:spPr>
          <a:xfrm>
            <a:off x="411480" y="2724912"/>
            <a:ext cx="3657600" cy="173736"/>
          </a:xfrm>
          <a:prstGeom prst="rect">
            <a:avLst/>
          </a:prstGeom>
          <a:noFill/>
          <a:ln/>
        </p:spPr>
        <p:txBody>
          <a:bodyPr wrap="square" lIns="0" tIns="0" rIns="0" bIns="0" rtlCol="0" anchor="ctr"/>
          <a:lstStyle/>
          <a:p>
            <a:pPr indent="0" marL="0">
              <a:buNone/>
            </a:pPr>
            <a:r>
              <a:rPr lang="en-US" sz="800" dirty="0">
                <a:solidFill>
                  <a:srgbClr val="FFD740"/>
                </a:solidFill>
                <a:latin typeface="Consolas" pitchFamily="34" charset="0"/>
                <a:ea typeface="Consolas" pitchFamily="34" charset="-122"/>
                <a:cs typeface="Consolas" pitchFamily="34" charset="-120"/>
              </a:rPr>
              <a:t>&gt;&gt; Issue: [B106] Hardcoded password.</a:t>
            </a:r>
            <a:endParaRPr lang="en-US" sz="800" dirty="0"/>
          </a:p>
        </p:txBody>
      </p:sp>
      <p:sp>
        <p:nvSpPr>
          <p:cNvPr id="16" name="Text 13"/>
          <p:cNvSpPr/>
          <p:nvPr/>
        </p:nvSpPr>
        <p:spPr>
          <a:xfrm>
            <a:off x="411480" y="2907792"/>
            <a:ext cx="3657600" cy="173736"/>
          </a:xfrm>
          <a:prstGeom prst="rect">
            <a:avLst/>
          </a:prstGeom>
          <a:noFill/>
          <a:ln/>
        </p:spPr>
        <p:txBody>
          <a:bodyPr wrap="square" lIns="0" tIns="0" rIns="0" bIns="0" rtlCol="0" anchor="ctr"/>
          <a:lstStyle/>
          <a:p>
            <a:pPr indent="0" marL="0">
              <a:buNone/>
            </a:pPr>
            <a:r>
              <a:rPr lang="en-US" sz="800" dirty="0">
                <a:solidFill>
                  <a:srgbClr val="FFE57F"/>
                </a:solidFill>
                <a:latin typeface="Consolas" pitchFamily="34" charset="0"/>
                <a:ea typeface="Consolas" pitchFamily="34" charset="-122"/>
                <a:cs typeface="Consolas" pitchFamily="34" charset="-120"/>
              </a:rPr>
              <a:t>   Severity: MEDIUM  Confidence: MEDIUM</a:t>
            </a:r>
            <a:endParaRPr lang="en-US" sz="800" dirty="0"/>
          </a:p>
        </p:txBody>
      </p:sp>
      <p:sp>
        <p:nvSpPr>
          <p:cNvPr id="17" name="Text 14"/>
          <p:cNvSpPr/>
          <p:nvPr/>
        </p:nvSpPr>
        <p:spPr>
          <a:xfrm>
            <a:off x="411480" y="3090672"/>
            <a:ext cx="3657600" cy="173736"/>
          </a:xfrm>
          <a:prstGeom prst="rect">
            <a:avLst/>
          </a:prstGeom>
          <a:noFill/>
          <a:ln/>
        </p:spPr>
        <p:txBody>
          <a:bodyPr wrap="square" lIns="0" tIns="0" rIns="0" bIns="0" rtlCol="0" anchor="ctr"/>
          <a:lstStyle/>
          <a:p>
            <a:pPr indent="0" marL="0">
              <a:buNone/>
            </a:pPr>
            <a:r>
              <a:rPr lang="en-US" sz="800" dirty="0">
                <a:solidFill>
                  <a:srgbClr val="80CBC4"/>
                </a:solidFill>
                <a:latin typeface="Consolas" pitchFamily="34" charset="0"/>
                <a:ea typeface="Consolas" pitchFamily="34" charset="-122"/>
                <a:cs typeface="Consolas" pitchFamily="34" charset="-120"/>
              </a:rPr>
              <a:t>   Location: app.py:12</a:t>
            </a:r>
            <a:endParaRPr lang="en-US" sz="800" dirty="0"/>
          </a:p>
        </p:txBody>
      </p:sp>
      <p:sp>
        <p:nvSpPr>
          <p:cNvPr id="18" name="Text 15"/>
          <p:cNvSpPr/>
          <p:nvPr/>
        </p:nvSpPr>
        <p:spPr>
          <a:xfrm>
            <a:off x="411480" y="3273552"/>
            <a:ext cx="3657600" cy="173736"/>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p:txBody>
      </p:sp>
      <p:sp>
        <p:nvSpPr>
          <p:cNvPr id="19" name="Text 16"/>
          <p:cNvSpPr/>
          <p:nvPr/>
        </p:nvSpPr>
        <p:spPr>
          <a:xfrm>
            <a:off x="411480" y="3456432"/>
            <a:ext cx="3657600" cy="173736"/>
          </a:xfrm>
          <a:prstGeom prst="rect">
            <a:avLst/>
          </a:prstGeom>
          <a:noFill/>
          <a:ln/>
        </p:spPr>
        <p:txBody>
          <a:bodyPr wrap="square" lIns="0" tIns="0" rIns="0" bIns="0" rtlCol="0" anchor="ctr"/>
          <a:lstStyle/>
          <a:p>
            <a:pPr indent="0" marL="0">
              <a:buNone/>
            </a:pPr>
            <a:r>
              <a:rPr lang="en-US" sz="800" dirty="0">
                <a:solidFill>
                  <a:srgbClr val="64B5F6"/>
                </a:solidFill>
                <a:latin typeface="Consolas" pitchFamily="34" charset="0"/>
                <a:ea typeface="Consolas" pitchFamily="34" charset="-122"/>
                <a:cs typeface="Consolas" pitchFamily="34" charset="-120"/>
              </a:rPr>
              <a:t>Run metrics:</a:t>
            </a:r>
            <a:endParaRPr lang="en-US" sz="800" dirty="0"/>
          </a:p>
        </p:txBody>
      </p:sp>
      <p:sp>
        <p:nvSpPr>
          <p:cNvPr id="20" name="Text 17"/>
          <p:cNvSpPr/>
          <p:nvPr/>
        </p:nvSpPr>
        <p:spPr>
          <a:xfrm>
            <a:off x="411480" y="3639312"/>
            <a:ext cx="3657600" cy="173736"/>
          </a:xfrm>
          <a:prstGeom prst="rect">
            <a:avLst/>
          </a:prstGeom>
          <a:noFill/>
          <a:ln/>
        </p:spPr>
        <p:txBody>
          <a:bodyPr wrap="square" lIns="0" tIns="0" rIns="0" bIns="0" rtlCol="0" anchor="ctr"/>
          <a:lstStyle/>
          <a:p>
            <a:pPr indent="0" marL="0">
              <a:buNone/>
            </a:pPr>
            <a:r>
              <a:rPr lang="en-US" sz="800" dirty="0">
                <a:solidFill>
                  <a:srgbClr val="90CAF9"/>
                </a:solidFill>
                <a:latin typeface="Consolas" pitchFamily="34" charset="0"/>
                <a:ea typeface="Consolas" pitchFamily="34" charset="-122"/>
                <a:cs typeface="Consolas" pitchFamily="34" charset="-120"/>
              </a:rPr>
              <a:t>  Total issues (by severity):</a:t>
            </a:r>
            <a:endParaRPr lang="en-US" sz="800" dirty="0"/>
          </a:p>
        </p:txBody>
      </p:sp>
      <p:sp>
        <p:nvSpPr>
          <p:cNvPr id="21" name="Text 18"/>
          <p:cNvSpPr/>
          <p:nvPr/>
        </p:nvSpPr>
        <p:spPr>
          <a:xfrm>
            <a:off x="411480" y="3822192"/>
            <a:ext cx="3657600" cy="173736"/>
          </a:xfrm>
          <a:prstGeom prst="rect">
            <a:avLst/>
          </a:prstGeom>
          <a:noFill/>
          <a:ln/>
        </p:spPr>
        <p:txBody>
          <a:bodyPr wrap="square" lIns="0" tIns="0" rIns="0" bIns="0" rtlCol="0" anchor="ctr"/>
          <a:lstStyle/>
          <a:p>
            <a:pPr indent="0" marL="0">
              <a:buNone/>
            </a:pPr>
            <a:r>
              <a:rPr lang="en-US" sz="800" dirty="0">
                <a:solidFill>
                  <a:srgbClr val="FF5252"/>
                </a:solidFill>
                <a:latin typeface="Consolas" pitchFamily="34" charset="0"/>
                <a:ea typeface="Consolas" pitchFamily="34" charset="-122"/>
                <a:cs typeface="Consolas" pitchFamily="34" charset="-120"/>
              </a:rPr>
              <a:t>    HIGH:     5</a:t>
            </a:r>
            <a:endParaRPr lang="en-US" sz="800" dirty="0"/>
          </a:p>
        </p:txBody>
      </p:sp>
      <p:sp>
        <p:nvSpPr>
          <p:cNvPr id="22" name="Text 19"/>
          <p:cNvSpPr/>
          <p:nvPr/>
        </p:nvSpPr>
        <p:spPr>
          <a:xfrm>
            <a:off x="411480" y="4005072"/>
            <a:ext cx="3657600" cy="173736"/>
          </a:xfrm>
          <a:prstGeom prst="rect">
            <a:avLst/>
          </a:prstGeom>
          <a:noFill/>
          <a:ln/>
        </p:spPr>
        <p:txBody>
          <a:bodyPr wrap="square" lIns="0" tIns="0" rIns="0" bIns="0" rtlCol="0" anchor="ctr"/>
          <a:lstStyle/>
          <a:p>
            <a:pPr indent="0" marL="0">
              <a:buNone/>
            </a:pPr>
            <a:r>
              <a:rPr lang="en-US" sz="800" dirty="0">
                <a:solidFill>
                  <a:srgbClr val="FFD740"/>
                </a:solidFill>
                <a:latin typeface="Consolas" pitchFamily="34" charset="0"/>
                <a:ea typeface="Consolas" pitchFamily="34" charset="-122"/>
                <a:cs typeface="Consolas" pitchFamily="34" charset="-120"/>
              </a:rPr>
              <a:t>    MEDIUM:   3</a:t>
            </a:r>
            <a:endParaRPr lang="en-US" sz="800" dirty="0"/>
          </a:p>
        </p:txBody>
      </p:sp>
      <p:sp>
        <p:nvSpPr>
          <p:cNvPr id="23" name="Text 20"/>
          <p:cNvSpPr/>
          <p:nvPr/>
        </p:nvSpPr>
        <p:spPr>
          <a:xfrm>
            <a:off x="411480" y="4187952"/>
            <a:ext cx="3657600" cy="173736"/>
          </a:xfrm>
          <a:prstGeom prst="rect">
            <a:avLst/>
          </a:prstGeom>
          <a:noFill/>
          <a:ln/>
        </p:spPr>
        <p:txBody>
          <a:bodyPr wrap="square" lIns="0" tIns="0" rIns="0" bIns="0" rtlCol="0" anchor="ctr"/>
          <a:lstStyle/>
          <a:p>
            <a:pPr indent="0" marL="0">
              <a:buNone/>
            </a:pPr>
            <a:r>
              <a:rPr lang="en-US" sz="800" dirty="0">
                <a:solidFill>
                  <a:srgbClr val="69F0AE"/>
                </a:solidFill>
                <a:latin typeface="Consolas" pitchFamily="34" charset="0"/>
                <a:ea typeface="Consolas" pitchFamily="34" charset="-122"/>
                <a:cs typeface="Consolas" pitchFamily="34" charset="-120"/>
              </a:rPr>
              <a:t>    LOW:      2</a:t>
            </a:r>
            <a:endParaRPr lang="en-US" sz="800" dirty="0"/>
          </a:p>
        </p:txBody>
      </p:sp>
      <p:sp>
        <p:nvSpPr>
          <p:cNvPr id="24" name="Text 21"/>
          <p:cNvSpPr/>
          <p:nvPr/>
        </p:nvSpPr>
        <p:spPr>
          <a:xfrm>
            <a:off x="411480" y="4370832"/>
            <a:ext cx="3657600" cy="173736"/>
          </a:xfrm>
          <a:prstGeom prst="rect">
            <a:avLst/>
          </a:prstGeom>
          <a:noFill/>
          <a:ln/>
        </p:spPr>
        <p:txBody>
          <a:bodyPr wrap="square" lIns="0" tIns="0" rIns="0" bIns="0" rtlCol="0" anchor="ctr"/>
          <a:lstStyle/>
          <a:p>
            <a:pPr indent="0" marL="0">
              <a:buNone/>
            </a:pPr>
            <a:r>
              <a:rPr lang="en-US" sz="800" dirty="0">
                <a:solidFill>
                  <a:srgbClr val="AAAAAA"/>
                </a:solidFill>
                <a:latin typeface="Consolas" pitchFamily="34" charset="0"/>
                <a:ea typeface="Consolas" pitchFamily="34" charset="-122"/>
                <a:cs typeface="Consolas" pitchFamily="34" charset="-120"/>
              </a:rPr>
              <a:t>  Total lines scanned: 187</a:t>
            </a:r>
            <a:endParaRPr lang="en-US" sz="800" dirty="0"/>
          </a:p>
        </p:txBody>
      </p:sp>
      <p:sp>
        <p:nvSpPr>
          <p:cNvPr id="25" name="Shape 22"/>
          <p:cNvSpPr/>
          <p:nvPr/>
        </p:nvSpPr>
        <p:spPr>
          <a:xfrm>
            <a:off x="4480560" y="1005840"/>
            <a:ext cx="4389120" cy="37490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6" name="Shape 23"/>
          <p:cNvSpPr/>
          <p:nvPr/>
        </p:nvSpPr>
        <p:spPr>
          <a:xfrm>
            <a:off x="4480560" y="1005840"/>
            <a:ext cx="4389120" cy="347472"/>
          </a:xfrm>
          <a:prstGeom prst="rect">
            <a:avLst/>
          </a:prstGeom>
          <a:solidFill>
            <a:srgbClr val="1B3A5C"/>
          </a:solidFill>
          <a:ln/>
        </p:spPr>
      </p:sp>
      <p:sp>
        <p:nvSpPr>
          <p:cNvPr id="27" name="Text 24"/>
          <p:cNvSpPr/>
          <p:nvPr/>
        </p:nvSpPr>
        <p:spPr>
          <a:xfrm>
            <a:off x="4480560" y="1005840"/>
            <a:ext cx="4389120" cy="347472"/>
          </a:xfrm>
          <a:prstGeom prst="rect">
            <a:avLst/>
          </a:prstGeom>
          <a:noFill/>
          <a:ln/>
        </p:spPr>
        <p:txBody>
          <a:bodyPr wrap="square" lIns="0" tIns="0" rIns="0" bIns="0" rtlCol="0" anchor="ctr"/>
          <a:lstStyle/>
          <a:p>
            <a:pPr algn="ctr" indent="0" marL="0">
              <a:buNone/>
            </a:pPr>
            <a:r>
              <a:rPr lang="en-US" sz="1200" b="1" dirty="0">
                <a:solidFill>
                  <a:srgbClr val="FFFFFF"/>
                </a:solidFill>
              </a:rPr>
              <a:t>CVSS Score Mapping</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0" y="1417320"/>
          <a:ext cx="4206240" cy="3200400"/>
        </p:xfrm>
        <a:graphic>
          <a:graphicData uri="http://schemas.openxmlformats.org/drawingml/2006/table">
            <a:tbl>
              <a:tblPr/>
              <a:tblGrid>
                <a:gridCol w="2194560"/>
                <a:gridCol w="822960"/>
                <a:gridCol w="1188720"/>
              </a:tblGrid>
              <a:tr h="40005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Vulnerability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282"/>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CVSS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282"/>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Severity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282"/>
                    </a:solidFill>
                  </a:tcPr>
                </a:tc>
              </a:tr>
              <a:tr h="40005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SQL Injection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9.8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8B0000"/>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8B0000"/>
                    </a:solidFill>
                  </a:tcPr>
                </a:tc>
              </a:tr>
              <a:tr h="40005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Unrestricted Upload</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8.1</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r>
              <a:tr h="40005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No Privilege Checks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8.8</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r>
              <a:tr h="40005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Plaintext Passwords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7.5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r>
              <a:tr h="40005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Sensitive Data Exposure</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7.4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0392B"/>
                    </a:solidFill>
                  </a:tcPr>
                </a:tc>
              </a:tr>
              <a:tr h="40005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No Rate Limiting</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5C3900"/>
                          </a:solidFill>
                          <a:latin typeface="Calibri" pitchFamily="34" charset="0"/>
                          <a:ea typeface="Calibri" pitchFamily="34" charset="-122"/>
                          <a:cs typeface="Calibri" pitchFamily="34" charset="-120"/>
                        </a:rPr>
                        <a:t>6.5</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D080"/>
                    </a:solidFill>
                  </a:tcPr>
                </a:tc>
                <a:tc>
                  <a:txBody>
                    <a:bodyPr/>
                    <a:lstStyle/>
                    <a:p>
                      <a:pPr algn="ctr" indent="0" marL="0">
                        <a:buNone/>
                      </a:pPr>
                      <a:r>
                        <a:rPr lang="en-US" sz="800" b="1" dirty="0">
                          <a:solidFill>
                            <a:srgbClr val="5C3900"/>
                          </a:solidFill>
                          <a:latin typeface="Calibri" pitchFamily="34" charset="0"/>
                          <a:ea typeface="Calibri" pitchFamily="34" charset="-122"/>
                          <a:cs typeface="Calibri" pitchFamily="34" charset="-120"/>
                        </a:rPr>
                        <a:t>MEDIUM</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D080"/>
                    </a:solidFill>
                  </a:tcPr>
                </a:tc>
              </a:tr>
              <a:tr h="40005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Missing Logging</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900" b="1" dirty="0">
                          <a:solidFill>
                            <a:srgbClr val="5C3900"/>
                          </a:solidFill>
                          <a:latin typeface="Calibri" pitchFamily="34" charset="0"/>
                          <a:ea typeface="Calibri" pitchFamily="34" charset="-122"/>
                          <a:cs typeface="Calibri" pitchFamily="34" charset="-120"/>
                        </a:rPr>
                        <a:t>5.3</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E0A0"/>
                    </a:solidFill>
                  </a:tcPr>
                </a:tc>
                <a:tc>
                  <a:txBody>
                    <a:bodyPr/>
                    <a:lstStyle/>
                    <a:p>
                      <a:pPr algn="ctr" indent="0" marL="0">
                        <a:buNone/>
                      </a:pPr>
                      <a:r>
                        <a:rPr lang="en-US" sz="800" b="1" dirty="0">
                          <a:solidFill>
                            <a:srgbClr val="5C3900"/>
                          </a:solidFill>
                          <a:latin typeface="Calibri" pitchFamily="34" charset="0"/>
                          <a:ea typeface="Calibri" pitchFamily="34" charset="-122"/>
                          <a:cs typeface="Calibri" pitchFamily="34" charset="-120"/>
                        </a:rPr>
                        <a:t>MEDIUM</a:t>
                      </a:r>
                      <a:endParaRPr lang="en-US" sz="8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E0A0"/>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1F23"/>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68580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4: DevSecOps CI/CD Pipeline</a:t>
            </a:r>
            <a:endParaRPr lang="en-US" sz="2400" dirty="0"/>
          </a:p>
        </p:txBody>
      </p:sp>
      <p:sp>
        <p:nvSpPr>
          <p:cNvPr id="5" name="Text 2"/>
          <p:cNvSpPr/>
          <p:nvPr/>
        </p:nvSpPr>
        <p:spPr>
          <a:xfrm>
            <a:off x="914400" y="530352"/>
            <a:ext cx="6858000" cy="320040"/>
          </a:xfrm>
          <a:prstGeom prst="rect">
            <a:avLst/>
          </a:prstGeom>
          <a:noFill/>
          <a:ln/>
        </p:spPr>
        <p:txBody>
          <a:bodyPr wrap="square" lIns="0" tIns="0" rIns="0" bIns="0" rtlCol="0" anchor="ctr"/>
          <a:lstStyle/>
          <a:p>
            <a:pPr indent="0" marL="0">
              <a:buNone/>
            </a:pPr>
            <a:r>
              <a:rPr lang="en-US" sz="1100" dirty="0">
                <a:solidFill>
                  <a:srgbClr val="A0C4FF"/>
                </a:solidFill>
                <a:latin typeface="Calibri" pitchFamily="34" charset="0"/>
                <a:ea typeface="Calibri" pitchFamily="34" charset="-122"/>
                <a:cs typeface="Calibri" pitchFamily="34" charset="-120"/>
              </a:rPr>
              <a:t>Automated Security Scanning via GitHub Actions</a:t>
            </a:r>
            <a:endParaRPr lang="en-US" sz="1100" dirty="0"/>
          </a:p>
        </p:txBody>
      </p:sp>
      <p:sp>
        <p:nvSpPr>
          <p:cNvPr id="6" name="Shape 3"/>
          <p:cNvSpPr/>
          <p:nvPr/>
        </p:nvSpPr>
        <p:spPr>
          <a:xfrm>
            <a:off x="228600" y="1051560"/>
            <a:ext cx="1417320" cy="1005840"/>
          </a:xfrm>
          <a:prstGeom prst="rect">
            <a:avLst/>
          </a:prstGeom>
          <a:solidFill>
            <a:srgbClr val="E8F1FA"/>
          </a:solidFill>
          <a:ln/>
          <a:effectLst>
            <a:outerShdw sx="100000" sy="100000" kx="0" ky="0" algn="bl" rotWithShape="0" blurRad="63500" dist="25400" dir="8100000">
              <a:srgbClr val="000000">
                <a:alpha val="8000"/>
              </a:srgbClr>
            </a:outerShdw>
          </a:effectLst>
        </p:spPr>
      </p:sp>
      <p:pic>
        <p:nvPicPr>
          <p:cNvPr id="7" name="Image 1" descr="preencoded.png">    </p:cNvPr>
          <p:cNvPicPr>
            <a:picLocks noChangeAspect="1"/>
          </p:cNvPicPr>
          <p:nvPr/>
        </p:nvPicPr>
        <p:blipFill>
          <a:blip r:embed="rId2"/>
          <a:stretch>
            <a:fillRect/>
          </a:stretch>
        </p:blipFill>
        <p:spPr>
          <a:xfrm>
            <a:off x="704088" y="1143000"/>
            <a:ext cx="457200" cy="457200"/>
          </a:xfrm>
          <a:prstGeom prst="rect">
            <a:avLst/>
          </a:prstGeom>
        </p:spPr>
      </p:pic>
      <p:sp>
        <p:nvSpPr>
          <p:cNvPr id="8" name="Text 4"/>
          <p:cNvSpPr/>
          <p:nvPr/>
        </p:nvSpPr>
        <p:spPr>
          <a:xfrm>
            <a:off x="228600" y="1645920"/>
            <a:ext cx="1417320" cy="384048"/>
          </a:xfrm>
          <a:prstGeom prst="rect">
            <a:avLst/>
          </a:prstGeom>
          <a:noFill/>
          <a:ln/>
        </p:spPr>
        <p:txBody>
          <a:bodyPr wrap="square" lIns="0" tIns="0" rIns="0" bIns="0" rtlCol="0" anchor="ctr"/>
          <a:lstStyle/>
          <a:p>
            <a:pPr algn="ctr" indent="0" marL="0">
              <a:buNone/>
            </a:pPr>
            <a:r>
              <a:rPr lang="en-US" sz="900" b="1" dirty="0">
                <a:solidFill>
                  <a:srgbClr val="1B3A5C"/>
                </a:solidFill>
                <a:latin typeface="Calibri" pitchFamily="34" charset="0"/>
                <a:ea typeface="Calibri" pitchFamily="34" charset="-122"/>
                <a:cs typeface="Calibri" pitchFamily="34" charset="-120"/>
              </a:rPr>
              <a:t>Code</a:t>
            </a:r>
            <a:endParaRPr lang="en-US" sz="900" dirty="0"/>
          </a:p>
          <a:p>
            <a:pPr algn="ctr" indent="0" marL="0">
              <a:buNone/>
            </a:pPr>
            <a:r>
              <a:rPr lang="en-US" sz="900" b="1" dirty="0">
                <a:solidFill>
                  <a:srgbClr val="1B3A5C"/>
                </a:solidFill>
                <a:latin typeface="Calibri" pitchFamily="34" charset="0"/>
                <a:ea typeface="Calibri" pitchFamily="34" charset="-122"/>
                <a:cs typeface="Calibri" pitchFamily="34" charset="-120"/>
              </a:rPr>
              <a:t>Commit</a:t>
            </a:r>
            <a:endParaRPr lang="en-US" sz="900" dirty="0"/>
          </a:p>
        </p:txBody>
      </p:sp>
      <p:sp>
        <p:nvSpPr>
          <p:cNvPr id="9" name="Shape 5"/>
          <p:cNvSpPr/>
          <p:nvPr/>
        </p:nvSpPr>
        <p:spPr>
          <a:xfrm>
            <a:off x="1691640" y="1517904"/>
            <a:ext cx="274320" cy="73152"/>
          </a:xfrm>
          <a:prstGeom prst="rect">
            <a:avLst/>
          </a:prstGeom>
          <a:solidFill>
            <a:srgbClr val="718096"/>
          </a:solidFill>
          <a:ln/>
        </p:spPr>
      </p:sp>
      <p:sp>
        <p:nvSpPr>
          <p:cNvPr id="10" name="Text 6"/>
          <p:cNvSpPr/>
          <p:nvPr/>
        </p:nvSpPr>
        <p:spPr>
          <a:xfrm>
            <a:off x="1691640" y="1444752"/>
            <a:ext cx="274320" cy="219456"/>
          </a:xfrm>
          <a:prstGeom prst="rect">
            <a:avLst/>
          </a:prstGeom>
          <a:noFill/>
          <a:ln/>
        </p:spPr>
        <p:txBody>
          <a:bodyPr wrap="square" lIns="0" tIns="0" rIns="0" bIns="0" rtlCol="0" anchor="ctr"/>
          <a:lstStyle/>
          <a:p>
            <a:pPr algn="ctr" indent="0" marL="0">
              <a:buNone/>
            </a:pPr>
            <a:r>
              <a:rPr lang="en-US" sz="1000" dirty="0">
                <a:solidFill>
                  <a:srgbClr val="8898AA"/>
                </a:solidFill>
              </a:rPr>
              <a:t>▶</a:t>
            </a:r>
            <a:endParaRPr lang="en-US" sz="1000" dirty="0"/>
          </a:p>
        </p:txBody>
      </p:sp>
      <p:sp>
        <p:nvSpPr>
          <p:cNvPr id="11" name="Shape 7"/>
          <p:cNvSpPr/>
          <p:nvPr/>
        </p:nvSpPr>
        <p:spPr>
          <a:xfrm>
            <a:off x="1965960" y="1051560"/>
            <a:ext cx="1417320" cy="1005840"/>
          </a:xfrm>
          <a:prstGeom prst="rect">
            <a:avLst/>
          </a:prstGeom>
          <a:solidFill>
            <a:srgbClr val="1B1F23"/>
          </a:solidFill>
          <a:ln/>
          <a:effectLst>
            <a:outerShdw sx="100000" sy="100000" kx="0" ky="0" algn="bl" rotWithShape="0" blurRad="63500" dist="25400" dir="8100000">
              <a:srgbClr val="000000">
                <a:alpha val="8000"/>
              </a:srgbClr>
            </a:outerShdw>
          </a:effectLst>
        </p:spPr>
      </p:sp>
      <p:pic>
        <p:nvPicPr>
          <p:cNvPr id="12" name="Image 2" descr="preencoded.png">    </p:cNvPr>
          <p:cNvPicPr>
            <a:picLocks noChangeAspect="1"/>
          </p:cNvPicPr>
          <p:nvPr/>
        </p:nvPicPr>
        <p:blipFill>
          <a:blip r:embed="rId3"/>
          <a:stretch>
            <a:fillRect/>
          </a:stretch>
        </p:blipFill>
        <p:spPr>
          <a:xfrm>
            <a:off x="2441448" y="1143000"/>
            <a:ext cx="457200" cy="457200"/>
          </a:xfrm>
          <a:prstGeom prst="rect">
            <a:avLst/>
          </a:prstGeom>
        </p:spPr>
      </p:pic>
      <p:sp>
        <p:nvSpPr>
          <p:cNvPr id="13" name="Text 8"/>
          <p:cNvSpPr/>
          <p:nvPr/>
        </p:nvSpPr>
        <p:spPr>
          <a:xfrm>
            <a:off x="1965960" y="1645920"/>
            <a:ext cx="1417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GitHub</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Actions Trigger</a:t>
            </a:r>
            <a:endParaRPr lang="en-US" sz="900" dirty="0"/>
          </a:p>
        </p:txBody>
      </p:sp>
      <p:sp>
        <p:nvSpPr>
          <p:cNvPr id="14" name="Shape 9"/>
          <p:cNvSpPr/>
          <p:nvPr/>
        </p:nvSpPr>
        <p:spPr>
          <a:xfrm>
            <a:off x="3429000" y="1517904"/>
            <a:ext cx="274320" cy="73152"/>
          </a:xfrm>
          <a:prstGeom prst="rect">
            <a:avLst/>
          </a:prstGeom>
          <a:solidFill>
            <a:srgbClr val="718096"/>
          </a:solidFill>
          <a:ln/>
        </p:spPr>
      </p:sp>
      <p:sp>
        <p:nvSpPr>
          <p:cNvPr id="15" name="Text 10"/>
          <p:cNvSpPr/>
          <p:nvPr/>
        </p:nvSpPr>
        <p:spPr>
          <a:xfrm>
            <a:off x="3429000" y="1444752"/>
            <a:ext cx="274320" cy="219456"/>
          </a:xfrm>
          <a:prstGeom prst="rect">
            <a:avLst/>
          </a:prstGeom>
          <a:noFill/>
          <a:ln/>
        </p:spPr>
        <p:txBody>
          <a:bodyPr wrap="square" lIns="0" tIns="0" rIns="0" bIns="0" rtlCol="0" anchor="ctr"/>
          <a:lstStyle/>
          <a:p>
            <a:pPr algn="ctr" indent="0" marL="0">
              <a:buNone/>
            </a:pPr>
            <a:r>
              <a:rPr lang="en-US" sz="1000" dirty="0">
                <a:solidFill>
                  <a:srgbClr val="8898AA"/>
                </a:solidFill>
              </a:rPr>
              <a:t>▶</a:t>
            </a:r>
            <a:endParaRPr lang="en-US" sz="1000" dirty="0"/>
          </a:p>
        </p:txBody>
      </p:sp>
      <p:sp>
        <p:nvSpPr>
          <p:cNvPr id="16" name="Shape 11"/>
          <p:cNvSpPr/>
          <p:nvPr/>
        </p:nvSpPr>
        <p:spPr>
          <a:xfrm>
            <a:off x="3703320" y="1051560"/>
            <a:ext cx="1417320" cy="1005840"/>
          </a:xfrm>
          <a:prstGeom prst="rect">
            <a:avLst/>
          </a:prstGeom>
          <a:solidFill>
            <a:srgbClr val="C0392B"/>
          </a:solidFill>
          <a:ln/>
          <a:effectLst>
            <a:outerShdw sx="100000" sy="100000" kx="0" ky="0" algn="bl" rotWithShape="0" blurRad="63500" dist="25400" dir="8100000">
              <a:srgbClr val="000000">
                <a:alpha val="8000"/>
              </a:srgbClr>
            </a:outerShdw>
          </a:effectLst>
        </p:spPr>
      </p:sp>
      <p:pic>
        <p:nvPicPr>
          <p:cNvPr id="17" name="Image 3" descr="preencoded.png">    </p:cNvPr>
          <p:cNvPicPr>
            <a:picLocks noChangeAspect="1"/>
          </p:cNvPicPr>
          <p:nvPr/>
        </p:nvPicPr>
        <p:blipFill>
          <a:blip r:embed="rId4"/>
          <a:stretch>
            <a:fillRect/>
          </a:stretch>
        </p:blipFill>
        <p:spPr>
          <a:xfrm>
            <a:off x="4178808" y="1143000"/>
            <a:ext cx="457200" cy="457200"/>
          </a:xfrm>
          <a:prstGeom prst="rect">
            <a:avLst/>
          </a:prstGeom>
        </p:spPr>
      </p:pic>
      <p:sp>
        <p:nvSpPr>
          <p:cNvPr id="18" name="Text 12"/>
          <p:cNvSpPr/>
          <p:nvPr/>
        </p:nvSpPr>
        <p:spPr>
          <a:xfrm>
            <a:off x="3703320" y="1645920"/>
            <a:ext cx="1417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Bandit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SAST Scan</a:t>
            </a:r>
            <a:endParaRPr lang="en-US" sz="900" dirty="0"/>
          </a:p>
        </p:txBody>
      </p:sp>
      <p:sp>
        <p:nvSpPr>
          <p:cNvPr id="19" name="Shape 13"/>
          <p:cNvSpPr/>
          <p:nvPr/>
        </p:nvSpPr>
        <p:spPr>
          <a:xfrm>
            <a:off x="5166360" y="1517904"/>
            <a:ext cx="274320" cy="73152"/>
          </a:xfrm>
          <a:prstGeom prst="rect">
            <a:avLst/>
          </a:prstGeom>
          <a:solidFill>
            <a:srgbClr val="718096"/>
          </a:solidFill>
          <a:ln/>
        </p:spPr>
      </p:sp>
      <p:sp>
        <p:nvSpPr>
          <p:cNvPr id="20" name="Text 14"/>
          <p:cNvSpPr/>
          <p:nvPr/>
        </p:nvSpPr>
        <p:spPr>
          <a:xfrm>
            <a:off x="5166360" y="1444752"/>
            <a:ext cx="274320" cy="219456"/>
          </a:xfrm>
          <a:prstGeom prst="rect">
            <a:avLst/>
          </a:prstGeom>
          <a:noFill/>
          <a:ln/>
        </p:spPr>
        <p:txBody>
          <a:bodyPr wrap="square" lIns="0" tIns="0" rIns="0" bIns="0" rtlCol="0" anchor="ctr"/>
          <a:lstStyle/>
          <a:p>
            <a:pPr algn="ctr" indent="0" marL="0">
              <a:buNone/>
            </a:pPr>
            <a:r>
              <a:rPr lang="en-US" sz="1000" dirty="0">
                <a:solidFill>
                  <a:srgbClr val="8898AA"/>
                </a:solidFill>
              </a:rPr>
              <a:t>▶</a:t>
            </a:r>
            <a:endParaRPr lang="en-US" sz="1000" dirty="0"/>
          </a:p>
        </p:txBody>
      </p:sp>
      <p:sp>
        <p:nvSpPr>
          <p:cNvPr id="21" name="Shape 15"/>
          <p:cNvSpPr/>
          <p:nvPr/>
        </p:nvSpPr>
        <p:spPr>
          <a:xfrm>
            <a:off x="5440680" y="1051560"/>
            <a:ext cx="1417320" cy="1005840"/>
          </a:xfrm>
          <a:prstGeom prst="rect">
            <a:avLst/>
          </a:prstGeom>
          <a:solidFill>
            <a:srgbClr val="4A6FA5"/>
          </a:solidFill>
          <a:ln/>
          <a:effectLst>
            <a:outerShdw sx="100000" sy="100000" kx="0" ky="0" algn="bl" rotWithShape="0" blurRad="63500" dist="25400" dir="8100000">
              <a:srgbClr val="000000">
                <a:alpha val="8000"/>
              </a:srgbClr>
            </a:outerShdw>
          </a:effectLst>
        </p:spPr>
      </p:sp>
      <p:pic>
        <p:nvPicPr>
          <p:cNvPr id="22" name="Image 4" descr="preencoded.png">    </p:cNvPr>
          <p:cNvPicPr>
            <a:picLocks noChangeAspect="1"/>
          </p:cNvPicPr>
          <p:nvPr/>
        </p:nvPicPr>
        <p:blipFill>
          <a:blip r:embed="rId5"/>
          <a:stretch>
            <a:fillRect/>
          </a:stretch>
        </p:blipFill>
        <p:spPr>
          <a:xfrm>
            <a:off x="5916168" y="1143000"/>
            <a:ext cx="457200" cy="457200"/>
          </a:xfrm>
          <a:prstGeom prst="rect">
            <a:avLst/>
          </a:prstGeom>
        </p:spPr>
      </p:pic>
      <p:sp>
        <p:nvSpPr>
          <p:cNvPr id="23" name="Text 16"/>
          <p:cNvSpPr/>
          <p:nvPr/>
        </p:nvSpPr>
        <p:spPr>
          <a:xfrm>
            <a:off x="5440680" y="1645920"/>
            <a:ext cx="1417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Results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Parsed</a:t>
            </a:r>
            <a:endParaRPr lang="en-US" sz="900" dirty="0"/>
          </a:p>
        </p:txBody>
      </p:sp>
      <p:sp>
        <p:nvSpPr>
          <p:cNvPr id="24" name="Shape 17"/>
          <p:cNvSpPr/>
          <p:nvPr/>
        </p:nvSpPr>
        <p:spPr>
          <a:xfrm>
            <a:off x="6903720" y="1517904"/>
            <a:ext cx="274320" cy="73152"/>
          </a:xfrm>
          <a:prstGeom prst="rect">
            <a:avLst/>
          </a:prstGeom>
          <a:solidFill>
            <a:srgbClr val="718096"/>
          </a:solidFill>
          <a:ln/>
        </p:spPr>
      </p:sp>
      <p:sp>
        <p:nvSpPr>
          <p:cNvPr id="25" name="Text 18"/>
          <p:cNvSpPr/>
          <p:nvPr/>
        </p:nvSpPr>
        <p:spPr>
          <a:xfrm>
            <a:off x="6903720" y="1444752"/>
            <a:ext cx="274320" cy="219456"/>
          </a:xfrm>
          <a:prstGeom prst="rect">
            <a:avLst/>
          </a:prstGeom>
          <a:noFill/>
          <a:ln/>
        </p:spPr>
        <p:txBody>
          <a:bodyPr wrap="square" lIns="0" tIns="0" rIns="0" bIns="0" rtlCol="0" anchor="ctr"/>
          <a:lstStyle/>
          <a:p>
            <a:pPr algn="ctr" indent="0" marL="0">
              <a:buNone/>
            </a:pPr>
            <a:r>
              <a:rPr lang="en-US" sz="1000" dirty="0">
                <a:solidFill>
                  <a:srgbClr val="8898AA"/>
                </a:solidFill>
              </a:rPr>
              <a:t>▶</a:t>
            </a:r>
            <a:endParaRPr lang="en-US" sz="1000" dirty="0"/>
          </a:p>
        </p:txBody>
      </p:sp>
      <p:sp>
        <p:nvSpPr>
          <p:cNvPr id="26" name="Shape 19"/>
          <p:cNvSpPr/>
          <p:nvPr/>
        </p:nvSpPr>
        <p:spPr>
          <a:xfrm>
            <a:off x="7178040" y="1051560"/>
            <a:ext cx="1417320" cy="1005840"/>
          </a:xfrm>
          <a:prstGeom prst="rect">
            <a:avLst/>
          </a:prstGeom>
          <a:solidFill>
            <a:srgbClr val="1A7A4A"/>
          </a:solidFill>
          <a:ln/>
          <a:effectLst>
            <a:outerShdw sx="100000" sy="100000" kx="0" ky="0" algn="bl" rotWithShape="0" blurRad="63500" dist="25400" dir="8100000">
              <a:srgbClr val="000000">
                <a:alpha val="8000"/>
              </a:srgbClr>
            </a:outerShdw>
          </a:effectLst>
        </p:spPr>
      </p:sp>
      <p:pic>
        <p:nvPicPr>
          <p:cNvPr id="27" name="Image 5" descr="preencoded.png">    </p:cNvPr>
          <p:cNvPicPr>
            <a:picLocks noChangeAspect="1"/>
          </p:cNvPicPr>
          <p:nvPr/>
        </p:nvPicPr>
        <p:blipFill>
          <a:blip r:embed="rId6"/>
          <a:stretch>
            <a:fillRect/>
          </a:stretch>
        </p:blipFill>
        <p:spPr>
          <a:xfrm>
            <a:off x="7653528" y="1143000"/>
            <a:ext cx="457200" cy="457200"/>
          </a:xfrm>
          <a:prstGeom prst="rect">
            <a:avLst/>
          </a:prstGeom>
        </p:spPr>
      </p:pic>
      <p:sp>
        <p:nvSpPr>
          <p:cNvPr id="28" name="Text 20"/>
          <p:cNvSpPr/>
          <p:nvPr/>
        </p:nvSpPr>
        <p:spPr>
          <a:xfrm>
            <a:off x="7178040" y="1645920"/>
            <a:ext cx="1417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Pass / Fail</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Gate</a:t>
            </a:r>
            <a:endParaRPr lang="en-US" sz="900" dirty="0"/>
          </a:p>
        </p:txBody>
      </p:sp>
      <p:sp>
        <p:nvSpPr>
          <p:cNvPr id="29" name="Shape 21"/>
          <p:cNvSpPr/>
          <p:nvPr/>
        </p:nvSpPr>
        <p:spPr>
          <a:xfrm>
            <a:off x="228600" y="2240280"/>
            <a:ext cx="5029200" cy="2606040"/>
          </a:xfrm>
          <a:prstGeom prst="rect">
            <a:avLst/>
          </a:prstGeom>
          <a:solidFill>
            <a:srgbClr val="1E1E2E"/>
          </a:solidFill>
          <a:ln/>
          <a:effectLst>
            <a:outerShdw sx="100000" sy="100000" kx="0" ky="0" algn="bl" rotWithShape="0" blurRad="101600" dist="38100" dir="8100000">
              <a:srgbClr val="000000">
                <a:alpha val="10000"/>
              </a:srgbClr>
            </a:outerShdw>
          </a:effectLst>
        </p:spPr>
      </p:sp>
      <p:sp>
        <p:nvSpPr>
          <p:cNvPr id="30" name="Shape 22"/>
          <p:cNvSpPr/>
          <p:nvPr/>
        </p:nvSpPr>
        <p:spPr>
          <a:xfrm>
            <a:off x="228600" y="2240280"/>
            <a:ext cx="5029200" cy="292608"/>
          </a:xfrm>
          <a:prstGeom prst="rect">
            <a:avLst/>
          </a:prstGeom>
          <a:solidFill>
            <a:srgbClr val="2D2D3F"/>
          </a:solidFill>
          <a:ln/>
        </p:spPr>
      </p:sp>
      <p:sp>
        <p:nvSpPr>
          <p:cNvPr id="31" name="Text 23"/>
          <p:cNvSpPr/>
          <p:nvPr/>
        </p:nvSpPr>
        <p:spPr>
          <a:xfrm>
            <a:off x="365760" y="2286000"/>
            <a:ext cx="4754880" cy="219456"/>
          </a:xfrm>
          <a:prstGeom prst="rect">
            <a:avLst/>
          </a:prstGeom>
          <a:noFill/>
          <a:ln/>
        </p:spPr>
        <p:txBody>
          <a:bodyPr wrap="square" lIns="0" tIns="0" rIns="0" bIns="0" rtlCol="0" anchor="ctr"/>
          <a:lstStyle/>
          <a:p>
            <a:pPr indent="0" marL="0">
              <a:buNone/>
            </a:pPr>
            <a:r>
              <a:rPr lang="en-US" sz="850" dirty="0">
                <a:solidFill>
                  <a:srgbClr val="8888AA"/>
                </a:solidFill>
                <a:latin typeface="Consolas" pitchFamily="34" charset="0"/>
                <a:ea typeface="Consolas" pitchFamily="34" charset="-122"/>
                <a:cs typeface="Consolas" pitchFamily="34" charset="-120"/>
              </a:rPr>
              <a:t>.github/workflows/security.yml</a:t>
            </a:r>
            <a:endParaRPr lang="en-US" sz="850" dirty="0"/>
          </a:p>
        </p:txBody>
      </p:sp>
      <p:sp>
        <p:nvSpPr>
          <p:cNvPr id="32" name="Text 24"/>
          <p:cNvSpPr/>
          <p:nvPr/>
        </p:nvSpPr>
        <p:spPr>
          <a:xfrm>
            <a:off x="365760" y="2615184"/>
            <a:ext cx="4754880" cy="146304"/>
          </a:xfrm>
          <a:prstGeom prst="rect">
            <a:avLst/>
          </a:prstGeom>
          <a:noFill/>
          <a:ln/>
        </p:spPr>
        <p:txBody>
          <a:bodyPr wrap="square" lIns="0" tIns="0" rIns="0" bIns="0" rtlCol="0" anchor="ctr"/>
          <a:lstStyle/>
          <a:p>
            <a:pPr indent="0" marL="0">
              <a:buNone/>
            </a:pPr>
            <a:r>
              <a:rPr lang="en-US" sz="800" dirty="0">
                <a:solidFill>
                  <a:srgbClr val="DCDCAA"/>
                </a:solidFill>
                <a:latin typeface="Consolas" pitchFamily="34" charset="0"/>
                <a:ea typeface="Consolas" pitchFamily="34" charset="-122"/>
                <a:cs typeface="Consolas" pitchFamily="34" charset="-120"/>
              </a:rPr>
              <a:t>name: Security Scan</a:t>
            </a:r>
            <a:endParaRPr lang="en-US" sz="800" dirty="0"/>
          </a:p>
        </p:txBody>
      </p:sp>
      <p:sp>
        <p:nvSpPr>
          <p:cNvPr id="33" name="Text 25"/>
          <p:cNvSpPr/>
          <p:nvPr/>
        </p:nvSpPr>
        <p:spPr>
          <a:xfrm>
            <a:off x="365760" y="2770632"/>
            <a:ext cx="4754880" cy="146304"/>
          </a:xfrm>
          <a:prstGeom prst="rect">
            <a:avLst/>
          </a:prstGeom>
          <a:noFill/>
          <a:ln/>
        </p:spPr>
        <p:txBody>
          <a:bodyPr wrap="square" lIns="0" tIns="0" rIns="0" bIns="0" rtlCol="0" anchor="ctr"/>
          <a:lstStyle/>
          <a:p>
            <a:pPr indent="0" marL="0">
              <a:buNone/>
            </a:pPr>
            <a:r>
              <a:rPr lang="en-US" sz="800" dirty="0">
                <a:solidFill>
                  <a:srgbClr val="9CDCFE"/>
                </a:solidFill>
                <a:latin typeface="Consolas" pitchFamily="34" charset="0"/>
                <a:ea typeface="Consolas" pitchFamily="34" charset="-122"/>
                <a:cs typeface="Consolas" pitchFamily="34" charset="-120"/>
              </a:rPr>
              <a:t>on: [push, pull_request]</a:t>
            </a:r>
            <a:endParaRPr lang="en-US" sz="800" dirty="0"/>
          </a:p>
        </p:txBody>
      </p:sp>
      <p:sp>
        <p:nvSpPr>
          <p:cNvPr id="34" name="Text 26"/>
          <p:cNvSpPr/>
          <p:nvPr/>
        </p:nvSpPr>
        <p:spPr>
          <a:xfrm>
            <a:off x="365760" y="2926080"/>
            <a:ext cx="4754880" cy="146304"/>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p:txBody>
      </p:sp>
      <p:sp>
        <p:nvSpPr>
          <p:cNvPr id="35" name="Text 27"/>
          <p:cNvSpPr/>
          <p:nvPr/>
        </p:nvSpPr>
        <p:spPr>
          <a:xfrm>
            <a:off x="365760" y="3081528"/>
            <a:ext cx="4754880" cy="146304"/>
          </a:xfrm>
          <a:prstGeom prst="rect">
            <a:avLst/>
          </a:prstGeom>
          <a:noFill/>
          <a:ln/>
        </p:spPr>
        <p:txBody>
          <a:bodyPr wrap="square" lIns="0" tIns="0" rIns="0" bIns="0" rtlCol="0" anchor="ctr"/>
          <a:lstStyle/>
          <a:p>
            <a:pPr indent="0" marL="0">
              <a:buNone/>
            </a:pPr>
            <a:r>
              <a:rPr lang="en-US" sz="800" dirty="0">
                <a:solidFill>
                  <a:srgbClr val="DCDCAA"/>
                </a:solidFill>
                <a:latin typeface="Consolas" pitchFamily="34" charset="0"/>
                <a:ea typeface="Consolas" pitchFamily="34" charset="-122"/>
                <a:cs typeface="Consolas" pitchFamily="34" charset="-120"/>
              </a:rPr>
              <a:t>jobs:</a:t>
            </a:r>
            <a:endParaRPr lang="en-US" sz="800" dirty="0"/>
          </a:p>
        </p:txBody>
      </p:sp>
      <p:sp>
        <p:nvSpPr>
          <p:cNvPr id="36" name="Text 28"/>
          <p:cNvSpPr/>
          <p:nvPr/>
        </p:nvSpPr>
        <p:spPr>
          <a:xfrm>
            <a:off x="365760" y="3236976"/>
            <a:ext cx="4754880" cy="146304"/>
          </a:xfrm>
          <a:prstGeom prst="rect">
            <a:avLst/>
          </a:prstGeom>
          <a:noFill/>
          <a:ln/>
        </p:spPr>
        <p:txBody>
          <a:bodyPr wrap="square" lIns="0" tIns="0" rIns="0" bIns="0" rtlCol="0" anchor="ctr"/>
          <a:lstStyle/>
          <a:p>
            <a:pPr indent="0" marL="0">
              <a:buNone/>
            </a:pPr>
            <a:r>
              <a:rPr lang="en-US" sz="800" dirty="0">
                <a:solidFill>
                  <a:srgbClr val="9CDCFE"/>
                </a:solidFill>
                <a:latin typeface="Consolas" pitchFamily="34" charset="0"/>
                <a:ea typeface="Consolas" pitchFamily="34" charset="-122"/>
                <a:cs typeface="Consolas" pitchFamily="34" charset="-120"/>
              </a:rPr>
              <a:t>  bandit-scan:</a:t>
            </a:r>
            <a:endParaRPr lang="en-US" sz="800" dirty="0"/>
          </a:p>
        </p:txBody>
      </p:sp>
      <p:sp>
        <p:nvSpPr>
          <p:cNvPr id="37" name="Text 29"/>
          <p:cNvSpPr/>
          <p:nvPr/>
        </p:nvSpPr>
        <p:spPr>
          <a:xfrm>
            <a:off x="365760" y="3392424"/>
            <a:ext cx="4754880" cy="146304"/>
          </a:xfrm>
          <a:prstGeom prst="rect">
            <a:avLst/>
          </a:prstGeom>
          <a:noFill/>
          <a:ln/>
        </p:spPr>
        <p:txBody>
          <a:bodyPr wrap="square" lIns="0" tIns="0" rIns="0" bIns="0" rtlCol="0" anchor="ctr"/>
          <a:lstStyle/>
          <a:p>
            <a:pPr indent="0" marL="0">
              <a:buNone/>
            </a:pPr>
            <a:r>
              <a:rPr lang="en-US" sz="800" dirty="0">
                <a:solidFill>
                  <a:srgbClr val="CE9178"/>
                </a:solidFill>
                <a:latin typeface="Consolas" pitchFamily="34" charset="0"/>
                <a:ea typeface="Consolas" pitchFamily="34" charset="-122"/>
                <a:cs typeface="Consolas" pitchFamily="34" charset="-120"/>
              </a:rPr>
              <a:t>    runs-on: ubuntu-latest</a:t>
            </a:r>
            <a:endParaRPr lang="en-US" sz="800" dirty="0"/>
          </a:p>
        </p:txBody>
      </p:sp>
      <p:sp>
        <p:nvSpPr>
          <p:cNvPr id="38" name="Text 30"/>
          <p:cNvSpPr/>
          <p:nvPr/>
        </p:nvSpPr>
        <p:spPr>
          <a:xfrm>
            <a:off x="365760" y="3547872"/>
            <a:ext cx="4754880" cy="146304"/>
          </a:xfrm>
          <a:prstGeom prst="rect">
            <a:avLst/>
          </a:prstGeom>
          <a:noFill/>
          <a:ln/>
        </p:spPr>
        <p:txBody>
          <a:bodyPr wrap="square" lIns="0" tIns="0" rIns="0" bIns="0" rtlCol="0" anchor="ctr"/>
          <a:lstStyle/>
          <a:p>
            <a:pPr indent="0" marL="0">
              <a:buNone/>
            </a:pPr>
            <a:r>
              <a:rPr lang="en-US" sz="800" dirty="0">
                <a:solidFill>
                  <a:srgbClr val="9CDCFE"/>
                </a:solidFill>
                <a:latin typeface="Consolas" pitchFamily="34" charset="0"/>
                <a:ea typeface="Consolas" pitchFamily="34" charset="-122"/>
                <a:cs typeface="Consolas" pitchFamily="34" charset="-120"/>
              </a:rPr>
              <a:t>    steps:</a:t>
            </a:r>
            <a:endParaRPr lang="en-US" sz="800" dirty="0"/>
          </a:p>
        </p:txBody>
      </p:sp>
      <p:sp>
        <p:nvSpPr>
          <p:cNvPr id="39" name="Text 31"/>
          <p:cNvSpPr/>
          <p:nvPr/>
        </p:nvSpPr>
        <p:spPr>
          <a:xfrm>
            <a:off x="365760" y="3703320"/>
            <a:ext cx="4754880" cy="146304"/>
          </a:xfrm>
          <a:prstGeom prst="rect">
            <a:avLst/>
          </a:prstGeom>
          <a:noFill/>
          <a:ln/>
        </p:spPr>
        <p:txBody>
          <a:bodyPr wrap="square" lIns="0" tIns="0" rIns="0" bIns="0" rtlCol="0" anchor="ctr"/>
          <a:lstStyle/>
          <a:p>
            <a:pPr indent="0" marL="0">
              <a:buNone/>
            </a:pPr>
            <a:r>
              <a:rPr lang="en-US" sz="800" dirty="0">
                <a:solidFill>
                  <a:srgbClr val="CE9178"/>
                </a:solidFill>
                <a:latin typeface="Consolas" pitchFamily="34" charset="0"/>
                <a:ea typeface="Consolas" pitchFamily="34" charset="-122"/>
                <a:cs typeface="Consolas" pitchFamily="34" charset="-120"/>
              </a:rPr>
              <a:t>      - uses: actions/checkout@v3</a:t>
            </a:r>
            <a:endParaRPr lang="en-US" sz="800" dirty="0"/>
          </a:p>
        </p:txBody>
      </p:sp>
      <p:sp>
        <p:nvSpPr>
          <p:cNvPr id="40" name="Text 32"/>
          <p:cNvSpPr/>
          <p:nvPr/>
        </p:nvSpPr>
        <p:spPr>
          <a:xfrm>
            <a:off x="365760" y="3858768"/>
            <a:ext cx="4754880" cy="146304"/>
          </a:xfrm>
          <a:prstGeom prst="rect">
            <a:avLst/>
          </a:prstGeom>
          <a:noFill/>
          <a:ln/>
        </p:spPr>
        <p:txBody>
          <a:bodyPr wrap="square" lIns="0" tIns="0" rIns="0" bIns="0" rtlCol="0" anchor="ctr"/>
          <a:lstStyle/>
          <a:p>
            <a:pPr indent="0" marL="0">
              <a:buNone/>
            </a:pPr>
            <a:r>
              <a:rPr lang="en-US" sz="800" dirty="0">
                <a:solidFill>
                  <a:srgbClr val="9CDCFE"/>
                </a:solidFill>
                <a:latin typeface="Consolas" pitchFamily="34" charset="0"/>
                <a:ea typeface="Consolas" pitchFamily="34" charset="-122"/>
                <a:cs typeface="Consolas" pitchFamily="34" charset="-120"/>
              </a:rPr>
              <a:t>      - name: Install Bandit</a:t>
            </a:r>
            <a:endParaRPr lang="en-US" sz="800" dirty="0"/>
          </a:p>
        </p:txBody>
      </p:sp>
      <p:sp>
        <p:nvSpPr>
          <p:cNvPr id="41" name="Text 33"/>
          <p:cNvSpPr/>
          <p:nvPr/>
        </p:nvSpPr>
        <p:spPr>
          <a:xfrm>
            <a:off x="365760" y="4014216"/>
            <a:ext cx="4754880" cy="146304"/>
          </a:xfrm>
          <a:prstGeom prst="rect">
            <a:avLst/>
          </a:prstGeom>
          <a:noFill/>
          <a:ln/>
        </p:spPr>
        <p:txBody>
          <a:bodyPr wrap="square" lIns="0" tIns="0" rIns="0" bIns="0" rtlCol="0" anchor="ctr"/>
          <a:lstStyle/>
          <a:p>
            <a:pPr indent="0" marL="0">
              <a:buNone/>
            </a:pPr>
            <a:r>
              <a:rPr lang="en-US" sz="800" dirty="0">
                <a:solidFill>
                  <a:srgbClr val="CE9178"/>
                </a:solidFill>
                <a:latin typeface="Consolas" pitchFamily="34" charset="0"/>
                <a:ea typeface="Consolas" pitchFamily="34" charset="-122"/>
                <a:cs typeface="Consolas" pitchFamily="34" charset="-120"/>
              </a:rPr>
              <a:t>        run: pip install bandit</a:t>
            </a:r>
            <a:endParaRPr lang="en-US" sz="800" dirty="0"/>
          </a:p>
        </p:txBody>
      </p:sp>
      <p:sp>
        <p:nvSpPr>
          <p:cNvPr id="42" name="Text 34"/>
          <p:cNvSpPr/>
          <p:nvPr/>
        </p:nvSpPr>
        <p:spPr>
          <a:xfrm>
            <a:off x="365760" y="4169664"/>
            <a:ext cx="4754880" cy="146304"/>
          </a:xfrm>
          <a:prstGeom prst="rect">
            <a:avLst/>
          </a:prstGeom>
          <a:noFill/>
          <a:ln/>
        </p:spPr>
        <p:txBody>
          <a:bodyPr wrap="square" lIns="0" tIns="0" rIns="0" bIns="0" rtlCol="0" anchor="ctr"/>
          <a:lstStyle/>
          <a:p>
            <a:pPr indent="0" marL="0">
              <a:buNone/>
            </a:pPr>
            <a:r>
              <a:rPr lang="en-US" sz="800" dirty="0">
                <a:solidFill>
                  <a:srgbClr val="9CDCFE"/>
                </a:solidFill>
                <a:latin typeface="Consolas" pitchFamily="34" charset="0"/>
                <a:ea typeface="Consolas" pitchFamily="34" charset="-122"/>
                <a:cs typeface="Consolas" pitchFamily="34" charset="-120"/>
              </a:rPr>
              <a:t>      - name: Run SAST Scan</a:t>
            </a:r>
            <a:endParaRPr lang="en-US" sz="800" dirty="0"/>
          </a:p>
        </p:txBody>
      </p:sp>
      <p:sp>
        <p:nvSpPr>
          <p:cNvPr id="43" name="Text 35"/>
          <p:cNvSpPr/>
          <p:nvPr/>
        </p:nvSpPr>
        <p:spPr>
          <a:xfrm>
            <a:off x="365760" y="4325112"/>
            <a:ext cx="4754880" cy="146304"/>
          </a:xfrm>
          <a:prstGeom prst="rect">
            <a:avLst/>
          </a:prstGeom>
          <a:noFill/>
          <a:ln/>
        </p:spPr>
        <p:txBody>
          <a:bodyPr wrap="square" lIns="0" tIns="0" rIns="0" bIns="0" rtlCol="0" anchor="ctr"/>
          <a:lstStyle/>
          <a:p>
            <a:pPr indent="0" marL="0">
              <a:buNone/>
            </a:pPr>
            <a:r>
              <a:rPr lang="en-US" sz="800" dirty="0">
                <a:solidFill>
                  <a:srgbClr val="CE9178"/>
                </a:solidFill>
                <a:latin typeface="Consolas" pitchFamily="34" charset="0"/>
                <a:ea typeface="Consolas" pitchFamily="34" charset="-122"/>
                <a:cs typeface="Consolas" pitchFamily="34" charset="-120"/>
              </a:rPr>
              <a:t>        run: bandit -r app.py -f json \</a:t>
            </a:r>
            <a:endParaRPr lang="en-US" sz="800" dirty="0"/>
          </a:p>
        </p:txBody>
      </p:sp>
      <p:sp>
        <p:nvSpPr>
          <p:cNvPr id="44" name="Text 36"/>
          <p:cNvSpPr/>
          <p:nvPr/>
        </p:nvSpPr>
        <p:spPr>
          <a:xfrm>
            <a:off x="365760" y="4480560"/>
            <a:ext cx="4754880" cy="146304"/>
          </a:xfrm>
          <a:prstGeom prst="rect">
            <a:avLst/>
          </a:prstGeom>
          <a:noFill/>
          <a:ln/>
        </p:spPr>
        <p:txBody>
          <a:bodyPr wrap="square" lIns="0" tIns="0" rIns="0" bIns="0" rtlCol="0" anchor="ctr"/>
          <a:lstStyle/>
          <a:p>
            <a:pPr indent="0" marL="0">
              <a:buNone/>
            </a:pPr>
            <a:r>
              <a:rPr lang="en-US" sz="800" dirty="0">
                <a:solidFill>
                  <a:srgbClr val="CE9178"/>
                </a:solidFill>
                <a:latin typeface="Consolas" pitchFamily="34" charset="0"/>
                <a:ea typeface="Consolas" pitchFamily="34" charset="-122"/>
                <a:cs typeface="Consolas" pitchFamily="34" charset="-120"/>
              </a:rPr>
              <a:t>               -o bandit-report.json</a:t>
            </a:r>
            <a:endParaRPr lang="en-US" sz="800" dirty="0"/>
          </a:p>
        </p:txBody>
      </p:sp>
      <p:sp>
        <p:nvSpPr>
          <p:cNvPr id="45" name="Text 37"/>
          <p:cNvSpPr/>
          <p:nvPr/>
        </p:nvSpPr>
        <p:spPr>
          <a:xfrm>
            <a:off x="365760" y="4636008"/>
            <a:ext cx="4754880" cy="146304"/>
          </a:xfrm>
          <a:prstGeom prst="rect">
            <a:avLst/>
          </a:prstGeom>
          <a:noFill/>
          <a:ln/>
        </p:spPr>
        <p:txBody>
          <a:bodyPr wrap="square" lIns="0" tIns="0" rIns="0" bIns="0" rtlCol="0" anchor="ctr"/>
          <a:lstStyle/>
          <a:p>
            <a:pPr indent="0" marL="0">
              <a:buNone/>
            </a:pPr>
            <a:r>
              <a:rPr lang="en-US" sz="800" dirty="0">
                <a:solidFill>
                  <a:srgbClr val="9CDCFE"/>
                </a:solidFill>
                <a:latin typeface="Consolas" pitchFamily="34" charset="0"/>
                <a:ea typeface="Consolas" pitchFamily="34" charset="-122"/>
                <a:cs typeface="Consolas" pitchFamily="34" charset="-120"/>
              </a:rPr>
              <a:t>      - name: Fail on HIGH severity</a:t>
            </a:r>
            <a:endParaRPr lang="en-US" sz="800" dirty="0"/>
          </a:p>
        </p:txBody>
      </p:sp>
      <p:sp>
        <p:nvSpPr>
          <p:cNvPr id="46" name="Text 38"/>
          <p:cNvSpPr/>
          <p:nvPr/>
        </p:nvSpPr>
        <p:spPr>
          <a:xfrm>
            <a:off x="365760" y="4791456"/>
            <a:ext cx="4754880" cy="146304"/>
          </a:xfrm>
          <a:prstGeom prst="rect">
            <a:avLst/>
          </a:prstGeom>
          <a:noFill/>
          <a:ln/>
        </p:spPr>
        <p:txBody>
          <a:bodyPr wrap="square" lIns="0" tIns="0" rIns="0" bIns="0" rtlCol="0" anchor="ctr"/>
          <a:lstStyle/>
          <a:p>
            <a:pPr indent="0" marL="0">
              <a:buNone/>
            </a:pPr>
            <a:r>
              <a:rPr lang="en-US" sz="800" dirty="0">
                <a:solidFill>
                  <a:srgbClr val="F44747"/>
                </a:solidFill>
                <a:latin typeface="Consolas" pitchFamily="34" charset="0"/>
                <a:ea typeface="Consolas" pitchFamily="34" charset="-122"/>
                <a:cs typeface="Consolas" pitchFamily="34" charset="-120"/>
              </a:rPr>
              <a:t>        run: bandit -r app.py -ll</a:t>
            </a:r>
            <a:endParaRPr lang="en-US" sz="800" dirty="0"/>
          </a:p>
        </p:txBody>
      </p:sp>
      <p:sp>
        <p:nvSpPr>
          <p:cNvPr id="47" name="Shape 39"/>
          <p:cNvSpPr/>
          <p:nvPr/>
        </p:nvSpPr>
        <p:spPr>
          <a:xfrm>
            <a:off x="5486400" y="2240280"/>
            <a:ext cx="3474720" cy="26060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8" name="Shape 40"/>
          <p:cNvSpPr/>
          <p:nvPr/>
        </p:nvSpPr>
        <p:spPr>
          <a:xfrm>
            <a:off x="5486400" y="2240280"/>
            <a:ext cx="3474720" cy="347472"/>
          </a:xfrm>
          <a:prstGeom prst="rect">
            <a:avLst/>
          </a:prstGeom>
          <a:solidFill>
            <a:srgbClr val="1A7A4A"/>
          </a:solidFill>
          <a:ln/>
        </p:spPr>
      </p:sp>
      <p:sp>
        <p:nvSpPr>
          <p:cNvPr id="49" name="Text 41"/>
          <p:cNvSpPr/>
          <p:nvPr/>
        </p:nvSpPr>
        <p:spPr>
          <a:xfrm>
            <a:off x="5486400" y="2240280"/>
            <a:ext cx="3474720" cy="347472"/>
          </a:xfrm>
          <a:prstGeom prst="rect">
            <a:avLst/>
          </a:prstGeom>
          <a:noFill/>
          <a:ln/>
        </p:spPr>
        <p:txBody>
          <a:bodyPr wrap="square" lIns="0" tIns="0" rIns="0" bIns="0" rtlCol="0" anchor="ctr"/>
          <a:lstStyle/>
          <a:p>
            <a:pPr algn="ctr" indent="0" marL="0">
              <a:buNone/>
            </a:pPr>
            <a:r>
              <a:rPr lang="en-US" sz="1200" b="1" dirty="0">
                <a:solidFill>
                  <a:srgbClr val="FFFFFF"/>
                </a:solidFill>
              </a:rPr>
              <a:t>DevSecOps Benefits</a:t>
            </a:r>
            <a:endParaRPr lang="en-US" sz="1200" dirty="0"/>
          </a:p>
        </p:txBody>
      </p:sp>
      <p:sp>
        <p:nvSpPr>
          <p:cNvPr id="50" name="Shape 42"/>
          <p:cNvSpPr/>
          <p:nvPr/>
        </p:nvSpPr>
        <p:spPr>
          <a:xfrm>
            <a:off x="5623560" y="2697480"/>
            <a:ext cx="347472" cy="347472"/>
          </a:xfrm>
          <a:prstGeom prst="rect">
            <a:avLst/>
          </a:prstGeom>
          <a:solidFill>
            <a:srgbClr val="1A7A4A"/>
          </a:solidFill>
          <a:ln/>
        </p:spPr>
      </p:sp>
      <p:pic>
        <p:nvPicPr>
          <p:cNvPr id="51" name="Image 6" descr="preencoded.png">    </p:cNvPr>
          <p:cNvPicPr>
            <a:picLocks noChangeAspect="1"/>
          </p:cNvPicPr>
          <p:nvPr/>
        </p:nvPicPr>
        <p:blipFill>
          <a:blip r:embed="rId7"/>
          <a:stretch>
            <a:fillRect/>
          </a:stretch>
        </p:blipFill>
        <p:spPr>
          <a:xfrm>
            <a:off x="5641848" y="2734056"/>
            <a:ext cx="274320" cy="274320"/>
          </a:xfrm>
          <a:prstGeom prst="rect">
            <a:avLst/>
          </a:prstGeom>
        </p:spPr>
      </p:pic>
      <p:sp>
        <p:nvSpPr>
          <p:cNvPr id="52" name="Text 43"/>
          <p:cNvSpPr/>
          <p:nvPr/>
        </p:nvSpPr>
        <p:spPr>
          <a:xfrm>
            <a:off x="6053328" y="2697480"/>
            <a:ext cx="2743200" cy="201168"/>
          </a:xfrm>
          <a:prstGeom prst="rect">
            <a:avLst/>
          </a:prstGeom>
          <a:noFill/>
          <a:ln/>
        </p:spPr>
        <p:txBody>
          <a:bodyPr wrap="square" lIns="0" tIns="0" rIns="0" bIns="0" rtlCol="0" anchor="ctr"/>
          <a:lstStyle/>
          <a:p>
            <a:pPr indent="0" marL="0">
              <a:buNone/>
            </a:pPr>
            <a:r>
              <a:rPr lang="en-US" sz="950" b="1" dirty="0">
                <a:solidFill>
                  <a:srgbClr val="1B3A5C"/>
                </a:solidFill>
                <a:latin typeface="Calibri" pitchFamily="34" charset="0"/>
                <a:ea typeface="Calibri" pitchFamily="34" charset="-122"/>
                <a:cs typeface="Calibri" pitchFamily="34" charset="-120"/>
              </a:rPr>
              <a:t>Shift-Left Security</a:t>
            </a:r>
            <a:endParaRPr lang="en-US" sz="950" dirty="0"/>
          </a:p>
        </p:txBody>
      </p:sp>
      <p:sp>
        <p:nvSpPr>
          <p:cNvPr id="53" name="Text 44"/>
          <p:cNvSpPr/>
          <p:nvPr/>
        </p:nvSpPr>
        <p:spPr>
          <a:xfrm>
            <a:off x="6053328" y="2898648"/>
            <a:ext cx="2743200" cy="256032"/>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Vulnerabilities caught before code reaches production</a:t>
            </a:r>
            <a:endParaRPr lang="en-US" sz="850" dirty="0"/>
          </a:p>
        </p:txBody>
      </p:sp>
      <p:sp>
        <p:nvSpPr>
          <p:cNvPr id="54" name="Shape 45"/>
          <p:cNvSpPr/>
          <p:nvPr/>
        </p:nvSpPr>
        <p:spPr>
          <a:xfrm>
            <a:off x="5623560" y="3218688"/>
            <a:ext cx="347472" cy="347472"/>
          </a:xfrm>
          <a:prstGeom prst="rect">
            <a:avLst/>
          </a:prstGeom>
          <a:solidFill>
            <a:srgbClr val="1A7A4A"/>
          </a:solidFill>
          <a:ln/>
        </p:spPr>
      </p:sp>
      <p:pic>
        <p:nvPicPr>
          <p:cNvPr id="55" name="Image 7" descr="preencoded.png">    </p:cNvPr>
          <p:cNvPicPr>
            <a:picLocks noChangeAspect="1"/>
          </p:cNvPicPr>
          <p:nvPr/>
        </p:nvPicPr>
        <p:blipFill>
          <a:blip r:embed="rId8"/>
          <a:stretch>
            <a:fillRect/>
          </a:stretch>
        </p:blipFill>
        <p:spPr>
          <a:xfrm>
            <a:off x="5641848" y="3255264"/>
            <a:ext cx="274320" cy="274320"/>
          </a:xfrm>
          <a:prstGeom prst="rect">
            <a:avLst/>
          </a:prstGeom>
        </p:spPr>
      </p:pic>
      <p:sp>
        <p:nvSpPr>
          <p:cNvPr id="56" name="Text 46"/>
          <p:cNvSpPr/>
          <p:nvPr/>
        </p:nvSpPr>
        <p:spPr>
          <a:xfrm>
            <a:off x="6053328" y="3218688"/>
            <a:ext cx="2743200" cy="201168"/>
          </a:xfrm>
          <a:prstGeom prst="rect">
            <a:avLst/>
          </a:prstGeom>
          <a:noFill/>
          <a:ln/>
        </p:spPr>
        <p:txBody>
          <a:bodyPr wrap="square" lIns="0" tIns="0" rIns="0" bIns="0" rtlCol="0" anchor="ctr"/>
          <a:lstStyle/>
          <a:p>
            <a:pPr indent="0" marL="0">
              <a:buNone/>
            </a:pPr>
            <a:r>
              <a:rPr lang="en-US" sz="950" b="1" dirty="0">
                <a:solidFill>
                  <a:srgbClr val="1B3A5C"/>
                </a:solidFill>
                <a:latin typeface="Calibri" pitchFamily="34" charset="0"/>
                <a:ea typeface="Calibri" pitchFamily="34" charset="-122"/>
                <a:cs typeface="Calibri" pitchFamily="34" charset="-120"/>
              </a:rPr>
              <a:t>Every Commit Scanned</a:t>
            </a:r>
            <a:endParaRPr lang="en-US" sz="950" dirty="0"/>
          </a:p>
        </p:txBody>
      </p:sp>
      <p:sp>
        <p:nvSpPr>
          <p:cNvPr id="57" name="Text 47"/>
          <p:cNvSpPr/>
          <p:nvPr/>
        </p:nvSpPr>
        <p:spPr>
          <a:xfrm>
            <a:off x="6053328" y="3419856"/>
            <a:ext cx="2743200" cy="256032"/>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No manual step required — automation enforces policy</a:t>
            </a:r>
            <a:endParaRPr lang="en-US" sz="850" dirty="0"/>
          </a:p>
        </p:txBody>
      </p:sp>
      <p:sp>
        <p:nvSpPr>
          <p:cNvPr id="58" name="Shape 48"/>
          <p:cNvSpPr/>
          <p:nvPr/>
        </p:nvSpPr>
        <p:spPr>
          <a:xfrm>
            <a:off x="5623560" y="3739896"/>
            <a:ext cx="347472" cy="347472"/>
          </a:xfrm>
          <a:prstGeom prst="rect">
            <a:avLst/>
          </a:prstGeom>
          <a:solidFill>
            <a:srgbClr val="1A7A4A"/>
          </a:solidFill>
          <a:ln/>
        </p:spPr>
      </p:sp>
      <p:pic>
        <p:nvPicPr>
          <p:cNvPr id="59" name="Image 8" descr="preencoded.png">    </p:cNvPr>
          <p:cNvPicPr>
            <a:picLocks noChangeAspect="1"/>
          </p:cNvPicPr>
          <p:nvPr/>
        </p:nvPicPr>
        <p:blipFill>
          <a:blip r:embed="rId9"/>
          <a:stretch>
            <a:fillRect/>
          </a:stretch>
        </p:blipFill>
        <p:spPr>
          <a:xfrm>
            <a:off x="5641848" y="3776472"/>
            <a:ext cx="274320" cy="274320"/>
          </a:xfrm>
          <a:prstGeom prst="rect">
            <a:avLst/>
          </a:prstGeom>
        </p:spPr>
      </p:pic>
      <p:sp>
        <p:nvSpPr>
          <p:cNvPr id="60" name="Text 49"/>
          <p:cNvSpPr/>
          <p:nvPr/>
        </p:nvSpPr>
        <p:spPr>
          <a:xfrm>
            <a:off x="6053328" y="3739896"/>
            <a:ext cx="2743200" cy="201168"/>
          </a:xfrm>
          <a:prstGeom prst="rect">
            <a:avLst/>
          </a:prstGeom>
          <a:noFill/>
          <a:ln/>
        </p:spPr>
        <p:txBody>
          <a:bodyPr wrap="square" lIns="0" tIns="0" rIns="0" bIns="0" rtlCol="0" anchor="ctr"/>
          <a:lstStyle/>
          <a:p>
            <a:pPr indent="0" marL="0">
              <a:buNone/>
            </a:pPr>
            <a:r>
              <a:rPr lang="en-US" sz="950" b="1" dirty="0">
                <a:solidFill>
                  <a:srgbClr val="1B3A5C"/>
                </a:solidFill>
                <a:latin typeface="Calibri" pitchFamily="34" charset="0"/>
                <a:ea typeface="Calibri" pitchFamily="34" charset="-122"/>
                <a:cs typeface="Calibri" pitchFamily="34" charset="-120"/>
              </a:rPr>
              <a:t>Audit Trail</a:t>
            </a:r>
            <a:endParaRPr lang="en-US" sz="950" dirty="0"/>
          </a:p>
        </p:txBody>
      </p:sp>
      <p:sp>
        <p:nvSpPr>
          <p:cNvPr id="61" name="Text 50"/>
          <p:cNvSpPr/>
          <p:nvPr/>
        </p:nvSpPr>
        <p:spPr>
          <a:xfrm>
            <a:off x="6053328" y="3941064"/>
            <a:ext cx="2743200" cy="256032"/>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Full scan history in GitHub Actions log for compliance</a:t>
            </a:r>
            <a:endParaRPr lang="en-US" sz="850" dirty="0"/>
          </a:p>
        </p:txBody>
      </p:sp>
      <p:sp>
        <p:nvSpPr>
          <p:cNvPr id="62" name="Shape 51"/>
          <p:cNvSpPr/>
          <p:nvPr/>
        </p:nvSpPr>
        <p:spPr>
          <a:xfrm>
            <a:off x="5623560" y="4261104"/>
            <a:ext cx="347472" cy="347472"/>
          </a:xfrm>
          <a:prstGeom prst="rect">
            <a:avLst/>
          </a:prstGeom>
          <a:solidFill>
            <a:srgbClr val="1A7A4A"/>
          </a:solidFill>
          <a:ln/>
        </p:spPr>
      </p:sp>
      <p:pic>
        <p:nvPicPr>
          <p:cNvPr id="63" name="Image 9" descr="preencoded.png">    </p:cNvPr>
          <p:cNvPicPr>
            <a:picLocks noChangeAspect="1"/>
          </p:cNvPicPr>
          <p:nvPr/>
        </p:nvPicPr>
        <p:blipFill>
          <a:blip r:embed="rId10"/>
          <a:stretch>
            <a:fillRect/>
          </a:stretch>
        </p:blipFill>
        <p:spPr>
          <a:xfrm>
            <a:off x="5641848" y="4297680"/>
            <a:ext cx="274320" cy="274320"/>
          </a:xfrm>
          <a:prstGeom prst="rect">
            <a:avLst/>
          </a:prstGeom>
        </p:spPr>
      </p:pic>
      <p:sp>
        <p:nvSpPr>
          <p:cNvPr id="64" name="Text 52"/>
          <p:cNvSpPr/>
          <p:nvPr/>
        </p:nvSpPr>
        <p:spPr>
          <a:xfrm>
            <a:off x="6053328" y="4261104"/>
            <a:ext cx="2743200" cy="201168"/>
          </a:xfrm>
          <a:prstGeom prst="rect">
            <a:avLst/>
          </a:prstGeom>
          <a:noFill/>
          <a:ln/>
        </p:spPr>
        <p:txBody>
          <a:bodyPr wrap="square" lIns="0" tIns="0" rIns="0" bIns="0" rtlCol="0" anchor="ctr"/>
          <a:lstStyle/>
          <a:p>
            <a:pPr indent="0" marL="0">
              <a:buNone/>
            </a:pPr>
            <a:r>
              <a:rPr lang="en-US" sz="950" b="1" dirty="0">
                <a:solidFill>
                  <a:srgbClr val="1B3A5C"/>
                </a:solidFill>
                <a:latin typeface="Calibri" pitchFamily="34" charset="0"/>
                <a:ea typeface="Calibri" pitchFamily="34" charset="-122"/>
                <a:cs typeface="Calibri" pitchFamily="34" charset="-120"/>
              </a:rPr>
              <a:t>Fast Feedback Loop</a:t>
            </a:r>
            <a:endParaRPr lang="en-US" sz="950" dirty="0"/>
          </a:p>
        </p:txBody>
      </p:sp>
      <p:sp>
        <p:nvSpPr>
          <p:cNvPr id="65" name="Text 53"/>
          <p:cNvSpPr/>
          <p:nvPr/>
        </p:nvSpPr>
        <p:spPr>
          <a:xfrm>
            <a:off x="6053328" y="4462272"/>
            <a:ext cx="2743200" cy="256032"/>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Developer notified within seconds of a HIGH severity find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C5282"/>
          </a:solidFill>
          <a:ln/>
        </p:spPr>
      </p:sp>
      <p:pic>
        <p:nvPicPr>
          <p:cNvPr id="3" name="Image 0" descr="preencoded.png">    </p:cNvPr>
          <p:cNvPicPr>
            <a:picLocks noChangeAspect="1"/>
          </p:cNvPicPr>
          <p:nvPr/>
        </p:nvPicPr>
        <p:blipFill>
          <a:blip r:embed="rId1"/>
          <a:stretch>
            <a:fillRect/>
          </a:stretch>
        </p:blipFill>
        <p:spPr>
          <a:xfrm>
            <a:off x="137160" y="128016"/>
            <a:ext cx="594360" cy="594360"/>
          </a:xfrm>
          <a:prstGeom prst="rect">
            <a:avLst/>
          </a:prstGeom>
        </p:spPr>
      </p:pic>
      <p:sp>
        <p:nvSpPr>
          <p:cNvPr id="4" name="Text 1"/>
          <p:cNvSpPr/>
          <p:nvPr/>
        </p:nvSpPr>
        <p:spPr>
          <a:xfrm>
            <a:off x="914400" y="91440"/>
            <a:ext cx="77724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5: STRIDE Threat Modeling</a:t>
            </a:r>
            <a:endParaRPr lang="en-US" sz="2400" dirty="0"/>
          </a:p>
        </p:txBody>
      </p:sp>
      <p:sp>
        <p:nvSpPr>
          <p:cNvPr id="5" name="Shape 2"/>
          <p:cNvSpPr/>
          <p:nvPr/>
        </p:nvSpPr>
        <p:spPr>
          <a:xfrm>
            <a:off x="228600" y="1024128"/>
            <a:ext cx="4206240" cy="1207008"/>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6" name="Shape 3"/>
          <p:cNvSpPr/>
          <p:nvPr/>
        </p:nvSpPr>
        <p:spPr>
          <a:xfrm>
            <a:off x="228600" y="1024128"/>
            <a:ext cx="566928" cy="1207008"/>
          </a:xfrm>
          <a:prstGeom prst="rect">
            <a:avLst/>
          </a:prstGeom>
          <a:solidFill>
            <a:srgbClr val="C0392B"/>
          </a:solidFill>
          <a:ln/>
        </p:spPr>
      </p:sp>
      <p:sp>
        <p:nvSpPr>
          <p:cNvPr id="7" name="Text 4"/>
          <p:cNvSpPr/>
          <p:nvPr/>
        </p:nvSpPr>
        <p:spPr>
          <a:xfrm>
            <a:off x="228600" y="1024128"/>
            <a:ext cx="566928" cy="1207008"/>
          </a:xfrm>
          <a:prstGeom prst="rect">
            <a:avLst/>
          </a:prstGeom>
          <a:noFill/>
          <a:ln/>
        </p:spPr>
        <p:txBody>
          <a:bodyPr wrap="square" lIns="0" tIns="0" rIns="0" bIns="0" rtlCol="0" anchor="ctr"/>
          <a:lstStyle/>
          <a:p>
            <a:pPr algn="ctr" indent="0" marL="0">
              <a:buNone/>
            </a:pPr>
            <a:r>
              <a:rPr lang="en-US" sz="3200" b="1" dirty="0">
                <a:solidFill>
                  <a:srgbClr val="FFFFFF"/>
                </a:solidFill>
              </a:rPr>
              <a:t>S</a:t>
            </a:r>
            <a:endParaRPr lang="en-US" sz="3200" dirty="0"/>
          </a:p>
        </p:txBody>
      </p:sp>
      <p:sp>
        <p:nvSpPr>
          <p:cNvPr id="8" name="Shape 5"/>
          <p:cNvSpPr/>
          <p:nvPr/>
        </p:nvSpPr>
        <p:spPr>
          <a:xfrm>
            <a:off x="3291840" y="1097280"/>
            <a:ext cx="1005840" cy="256032"/>
          </a:xfrm>
          <a:prstGeom prst="rect">
            <a:avLst/>
          </a:prstGeom>
          <a:solidFill>
            <a:srgbClr val="C0392B"/>
          </a:solidFill>
          <a:ln/>
        </p:spPr>
      </p:sp>
      <p:sp>
        <p:nvSpPr>
          <p:cNvPr id="9" name="Text 6"/>
          <p:cNvSpPr/>
          <p:nvPr/>
        </p:nvSpPr>
        <p:spPr>
          <a:xfrm>
            <a:off x="3291840" y="1097280"/>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rPr>
              <a:t>HIGH</a:t>
            </a:r>
            <a:endParaRPr lang="en-US" sz="800" dirty="0"/>
          </a:p>
        </p:txBody>
      </p:sp>
      <p:sp>
        <p:nvSpPr>
          <p:cNvPr id="10" name="Text 7"/>
          <p:cNvSpPr/>
          <p:nvPr/>
        </p:nvSpPr>
        <p:spPr>
          <a:xfrm>
            <a:off x="886968" y="1078992"/>
            <a:ext cx="228600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Spoofing</a:t>
            </a:r>
            <a:endParaRPr lang="en-US" sz="1200" dirty="0"/>
          </a:p>
        </p:txBody>
      </p:sp>
      <p:sp>
        <p:nvSpPr>
          <p:cNvPr id="11" name="Text 8"/>
          <p:cNvSpPr/>
          <p:nvPr/>
        </p:nvSpPr>
        <p:spPr>
          <a:xfrm>
            <a:off x="886968" y="1325880"/>
            <a:ext cx="3383280" cy="201168"/>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Impersonating another user or system</a:t>
            </a:r>
            <a:endParaRPr lang="en-US" sz="850" dirty="0"/>
          </a:p>
        </p:txBody>
      </p:sp>
      <p:sp>
        <p:nvSpPr>
          <p:cNvPr id="12" name="Text 9"/>
          <p:cNvSpPr/>
          <p:nvPr/>
        </p:nvSpPr>
        <p:spPr>
          <a:xfrm>
            <a:off x="886968" y="1536192"/>
            <a:ext cx="3383280" cy="59436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Credential Stuffing — no account lockout, plaintext passwords make brute-force trivial</a:t>
            </a:r>
            <a:endParaRPr lang="en-US" sz="850" dirty="0"/>
          </a:p>
        </p:txBody>
      </p:sp>
      <p:sp>
        <p:nvSpPr>
          <p:cNvPr id="13" name="Shape 10"/>
          <p:cNvSpPr/>
          <p:nvPr/>
        </p:nvSpPr>
        <p:spPr>
          <a:xfrm>
            <a:off x="4681728" y="1024128"/>
            <a:ext cx="4206240" cy="1207008"/>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14" name="Shape 11"/>
          <p:cNvSpPr/>
          <p:nvPr/>
        </p:nvSpPr>
        <p:spPr>
          <a:xfrm>
            <a:off x="4681728" y="1024128"/>
            <a:ext cx="566928" cy="1207008"/>
          </a:xfrm>
          <a:prstGeom prst="rect">
            <a:avLst/>
          </a:prstGeom>
          <a:solidFill>
            <a:srgbClr val="8B1A1A"/>
          </a:solidFill>
          <a:ln/>
        </p:spPr>
      </p:sp>
      <p:sp>
        <p:nvSpPr>
          <p:cNvPr id="15" name="Text 12"/>
          <p:cNvSpPr/>
          <p:nvPr/>
        </p:nvSpPr>
        <p:spPr>
          <a:xfrm>
            <a:off x="4681728" y="1024128"/>
            <a:ext cx="566928" cy="1207008"/>
          </a:xfrm>
          <a:prstGeom prst="rect">
            <a:avLst/>
          </a:prstGeom>
          <a:noFill/>
          <a:ln/>
        </p:spPr>
        <p:txBody>
          <a:bodyPr wrap="square" lIns="0" tIns="0" rIns="0" bIns="0" rtlCol="0" anchor="ctr"/>
          <a:lstStyle/>
          <a:p>
            <a:pPr algn="ctr" indent="0" marL="0">
              <a:buNone/>
            </a:pPr>
            <a:r>
              <a:rPr lang="en-US" sz="3200" b="1" dirty="0">
                <a:solidFill>
                  <a:srgbClr val="FFFFFF"/>
                </a:solidFill>
              </a:rPr>
              <a:t>T</a:t>
            </a:r>
            <a:endParaRPr lang="en-US" sz="3200" dirty="0"/>
          </a:p>
        </p:txBody>
      </p:sp>
      <p:sp>
        <p:nvSpPr>
          <p:cNvPr id="16" name="Shape 13"/>
          <p:cNvSpPr/>
          <p:nvPr/>
        </p:nvSpPr>
        <p:spPr>
          <a:xfrm>
            <a:off x="7744968" y="1097280"/>
            <a:ext cx="1005840" cy="256032"/>
          </a:xfrm>
          <a:prstGeom prst="rect">
            <a:avLst/>
          </a:prstGeom>
          <a:solidFill>
            <a:srgbClr val="8B0000"/>
          </a:solidFill>
          <a:ln/>
        </p:spPr>
      </p:sp>
      <p:sp>
        <p:nvSpPr>
          <p:cNvPr id="17" name="Text 14"/>
          <p:cNvSpPr/>
          <p:nvPr/>
        </p:nvSpPr>
        <p:spPr>
          <a:xfrm>
            <a:off x="7744968" y="1097280"/>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rPr>
              <a:t>CRITICAL</a:t>
            </a:r>
            <a:endParaRPr lang="en-US" sz="800" dirty="0"/>
          </a:p>
        </p:txBody>
      </p:sp>
      <p:sp>
        <p:nvSpPr>
          <p:cNvPr id="18" name="Text 15"/>
          <p:cNvSpPr/>
          <p:nvPr/>
        </p:nvSpPr>
        <p:spPr>
          <a:xfrm>
            <a:off x="5340096" y="1078992"/>
            <a:ext cx="2286000" cy="256032"/>
          </a:xfrm>
          <a:prstGeom prst="rect">
            <a:avLst/>
          </a:prstGeom>
          <a:noFill/>
          <a:ln/>
        </p:spPr>
        <p:txBody>
          <a:bodyPr wrap="square" lIns="0" tIns="0" rIns="0" bIns="0" rtlCol="0" anchor="ctr"/>
          <a:lstStyle/>
          <a:p>
            <a:pPr indent="0" marL="0">
              <a:buNone/>
            </a:pPr>
            <a:r>
              <a:rPr lang="en-US" sz="1200" b="1" dirty="0">
                <a:solidFill>
                  <a:srgbClr val="8B1A1A"/>
                </a:solidFill>
                <a:latin typeface="Calibri" pitchFamily="34" charset="0"/>
                <a:ea typeface="Calibri" pitchFamily="34" charset="-122"/>
                <a:cs typeface="Calibri" pitchFamily="34" charset="-120"/>
              </a:rPr>
              <a:t>Tampering</a:t>
            </a:r>
            <a:endParaRPr lang="en-US" sz="1200" dirty="0"/>
          </a:p>
        </p:txBody>
      </p:sp>
      <p:sp>
        <p:nvSpPr>
          <p:cNvPr id="19" name="Text 16"/>
          <p:cNvSpPr/>
          <p:nvPr/>
        </p:nvSpPr>
        <p:spPr>
          <a:xfrm>
            <a:off x="5340096" y="1325880"/>
            <a:ext cx="3383280" cy="201168"/>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Unauthorized modification of data</a:t>
            </a:r>
            <a:endParaRPr lang="en-US" sz="850" dirty="0"/>
          </a:p>
        </p:txBody>
      </p:sp>
      <p:sp>
        <p:nvSpPr>
          <p:cNvPr id="20" name="Text 17"/>
          <p:cNvSpPr/>
          <p:nvPr/>
        </p:nvSpPr>
        <p:spPr>
          <a:xfrm>
            <a:off x="5340096" y="1536192"/>
            <a:ext cx="3383280" cy="59436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Insecure File Upload — attacker uploads malicious files; SQL Injection mutates records directly</a:t>
            </a:r>
            <a:endParaRPr lang="en-US" sz="850" dirty="0"/>
          </a:p>
        </p:txBody>
      </p:sp>
      <p:sp>
        <p:nvSpPr>
          <p:cNvPr id="21" name="Shape 18"/>
          <p:cNvSpPr/>
          <p:nvPr/>
        </p:nvSpPr>
        <p:spPr>
          <a:xfrm>
            <a:off x="228600" y="2350008"/>
            <a:ext cx="4206240" cy="1207008"/>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22" name="Shape 19"/>
          <p:cNvSpPr/>
          <p:nvPr/>
        </p:nvSpPr>
        <p:spPr>
          <a:xfrm>
            <a:off x="228600" y="2350008"/>
            <a:ext cx="566928" cy="1207008"/>
          </a:xfrm>
          <a:prstGeom prst="rect">
            <a:avLst/>
          </a:prstGeom>
          <a:solidFill>
            <a:srgbClr val="E67E22"/>
          </a:solidFill>
          <a:ln/>
        </p:spPr>
      </p:sp>
      <p:sp>
        <p:nvSpPr>
          <p:cNvPr id="23" name="Text 20"/>
          <p:cNvSpPr/>
          <p:nvPr/>
        </p:nvSpPr>
        <p:spPr>
          <a:xfrm>
            <a:off x="228600" y="2350008"/>
            <a:ext cx="566928" cy="1207008"/>
          </a:xfrm>
          <a:prstGeom prst="rect">
            <a:avLst/>
          </a:prstGeom>
          <a:noFill/>
          <a:ln/>
        </p:spPr>
        <p:txBody>
          <a:bodyPr wrap="square" lIns="0" tIns="0" rIns="0" bIns="0" rtlCol="0" anchor="ctr"/>
          <a:lstStyle/>
          <a:p>
            <a:pPr algn="ctr" indent="0" marL="0">
              <a:buNone/>
            </a:pPr>
            <a:r>
              <a:rPr lang="en-US" sz="3200" b="1" dirty="0">
                <a:solidFill>
                  <a:srgbClr val="FFFFFF"/>
                </a:solidFill>
              </a:rPr>
              <a:t>R</a:t>
            </a:r>
            <a:endParaRPr lang="en-US" sz="3200" dirty="0"/>
          </a:p>
        </p:txBody>
      </p:sp>
      <p:sp>
        <p:nvSpPr>
          <p:cNvPr id="24" name="Shape 21"/>
          <p:cNvSpPr/>
          <p:nvPr/>
        </p:nvSpPr>
        <p:spPr>
          <a:xfrm>
            <a:off x="3291840" y="2423160"/>
            <a:ext cx="1005840" cy="256032"/>
          </a:xfrm>
          <a:prstGeom prst="rect">
            <a:avLst/>
          </a:prstGeom>
          <a:solidFill>
            <a:srgbClr val="E67E22"/>
          </a:solidFill>
          <a:ln/>
        </p:spPr>
      </p:sp>
      <p:sp>
        <p:nvSpPr>
          <p:cNvPr id="25" name="Text 22"/>
          <p:cNvSpPr/>
          <p:nvPr/>
        </p:nvSpPr>
        <p:spPr>
          <a:xfrm>
            <a:off x="3291840" y="2423160"/>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rPr>
              <a:t>MEDIUM</a:t>
            </a:r>
            <a:endParaRPr lang="en-US" sz="800" dirty="0"/>
          </a:p>
        </p:txBody>
      </p:sp>
      <p:sp>
        <p:nvSpPr>
          <p:cNvPr id="26" name="Text 23"/>
          <p:cNvSpPr/>
          <p:nvPr/>
        </p:nvSpPr>
        <p:spPr>
          <a:xfrm>
            <a:off x="886968" y="2404872"/>
            <a:ext cx="2286000" cy="256032"/>
          </a:xfrm>
          <a:prstGeom prst="rect">
            <a:avLst/>
          </a:prstGeom>
          <a:noFill/>
          <a:ln/>
        </p:spPr>
        <p:txBody>
          <a:bodyPr wrap="square" lIns="0" tIns="0" rIns="0" bIns="0" rtlCol="0" anchor="ctr"/>
          <a:lstStyle/>
          <a:p>
            <a:pPr indent="0" marL="0">
              <a:buNone/>
            </a:pPr>
            <a:r>
              <a:rPr lang="en-US" sz="1200" b="1" dirty="0">
                <a:solidFill>
                  <a:srgbClr val="E67E22"/>
                </a:solidFill>
                <a:latin typeface="Calibri" pitchFamily="34" charset="0"/>
                <a:ea typeface="Calibri" pitchFamily="34" charset="-122"/>
                <a:cs typeface="Calibri" pitchFamily="34" charset="-120"/>
              </a:rPr>
              <a:t>Repudiation</a:t>
            </a:r>
            <a:endParaRPr lang="en-US" sz="1200" dirty="0"/>
          </a:p>
        </p:txBody>
      </p:sp>
      <p:sp>
        <p:nvSpPr>
          <p:cNvPr id="27" name="Text 24"/>
          <p:cNvSpPr/>
          <p:nvPr/>
        </p:nvSpPr>
        <p:spPr>
          <a:xfrm>
            <a:off x="886968" y="2651760"/>
            <a:ext cx="3383280" cy="201168"/>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Denying an action was taken</a:t>
            </a:r>
            <a:endParaRPr lang="en-US" sz="850" dirty="0"/>
          </a:p>
        </p:txBody>
      </p:sp>
      <p:sp>
        <p:nvSpPr>
          <p:cNvPr id="28" name="Text 25"/>
          <p:cNvSpPr/>
          <p:nvPr/>
        </p:nvSpPr>
        <p:spPr>
          <a:xfrm>
            <a:off x="886968" y="2862072"/>
            <a:ext cx="3383280" cy="59436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No Logging — no audit trail means attackers can deny malicious activity</a:t>
            </a:r>
            <a:endParaRPr lang="en-US" sz="850" dirty="0"/>
          </a:p>
        </p:txBody>
      </p:sp>
      <p:sp>
        <p:nvSpPr>
          <p:cNvPr id="29" name="Shape 26"/>
          <p:cNvSpPr/>
          <p:nvPr/>
        </p:nvSpPr>
        <p:spPr>
          <a:xfrm>
            <a:off x="4681728" y="2350008"/>
            <a:ext cx="4206240" cy="1207008"/>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30" name="Shape 27"/>
          <p:cNvSpPr/>
          <p:nvPr/>
        </p:nvSpPr>
        <p:spPr>
          <a:xfrm>
            <a:off x="4681728" y="2350008"/>
            <a:ext cx="566928" cy="1207008"/>
          </a:xfrm>
          <a:prstGeom prst="rect">
            <a:avLst/>
          </a:prstGeom>
          <a:solidFill>
            <a:srgbClr val="4A6FA5"/>
          </a:solidFill>
          <a:ln/>
        </p:spPr>
      </p:sp>
      <p:sp>
        <p:nvSpPr>
          <p:cNvPr id="31" name="Text 28"/>
          <p:cNvSpPr/>
          <p:nvPr/>
        </p:nvSpPr>
        <p:spPr>
          <a:xfrm>
            <a:off x="4681728" y="2350008"/>
            <a:ext cx="566928" cy="1207008"/>
          </a:xfrm>
          <a:prstGeom prst="rect">
            <a:avLst/>
          </a:prstGeom>
          <a:noFill/>
          <a:ln/>
        </p:spPr>
        <p:txBody>
          <a:bodyPr wrap="square" lIns="0" tIns="0" rIns="0" bIns="0" rtlCol="0" anchor="ctr"/>
          <a:lstStyle/>
          <a:p>
            <a:pPr algn="ctr" indent="0" marL="0">
              <a:buNone/>
            </a:pPr>
            <a:r>
              <a:rPr lang="en-US" sz="3200" b="1" dirty="0">
                <a:solidFill>
                  <a:srgbClr val="FFFFFF"/>
                </a:solidFill>
              </a:rPr>
              <a:t>I</a:t>
            </a:r>
            <a:endParaRPr lang="en-US" sz="3200" dirty="0"/>
          </a:p>
        </p:txBody>
      </p:sp>
      <p:sp>
        <p:nvSpPr>
          <p:cNvPr id="32" name="Shape 29"/>
          <p:cNvSpPr/>
          <p:nvPr/>
        </p:nvSpPr>
        <p:spPr>
          <a:xfrm>
            <a:off x="7744968" y="2423160"/>
            <a:ext cx="1005840" cy="256032"/>
          </a:xfrm>
          <a:prstGeom prst="rect">
            <a:avLst/>
          </a:prstGeom>
          <a:solidFill>
            <a:srgbClr val="C0392B"/>
          </a:solidFill>
          <a:ln/>
        </p:spPr>
      </p:sp>
      <p:sp>
        <p:nvSpPr>
          <p:cNvPr id="33" name="Text 30"/>
          <p:cNvSpPr/>
          <p:nvPr/>
        </p:nvSpPr>
        <p:spPr>
          <a:xfrm>
            <a:off x="7744968" y="2423160"/>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rPr>
              <a:t>HIGH</a:t>
            </a:r>
            <a:endParaRPr lang="en-US" sz="800" dirty="0"/>
          </a:p>
        </p:txBody>
      </p:sp>
      <p:sp>
        <p:nvSpPr>
          <p:cNvPr id="34" name="Text 31"/>
          <p:cNvSpPr/>
          <p:nvPr/>
        </p:nvSpPr>
        <p:spPr>
          <a:xfrm>
            <a:off x="5340096" y="2404872"/>
            <a:ext cx="2286000" cy="256032"/>
          </a:xfrm>
          <a:prstGeom prst="rect">
            <a:avLst/>
          </a:prstGeom>
          <a:noFill/>
          <a:ln/>
        </p:spPr>
        <p:txBody>
          <a:bodyPr wrap="square" lIns="0" tIns="0" rIns="0" bIns="0" rtlCol="0" anchor="ctr"/>
          <a:lstStyle/>
          <a:p>
            <a:pPr indent="0" marL="0">
              <a:buNone/>
            </a:pPr>
            <a:r>
              <a:rPr lang="en-US" sz="1200" b="1" dirty="0">
                <a:solidFill>
                  <a:srgbClr val="4A6FA5"/>
                </a:solidFill>
                <a:latin typeface="Calibri" pitchFamily="34" charset="0"/>
                <a:ea typeface="Calibri" pitchFamily="34" charset="-122"/>
                <a:cs typeface="Calibri" pitchFamily="34" charset="-120"/>
              </a:rPr>
              <a:t>Information Disclosure</a:t>
            </a:r>
            <a:endParaRPr lang="en-US" sz="1200" dirty="0"/>
          </a:p>
        </p:txBody>
      </p:sp>
      <p:sp>
        <p:nvSpPr>
          <p:cNvPr id="35" name="Text 32"/>
          <p:cNvSpPr/>
          <p:nvPr/>
        </p:nvSpPr>
        <p:spPr>
          <a:xfrm>
            <a:off x="5340096" y="2651760"/>
            <a:ext cx="3383280" cy="201168"/>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Exposure of sensitive data</a:t>
            </a:r>
            <a:endParaRPr lang="en-US" sz="850" dirty="0"/>
          </a:p>
        </p:txBody>
      </p:sp>
      <p:sp>
        <p:nvSpPr>
          <p:cNvPr id="36" name="Text 33"/>
          <p:cNvSpPr/>
          <p:nvPr/>
        </p:nvSpPr>
        <p:spPr>
          <a:xfrm>
            <a:off x="5340096" y="2862072"/>
            <a:ext cx="3383280" cy="59436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SQL Injection + Data Exposure — student PII, grades, IDs leaked in raw API responses</a:t>
            </a:r>
            <a:endParaRPr lang="en-US" sz="850" dirty="0"/>
          </a:p>
        </p:txBody>
      </p:sp>
      <p:sp>
        <p:nvSpPr>
          <p:cNvPr id="37" name="Shape 34"/>
          <p:cNvSpPr/>
          <p:nvPr/>
        </p:nvSpPr>
        <p:spPr>
          <a:xfrm>
            <a:off x="228600" y="3675888"/>
            <a:ext cx="4206240" cy="1207008"/>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38" name="Shape 35"/>
          <p:cNvSpPr/>
          <p:nvPr/>
        </p:nvSpPr>
        <p:spPr>
          <a:xfrm>
            <a:off x="228600" y="3675888"/>
            <a:ext cx="566928" cy="1207008"/>
          </a:xfrm>
          <a:prstGeom prst="rect">
            <a:avLst/>
          </a:prstGeom>
          <a:solidFill>
            <a:srgbClr val="2C5282"/>
          </a:solidFill>
          <a:ln/>
        </p:spPr>
      </p:sp>
      <p:sp>
        <p:nvSpPr>
          <p:cNvPr id="39" name="Text 36"/>
          <p:cNvSpPr/>
          <p:nvPr/>
        </p:nvSpPr>
        <p:spPr>
          <a:xfrm>
            <a:off x="228600" y="3675888"/>
            <a:ext cx="566928" cy="1207008"/>
          </a:xfrm>
          <a:prstGeom prst="rect">
            <a:avLst/>
          </a:prstGeom>
          <a:noFill/>
          <a:ln/>
        </p:spPr>
        <p:txBody>
          <a:bodyPr wrap="square" lIns="0" tIns="0" rIns="0" bIns="0" rtlCol="0" anchor="ctr"/>
          <a:lstStyle/>
          <a:p>
            <a:pPr algn="ctr" indent="0" marL="0">
              <a:buNone/>
            </a:pPr>
            <a:r>
              <a:rPr lang="en-US" sz="3200" b="1" dirty="0">
                <a:solidFill>
                  <a:srgbClr val="FFFFFF"/>
                </a:solidFill>
              </a:rPr>
              <a:t>D</a:t>
            </a:r>
            <a:endParaRPr lang="en-US" sz="3200" dirty="0"/>
          </a:p>
        </p:txBody>
      </p:sp>
      <p:sp>
        <p:nvSpPr>
          <p:cNvPr id="40" name="Shape 37"/>
          <p:cNvSpPr/>
          <p:nvPr/>
        </p:nvSpPr>
        <p:spPr>
          <a:xfrm>
            <a:off x="3291840" y="3749040"/>
            <a:ext cx="1005840" cy="256032"/>
          </a:xfrm>
          <a:prstGeom prst="rect">
            <a:avLst/>
          </a:prstGeom>
          <a:solidFill>
            <a:srgbClr val="E67E22"/>
          </a:solidFill>
          <a:ln/>
        </p:spPr>
      </p:sp>
      <p:sp>
        <p:nvSpPr>
          <p:cNvPr id="41" name="Text 38"/>
          <p:cNvSpPr/>
          <p:nvPr/>
        </p:nvSpPr>
        <p:spPr>
          <a:xfrm>
            <a:off x="3291840" y="3749040"/>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rPr>
              <a:t>MEDIUM</a:t>
            </a:r>
            <a:endParaRPr lang="en-US" sz="800" dirty="0"/>
          </a:p>
        </p:txBody>
      </p:sp>
      <p:sp>
        <p:nvSpPr>
          <p:cNvPr id="42" name="Text 39"/>
          <p:cNvSpPr/>
          <p:nvPr/>
        </p:nvSpPr>
        <p:spPr>
          <a:xfrm>
            <a:off x="886968" y="3730752"/>
            <a:ext cx="2286000" cy="256032"/>
          </a:xfrm>
          <a:prstGeom prst="rect">
            <a:avLst/>
          </a:prstGeom>
          <a:noFill/>
          <a:ln/>
        </p:spPr>
        <p:txBody>
          <a:bodyPr wrap="square" lIns="0" tIns="0" rIns="0" bIns="0" rtlCol="0" anchor="ctr"/>
          <a:lstStyle/>
          <a:p>
            <a:pPr indent="0" marL="0">
              <a:buNone/>
            </a:pPr>
            <a:r>
              <a:rPr lang="en-US" sz="1200" b="1" dirty="0">
                <a:solidFill>
                  <a:srgbClr val="2C5282"/>
                </a:solidFill>
                <a:latin typeface="Calibri" pitchFamily="34" charset="0"/>
                <a:ea typeface="Calibri" pitchFamily="34" charset="-122"/>
                <a:cs typeface="Calibri" pitchFamily="34" charset="-120"/>
              </a:rPr>
              <a:t>Denial of Service</a:t>
            </a:r>
            <a:endParaRPr lang="en-US" sz="1200" dirty="0"/>
          </a:p>
        </p:txBody>
      </p:sp>
      <p:sp>
        <p:nvSpPr>
          <p:cNvPr id="43" name="Text 40"/>
          <p:cNvSpPr/>
          <p:nvPr/>
        </p:nvSpPr>
        <p:spPr>
          <a:xfrm>
            <a:off x="886968" y="3977640"/>
            <a:ext cx="3383280" cy="201168"/>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Making system unavailable</a:t>
            </a:r>
            <a:endParaRPr lang="en-US" sz="850" dirty="0"/>
          </a:p>
        </p:txBody>
      </p:sp>
      <p:sp>
        <p:nvSpPr>
          <p:cNvPr id="44" name="Text 41"/>
          <p:cNvSpPr/>
          <p:nvPr/>
        </p:nvSpPr>
        <p:spPr>
          <a:xfrm>
            <a:off x="886968" y="4187952"/>
            <a:ext cx="3383280" cy="59436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Login Flooding — no rate limiting allows unlimited requests, crashing the server</a:t>
            </a:r>
            <a:endParaRPr lang="en-US" sz="850" dirty="0"/>
          </a:p>
        </p:txBody>
      </p:sp>
      <p:sp>
        <p:nvSpPr>
          <p:cNvPr id="45" name="Shape 42"/>
          <p:cNvSpPr/>
          <p:nvPr/>
        </p:nvSpPr>
        <p:spPr>
          <a:xfrm>
            <a:off x="4681728" y="3675888"/>
            <a:ext cx="4206240" cy="1207008"/>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46" name="Shape 43"/>
          <p:cNvSpPr/>
          <p:nvPr/>
        </p:nvSpPr>
        <p:spPr>
          <a:xfrm>
            <a:off x="4681728" y="3675888"/>
            <a:ext cx="566928" cy="1207008"/>
          </a:xfrm>
          <a:prstGeom prst="rect">
            <a:avLst/>
          </a:prstGeom>
          <a:solidFill>
            <a:srgbClr val="1A5C1A"/>
          </a:solidFill>
          <a:ln/>
        </p:spPr>
      </p:sp>
      <p:sp>
        <p:nvSpPr>
          <p:cNvPr id="47" name="Text 44"/>
          <p:cNvSpPr/>
          <p:nvPr/>
        </p:nvSpPr>
        <p:spPr>
          <a:xfrm>
            <a:off x="4681728" y="3675888"/>
            <a:ext cx="566928" cy="1207008"/>
          </a:xfrm>
          <a:prstGeom prst="rect">
            <a:avLst/>
          </a:prstGeom>
          <a:noFill/>
          <a:ln/>
        </p:spPr>
        <p:txBody>
          <a:bodyPr wrap="square" lIns="0" tIns="0" rIns="0" bIns="0" rtlCol="0" anchor="ctr"/>
          <a:lstStyle/>
          <a:p>
            <a:pPr algn="ctr" indent="0" marL="0">
              <a:buNone/>
            </a:pPr>
            <a:r>
              <a:rPr lang="en-US" sz="3200" b="1" dirty="0">
                <a:solidFill>
                  <a:srgbClr val="FFFFFF"/>
                </a:solidFill>
              </a:rPr>
              <a:t>E</a:t>
            </a:r>
            <a:endParaRPr lang="en-US" sz="3200" dirty="0"/>
          </a:p>
        </p:txBody>
      </p:sp>
      <p:sp>
        <p:nvSpPr>
          <p:cNvPr id="48" name="Shape 45"/>
          <p:cNvSpPr/>
          <p:nvPr/>
        </p:nvSpPr>
        <p:spPr>
          <a:xfrm>
            <a:off x="7744968" y="3749040"/>
            <a:ext cx="1005840" cy="256032"/>
          </a:xfrm>
          <a:prstGeom prst="rect">
            <a:avLst/>
          </a:prstGeom>
          <a:solidFill>
            <a:srgbClr val="C0392B"/>
          </a:solidFill>
          <a:ln/>
        </p:spPr>
      </p:sp>
      <p:sp>
        <p:nvSpPr>
          <p:cNvPr id="49" name="Text 46"/>
          <p:cNvSpPr/>
          <p:nvPr/>
        </p:nvSpPr>
        <p:spPr>
          <a:xfrm>
            <a:off x="7744968" y="3749040"/>
            <a:ext cx="1005840" cy="256032"/>
          </a:xfrm>
          <a:prstGeom prst="rect">
            <a:avLst/>
          </a:prstGeom>
          <a:noFill/>
          <a:ln/>
        </p:spPr>
        <p:txBody>
          <a:bodyPr wrap="square" lIns="0" tIns="0" rIns="0" bIns="0" rtlCol="0" anchor="ctr"/>
          <a:lstStyle/>
          <a:p>
            <a:pPr algn="ctr" indent="0" marL="0">
              <a:buNone/>
            </a:pPr>
            <a:r>
              <a:rPr lang="en-US" sz="800" b="1" dirty="0">
                <a:solidFill>
                  <a:srgbClr val="FFFFFF"/>
                </a:solidFill>
              </a:rPr>
              <a:t>HIGH</a:t>
            </a:r>
            <a:endParaRPr lang="en-US" sz="800" dirty="0"/>
          </a:p>
        </p:txBody>
      </p:sp>
      <p:sp>
        <p:nvSpPr>
          <p:cNvPr id="50" name="Text 47"/>
          <p:cNvSpPr/>
          <p:nvPr/>
        </p:nvSpPr>
        <p:spPr>
          <a:xfrm>
            <a:off x="5340096" y="3730752"/>
            <a:ext cx="2286000" cy="256032"/>
          </a:xfrm>
          <a:prstGeom prst="rect">
            <a:avLst/>
          </a:prstGeom>
          <a:noFill/>
          <a:ln/>
        </p:spPr>
        <p:txBody>
          <a:bodyPr wrap="square" lIns="0" tIns="0" rIns="0" bIns="0" rtlCol="0" anchor="ctr"/>
          <a:lstStyle/>
          <a:p>
            <a:pPr indent="0" marL="0">
              <a:buNone/>
            </a:pPr>
            <a:r>
              <a:rPr lang="en-US" sz="1200" b="1" dirty="0">
                <a:solidFill>
                  <a:srgbClr val="1A5C1A"/>
                </a:solidFill>
                <a:latin typeface="Calibri" pitchFamily="34" charset="0"/>
                <a:ea typeface="Calibri" pitchFamily="34" charset="-122"/>
                <a:cs typeface="Calibri" pitchFamily="34" charset="-120"/>
              </a:rPr>
              <a:t>Elevation of Privilege</a:t>
            </a:r>
            <a:endParaRPr lang="en-US" sz="1200" dirty="0"/>
          </a:p>
        </p:txBody>
      </p:sp>
      <p:sp>
        <p:nvSpPr>
          <p:cNvPr id="51" name="Text 48"/>
          <p:cNvSpPr/>
          <p:nvPr/>
        </p:nvSpPr>
        <p:spPr>
          <a:xfrm>
            <a:off x="5340096" y="3977640"/>
            <a:ext cx="3383280" cy="201168"/>
          </a:xfrm>
          <a:prstGeom prst="rect">
            <a:avLst/>
          </a:prstGeom>
          <a:noFill/>
          <a:ln/>
        </p:spPr>
        <p:txBody>
          <a:bodyPr wrap="square" lIns="0" tIns="0" rIns="0" bIns="0" rtlCol="0" anchor="ctr"/>
          <a:lstStyle/>
          <a:p>
            <a:pPr indent="0" marL="0">
              <a:buNone/>
            </a:pPr>
            <a:r>
              <a:rPr lang="en-US" sz="850" i="1" dirty="0">
                <a:solidFill>
                  <a:srgbClr val="718096"/>
                </a:solidFill>
                <a:latin typeface="Calibri" pitchFamily="34" charset="0"/>
                <a:ea typeface="Calibri" pitchFamily="34" charset="-122"/>
                <a:cs typeface="Calibri" pitchFamily="34" charset="-120"/>
              </a:rPr>
              <a:t>Gaining unauthorized permissions</a:t>
            </a:r>
            <a:endParaRPr lang="en-US" sz="850" dirty="0"/>
          </a:p>
        </p:txBody>
      </p:sp>
      <p:sp>
        <p:nvSpPr>
          <p:cNvPr id="52" name="Text 49"/>
          <p:cNvSpPr/>
          <p:nvPr/>
        </p:nvSpPr>
        <p:spPr>
          <a:xfrm>
            <a:off x="5340096" y="4187952"/>
            <a:ext cx="3383280" cy="59436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No Privilege Checks — any authenticated user can access admin-only routes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77724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6: Risk Quantification (ALE Model)</a:t>
            </a:r>
            <a:endParaRPr lang="en-US" sz="2400" dirty="0"/>
          </a:p>
        </p:txBody>
      </p:sp>
      <p:sp>
        <p:nvSpPr>
          <p:cNvPr id="5" name="Shape 2"/>
          <p:cNvSpPr/>
          <p:nvPr/>
        </p:nvSpPr>
        <p:spPr>
          <a:xfrm>
            <a:off x="274320" y="1005840"/>
            <a:ext cx="8595360" cy="658368"/>
          </a:xfrm>
          <a:prstGeom prst="rect">
            <a:avLst/>
          </a:prstGeom>
          <a:solidFill>
            <a:srgbClr val="E8F1FA"/>
          </a:solidFill>
          <a:ln/>
          <a:effectLst>
            <a:outerShdw sx="100000" sy="100000" kx="0" ky="0" algn="bl" rotWithShape="0" blurRad="63500" dist="25400" dir="8100000">
              <a:srgbClr val="000000">
                <a:alpha val="8000"/>
              </a:srgbClr>
            </a:outerShdw>
          </a:effectLst>
        </p:spPr>
      </p:sp>
      <p:sp>
        <p:nvSpPr>
          <p:cNvPr id="6" name="Text 3"/>
          <p:cNvSpPr/>
          <p:nvPr/>
        </p:nvSpPr>
        <p:spPr>
          <a:xfrm>
            <a:off x="457200" y="1051560"/>
            <a:ext cx="8229600" cy="548640"/>
          </a:xfrm>
          <a:prstGeom prst="rect">
            <a:avLst/>
          </a:prstGeom>
          <a:noFill/>
          <a:ln/>
        </p:spPr>
        <p:txBody>
          <a:bodyPr wrap="square" rtlCol="0" anchor="ctr"/>
          <a:lstStyle/>
          <a:p>
            <a:pPr algn="ctr" indent="0" marL="0">
              <a:buNone/>
            </a:pPr>
            <a:r>
              <a:rPr lang="en-US" sz="1800" b="1" dirty="0">
                <a:solidFill>
                  <a:srgbClr val="1B3A5C"/>
                </a:solidFill>
              </a:rPr>
              <a:t>ALE</a:t>
            </a:r>
            <a:pPr algn="ctr" indent="0" marL="0">
              <a:buNone/>
            </a:pPr>
            <a:r>
              <a:rPr lang="en-US" sz="1600" dirty="0">
                <a:solidFill>
                  <a:srgbClr val="2D3748"/>
                </a:solidFill>
              </a:rPr>
              <a:t>  =  </a:t>
            </a:r>
            <a:pPr algn="ctr" indent="0" marL="0">
              <a:buNone/>
            </a:pPr>
            <a:r>
              <a:rPr lang="en-US" sz="1800" b="1" dirty="0">
                <a:solidFill>
                  <a:srgbClr val="4A6FA5"/>
                </a:solidFill>
              </a:rPr>
              <a:t>AV</a:t>
            </a:r>
            <a:pPr algn="ctr" indent="0" marL="0">
              <a:buNone/>
            </a:pPr>
            <a:r>
              <a:rPr lang="en-US" sz="1300" dirty="0">
                <a:solidFill>
                  <a:srgbClr val="2D3748"/>
                </a:solidFill>
              </a:rPr>
              <a:t> (Asset Value)  ×  </a:t>
            </a:r>
            <a:pPr algn="ctr" indent="0" marL="0">
              <a:buNone/>
            </a:pPr>
            <a:r>
              <a:rPr lang="en-US" sz="1800" b="1" dirty="0">
                <a:solidFill>
                  <a:srgbClr val="E67E22"/>
                </a:solidFill>
              </a:rPr>
              <a:t>EF</a:t>
            </a:r>
            <a:pPr algn="ctr" indent="0" marL="0">
              <a:buNone/>
            </a:pPr>
            <a:r>
              <a:rPr lang="en-US" sz="1300" dirty="0">
                <a:solidFill>
                  <a:srgbClr val="2D3748"/>
                </a:solidFill>
              </a:rPr>
              <a:t> (Exposure Factor)  ×  </a:t>
            </a:r>
            <a:pPr algn="ctr" indent="0" marL="0">
              <a:buNone/>
            </a:pPr>
            <a:r>
              <a:rPr lang="en-US" sz="1800" b="1" dirty="0">
                <a:solidFill>
                  <a:srgbClr val="C0392B"/>
                </a:solidFill>
              </a:rPr>
              <a:t>ARO</a:t>
            </a:r>
            <a:pPr algn="ctr" indent="0" marL="0">
              <a:buNone/>
            </a:pPr>
            <a:r>
              <a:rPr lang="en-US" sz="1300" dirty="0">
                <a:solidFill>
                  <a:srgbClr val="2D3748"/>
                </a:solidFill>
              </a:rPr>
              <a:t> (Annualized Rate of Occurrence)</a:t>
            </a:r>
            <a:endParaRPr lang="en-US" sz="1800" dirty="0"/>
          </a:p>
        </p:txBody>
      </p:sp>
      <p:sp>
        <p:nvSpPr>
          <p:cNvPr id="7" name="Shape 4"/>
          <p:cNvSpPr/>
          <p:nvPr/>
        </p:nvSpPr>
        <p:spPr>
          <a:xfrm>
            <a:off x="274320" y="1801368"/>
            <a:ext cx="4160520" cy="30632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8" name="Shape 5"/>
          <p:cNvSpPr/>
          <p:nvPr/>
        </p:nvSpPr>
        <p:spPr>
          <a:xfrm>
            <a:off x="274320" y="1801368"/>
            <a:ext cx="4160520" cy="384048"/>
          </a:xfrm>
          <a:prstGeom prst="rect">
            <a:avLst/>
          </a:prstGeom>
          <a:solidFill>
            <a:srgbClr val="8B0000"/>
          </a:solidFill>
          <a:ln/>
        </p:spPr>
      </p:sp>
      <p:pic>
        <p:nvPicPr>
          <p:cNvPr id="9" name="Image 1" descr="preencoded.png">    </p:cNvPr>
          <p:cNvPicPr>
            <a:picLocks noChangeAspect="1"/>
          </p:cNvPicPr>
          <p:nvPr/>
        </p:nvPicPr>
        <p:blipFill>
          <a:blip r:embed="rId2"/>
          <a:stretch>
            <a:fillRect/>
          </a:stretch>
        </p:blipFill>
        <p:spPr>
          <a:xfrm>
            <a:off x="384048" y="1856232"/>
            <a:ext cx="320040" cy="320040"/>
          </a:xfrm>
          <a:prstGeom prst="rect">
            <a:avLst/>
          </a:prstGeom>
        </p:spPr>
      </p:pic>
      <p:sp>
        <p:nvSpPr>
          <p:cNvPr id="10" name="Text 6"/>
          <p:cNvSpPr/>
          <p:nvPr/>
        </p:nvSpPr>
        <p:spPr>
          <a:xfrm>
            <a:off x="795528" y="1801368"/>
            <a:ext cx="35204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SQL Injection Risk</a:t>
            </a:r>
            <a:endParaRPr lang="en-US" sz="1300" dirty="0"/>
          </a:p>
        </p:txBody>
      </p:sp>
      <p:sp>
        <p:nvSpPr>
          <p:cNvPr id="11" name="Shape 7"/>
          <p:cNvSpPr/>
          <p:nvPr/>
        </p:nvSpPr>
        <p:spPr>
          <a:xfrm>
            <a:off x="411480" y="2304288"/>
            <a:ext cx="3886200" cy="475488"/>
          </a:xfrm>
          <a:prstGeom prst="rect">
            <a:avLst/>
          </a:prstGeom>
          <a:solidFill>
            <a:srgbClr val="F7F9FC"/>
          </a:solidFill>
          <a:ln/>
        </p:spPr>
      </p:sp>
      <p:sp>
        <p:nvSpPr>
          <p:cNvPr id="12" name="Text 8"/>
          <p:cNvSpPr/>
          <p:nvPr/>
        </p:nvSpPr>
        <p:spPr>
          <a:xfrm>
            <a:off x="475488" y="234086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Asset Value (AV)</a:t>
            </a:r>
            <a:endParaRPr lang="en-US" sz="900" dirty="0"/>
          </a:p>
        </p:txBody>
      </p:sp>
      <p:sp>
        <p:nvSpPr>
          <p:cNvPr id="13" name="Text 9"/>
          <p:cNvSpPr/>
          <p:nvPr/>
        </p:nvSpPr>
        <p:spPr>
          <a:xfrm>
            <a:off x="475488" y="255117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Student database + system infrastructure</a:t>
            </a:r>
            <a:endParaRPr lang="en-US" sz="750" dirty="0"/>
          </a:p>
        </p:txBody>
      </p:sp>
      <p:sp>
        <p:nvSpPr>
          <p:cNvPr id="14" name="Shape 10"/>
          <p:cNvSpPr/>
          <p:nvPr/>
        </p:nvSpPr>
        <p:spPr>
          <a:xfrm>
            <a:off x="2651760" y="2377440"/>
            <a:ext cx="1508760" cy="310896"/>
          </a:xfrm>
          <a:prstGeom prst="rect">
            <a:avLst/>
          </a:prstGeom>
          <a:solidFill>
            <a:srgbClr val="1B3A5C"/>
          </a:solidFill>
          <a:ln/>
        </p:spPr>
      </p:sp>
      <p:sp>
        <p:nvSpPr>
          <p:cNvPr id="15" name="Text 11"/>
          <p:cNvSpPr/>
          <p:nvPr/>
        </p:nvSpPr>
        <p:spPr>
          <a:xfrm>
            <a:off x="2651760" y="237744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$100,000</a:t>
            </a:r>
            <a:endParaRPr lang="en-US" sz="1200" dirty="0"/>
          </a:p>
        </p:txBody>
      </p:sp>
      <p:sp>
        <p:nvSpPr>
          <p:cNvPr id="16" name="Shape 12"/>
          <p:cNvSpPr/>
          <p:nvPr/>
        </p:nvSpPr>
        <p:spPr>
          <a:xfrm>
            <a:off x="411480" y="2852928"/>
            <a:ext cx="3886200" cy="475488"/>
          </a:xfrm>
          <a:prstGeom prst="rect">
            <a:avLst/>
          </a:prstGeom>
          <a:solidFill>
            <a:srgbClr val="FFFFFF"/>
          </a:solidFill>
          <a:ln/>
        </p:spPr>
      </p:sp>
      <p:sp>
        <p:nvSpPr>
          <p:cNvPr id="17" name="Text 13"/>
          <p:cNvSpPr/>
          <p:nvPr/>
        </p:nvSpPr>
        <p:spPr>
          <a:xfrm>
            <a:off x="475488" y="288950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Exposure Factor (EF)</a:t>
            </a:r>
            <a:endParaRPr lang="en-US" sz="900" dirty="0"/>
          </a:p>
        </p:txBody>
      </p:sp>
      <p:sp>
        <p:nvSpPr>
          <p:cNvPr id="18" name="Text 14"/>
          <p:cNvSpPr/>
          <p:nvPr/>
        </p:nvSpPr>
        <p:spPr>
          <a:xfrm>
            <a:off x="475488" y="309981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40% of records exposed per incident</a:t>
            </a:r>
            <a:endParaRPr lang="en-US" sz="750" dirty="0"/>
          </a:p>
        </p:txBody>
      </p:sp>
      <p:sp>
        <p:nvSpPr>
          <p:cNvPr id="19" name="Shape 15"/>
          <p:cNvSpPr/>
          <p:nvPr/>
        </p:nvSpPr>
        <p:spPr>
          <a:xfrm>
            <a:off x="2651760" y="2926080"/>
            <a:ext cx="1508760" cy="310896"/>
          </a:xfrm>
          <a:prstGeom prst="rect">
            <a:avLst/>
          </a:prstGeom>
          <a:solidFill>
            <a:srgbClr val="4A6FA5"/>
          </a:solidFill>
          <a:ln/>
        </p:spPr>
      </p:sp>
      <p:sp>
        <p:nvSpPr>
          <p:cNvPr id="20" name="Text 16"/>
          <p:cNvSpPr/>
          <p:nvPr/>
        </p:nvSpPr>
        <p:spPr>
          <a:xfrm>
            <a:off x="2651760" y="292608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40%</a:t>
            </a:r>
            <a:endParaRPr lang="en-US" sz="1200" dirty="0"/>
          </a:p>
        </p:txBody>
      </p:sp>
      <p:sp>
        <p:nvSpPr>
          <p:cNvPr id="21" name="Shape 17"/>
          <p:cNvSpPr/>
          <p:nvPr/>
        </p:nvSpPr>
        <p:spPr>
          <a:xfrm>
            <a:off x="411480" y="3401568"/>
            <a:ext cx="3886200" cy="475488"/>
          </a:xfrm>
          <a:prstGeom prst="rect">
            <a:avLst/>
          </a:prstGeom>
          <a:solidFill>
            <a:srgbClr val="F7F9FC"/>
          </a:solidFill>
          <a:ln/>
        </p:spPr>
      </p:sp>
      <p:sp>
        <p:nvSpPr>
          <p:cNvPr id="22" name="Text 18"/>
          <p:cNvSpPr/>
          <p:nvPr/>
        </p:nvSpPr>
        <p:spPr>
          <a:xfrm>
            <a:off x="475488" y="343814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Rate of Occurrence (ARO)</a:t>
            </a:r>
            <a:endParaRPr lang="en-US" sz="900" dirty="0"/>
          </a:p>
        </p:txBody>
      </p:sp>
      <p:sp>
        <p:nvSpPr>
          <p:cNvPr id="23" name="Text 19"/>
          <p:cNvSpPr/>
          <p:nvPr/>
        </p:nvSpPr>
        <p:spPr>
          <a:xfrm>
            <a:off x="475488" y="364845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Once per year (realistic for unpatched SQLi)</a:t>
            </a:r>
            <a:endParaRPr lang="en-US" sz="750" dirty="0"/>
          </a:p>
        </p:txBody>
      </p:sp>
      <p:sp>
        <p:nvSpPr>
          <p:cNvPr id="24" name="Shape 20"/>
          <p:cNvSpPr/>
          <p:nvPr/>
        </p:nvSpPr>
        <p:spPr>
          <a:xfrm>
            <a:off x="2651760" y="3474720"/>
            <a:ext cx="1508760" cy="310896"/>
          </a:xfrm>
          <a:prstGeom prst="rect">
            <a:avLst/>
          </a:prstGeom>
          <a:solidFill>
            <a:srgbClr val="E67E22"/>
          </a:solidFill>
          <a:ln/>
        </p:spPr>
      </p:sp>
      <p:sp>
        <p:nvSpPr>
          <p:cNvPr id="25" name="Text 21"/>
          <p:cNvSpPr/>
          <p:nvPr/>
        </p:nvSpPr>
        <p:spPr>
          <a:xfrm>
            <a:off x="2651760" y="347472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26" name="Shape 22"/>
          <p:cNvSpPr/>
          <p:nvPr/>
        </p:nvSpPr>
        <p:spPr>
          <a:xfrm>
            <a:off x="411480" y="3950208"/>
            <a:ext cx="3886200" cy="475488"/>
          </a:xfrm>
          <a:prstGeom prst="rect">
            <a:avLst/>
          </a:prstGeom>
          <a:solidFill>
            <a:srgbClr val="FFFFFF"/>
          </a:solidFill>
          <a:ln/>
        </p:spPr>
      </p:sp>
      <p:sp>
        <p:nvSpPr>
          <p:cNvPr id="27" name="Text 23"/>
          <p:cNvSpPr/>
          <p:nvPr/>
        </p:nvSpPr>
        <p:spPr>
          <a:xfrm>
            <a:off x="475488" y="398678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Single Loss Expectancy</a:t>
            </a:r>
            <a:endParaRPr lang="en-US" sz="900" dirty="0"/>
          </a:p>
        </p:txBody>
      </p:sp>
      <p:sp>
        <p:nvSpPr>
          <p:cNvPr id="28" name="Text 24"/>
          <p:cNvSpPr/>
          <p:nvPr/>
        </p:nvSpPr>
        <p:spPr>
          <a:xfrm>
            <a:off x="475488" y="419709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AV × EF = $100K × 0.40</a:t>
            </a:r>
            <a:endParaRPr lang="en-US" sz="750" dirty="0"/>
          </a:p>
        </p:txBody>
      </p:sp>
      <p:sp>
        <p:nvSpPr>
          <p:cNvPr id="29" name="Shape 25"/>
          <p:cNvSpPr/>
          <p:nvPr/>
        </p:nvSpPr>
        <p:spPr>
          <a:xfrm>
            <a:off x="2651760" y="4023360"/>
            <a:ext cx="1508760" cy="310896"/>
          </a:xfrm>
          <a:prstGeom prst="rect">
            <a:avLst/>
          </a:prstGeom>
          <a:solidFill>
            <a:srgbClr val="C0392B"/>
          </a:solidFill>
          <a:ln/>
        </p:spPr>
      </p:sp>
      <p:sp>
        <p:nvSpPr>
          <p:cNvPr id="30" name="Text 26"/>
          <p:cNvSpPr/>
          <p:nvPr/>
        </p:nvSpPr>
        <p:spPr>
          <a:xfrm>
            <a:off x="2651760" y="402336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$40,000</a:t>
            </a:r>
            <a:endParaRPr lang="en-US" sz="1200" dirty="0"/>
          </a:p>
        </p:txBody>
      </p:sp>
      <p:sp>
        <p:nvSpPr>
          <p:cNvPr id="31" name="Shape 27"/>
          <p:cNvSpPr/>
          <p:nvPr/>
        </p:nvSpPr>
        <p:spPr>
          <a:xfrm>
            <a:off x="411480" y="4507992"/>
            <a:ext cx="3886200" cy="256032"/>
          </a:xfrm>
          <a:prstGeom prst="rect">
            <a:avLst/>
          </a:prstGeom>
          <a:solidFill>
            <a:srgbClr val="8B0000"/>
          </a:solidFill>
          <a:ln/>
        </p:spPr>
      </p:sp>
      <p:sp>
        <p:nvSpPr>
          <p:cNvPr id="32" name="Text 28"/>
          <p:cNvSpPr/>
          <p:nvPr/>
        </p:nvSpPr>
        <p:spPr>
          <a:xfrm>
            <a:off x="411480" y="4507992"/>
            <a:ext cx="3886200" cy="256032"/>
          </a:xfrm>
          <a:prstGeom prst="rect">
            <a:avLst/>
          </a:prstGeom>
          <a:noFill/>
          <a:ln/>
        </p:spPr>
        <p:txBody>
          <a:bodyPr wrap="square" rtlCol="0" anchor="ctr"/>
          <a:lstStyle/>
          <a:p>
            <a:pPr algn="ctr" indent="0" marL="0">
              <a:buNone/>
            </a:pPr>
            <a:r>
              <a:rPr lang="en-US" sz="1100" dirty="0">
                <a:solidFill>
                  <a:srgbClr val="FFFFFF"/>
                </a:solidFill>
              </a:rPr>
              <a:t>ALE (SQL Injection) = </a:t>
            </a:r>
            <a:pPr algn="ctr" indent="0" marL="0">
              <a:buNone/>
            </a:pPr>
            <a:r>
              <a:rPr lang="en-US" sz="1300" b="1" dirty="0">
                <a:solidFill>
                  <a:srgbClr val="FFD0D0"/>
                </a:solidFill>
              </a:rPr>
              <a:t>$40,000 / year</a:t>
            </a:r>
            <a:endParaRPr lang="en-US" sz="1100" dirty="0"/>
          </a:p>
        </p:txBody>
      </p:sp>
      <p:sp>
        <p:nvSpPr>
          <p:cNvPr id="33" name="Shape 29"/>
          <p:cNvSpPr/>
          <p:nvPr/>
        </p:nvSpPr>
        <p:spPr>
          <a:xfrm>
            <a:off x="4709160" y="1801368"/>
            <a:ext cx="4160520" cy="30632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4" name="Shape 30"/>
          <p:cNvSpPr/>
          <p:nvPr/>
        </p:nvSpPr>
        <p:spPr>
          <a:xfrm>
            <a:off x="4709160" y="1801368"/>
            <a:ext cx="4160520" cy="384048"/>
          </a:xfrm>
          <a:prstGeom prst="rect">
            <a:avLst/>
          </a:prstGeom>
          <a:solidFill>
            <a:srgbClr val="2C5282"/>
          </a:solidFill>
          <a:ln/>
        </p:spPr>
      </p:sp>
      <p:pic>
        <p:nvPicPr>
          <p:cNvPr id="35" name="Image 2" descr="preencoded.png">    </p:cNvPr>
          <p:cNvPicPr>
            <a:picLocks noChangeAspect="1"/>
          </p:cNvPicPr>
          <p:nvPr/>
        </p:nvPicPr>
        <p:blipFill>
          <a:blip r:embed="rId3"/>
          <a:stretch>
            <a:fillRect/>
          </a:stretch>
        </p:blipFill>
        <p:spPr>
          <a:xfrm>
            <a:off x="4818888" y="1856232"/>
            <a:ext cx="320040" cy="320040"/>
          </a:xfrm>
          <a:prstGeom prst="rect">
            <a:avLst/>
          </a:prstGeom>
        </p:spPr>
      </p:pic>
      <p:sp>
        <p:nvSpPr>
          <p:cNvPr id="36" name="Text 31"/>
          <p:cNvSpPr/>
          <p:nvPr/>
        </p:nvSpPr>
        <p:spPr>
          <a:xfrm>
            <a:off x="5230368" y="1801368"/>
            <a:ext cx="35204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Login Flooding (DoS) Risk</a:t>
            </a:r>
            <a:endParaRPr lang="en-US" sz="1300" dirty="0"/>
          </a:p>
        </p:txBody>
      </p:sp>
      <p:sp>
        <p:nvSpPr>
          <p:cNvPr id="37" name="Shape 32"/>
          <p:cNvSpPr/>
          <p:nvPr/>
        </p:nvSpPr>
        <p:spPr>
          <a:xfrm>
            <a:off x="4846320" y="2304288"/>
            <a:ext cx="3886200" cy="475488"/>
          </a:xfrm>
          <a:prstGeom prst="rect">
            <a:avLst/>
          </a:prstGeom>
          <a:solidFill>
            <a:srgbClr val="F7F9FC"/>
          </a:solidFill>
          <a:ln/>
        </p:spPr>
      </p:sp>
      <p:sp>
        <p:nvSpPr>
          <p:cNvPr id="38" name="Text 33"/>
          <p:cNvSpPr/>
          <p:nvPr/>
        </p:nvSpPr>
        <p:spPr>
          <a:xfrm>
            <a:off x="4910328" y="234086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Asset Value (AV)</a:t>
            </a:r>
            <a:endParaRPr lang="en-US" sz="900" dirty="0"/>
          </a:p>
        </p:txBody>
      </p:sp>
      <p:sp>
        <p:nvSpPr>
          <p:cNvPr id="39" name="Text 34"/>
          <p:cNvSpPr/>
          <p:nvPr/>
        </p:nvSpPr>
        <p:spPr>
          <a:xfrm>
            <a:off x="4910328" y="255117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Web server + availability cost</a:t>
            </a:r>
            <a:endParaRPr lang="en-US" sz="750" dirty="0"/>
          </a:p>
        </p:txBody>
      </p:sp>
      <p:sp>
        <p:nvSpPr>
          <p:cNvPr id="40" name="Shape 35"/>
          <p:cNvSpPr/>
          <p:nvPr/>
        </p:nvSpPr>
        <p:spPr>
          <a:xfrm>
            <a:off x="7086600" y="2377440"/>
            <a:ext cx="1508760" cy="310896"/>
          </a:xfrm>
          <a:prstGeom prst="rect">
            <a:avLst/>
          </a:prstGeom>
          <a:solidFill>
            <a:srgbClr val="1B3A5C"/>
          </a:solidFill>
          <a:ln/>
        </p:spPr>
      </p:sp>
      <p:sp>
        <p:nvSpPr>
          <p:cNvPr id="41" name="Text 36"/>
          <p:cNvSpPr/>
          <p:nvPr/>
        </p:nvSpPr>
        <p:spPr>
          <a:xfrm>
            <a:off x="7086600" y="237744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$50,000</a:t>
            </a:r>
            <a:endParaRPr lang="en-US" sz="1200" dirty="0"/>
          </a:p>
        </p:txBody>
      </p:sp>
      <p:sp>
        <p:nvSpPr>
          <p:cNvPr id="42" name="Shape 37"/>
          <p:cNvSpPr/>
          <p:nvPr/>
        </p:nvSpPr>
        <p:spPr>
          <a:xfrm>
            <a:off x="4846320" y="2852928"/>
            <a:ext cx="3886200" cy="475488"/>
          </a:xfrm>
          <a:prstGeom prst="rect">
            <a:avLst/>
          </a:prstGeom>
          <a:solidFill>
            <a:srgbClr val="FFFFFF"/>
          </a:solidFill>
          <a:ln/>
        </p:spPr>
      </p:sp>
      <p:sp>
        <p:nvSpPr>
          <p:cNvPr id="43" name="Text 38"/>
          <p:cNvSpPr/>
          <p:nvPr/>
        </p:nvSpPr>
        <p:spPr>
          <a:xfrm>
            <a:off x="4910328" y="288950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Exposure Factor (EF)</a:t>
            </a:r>
            <a:endParaRPr lang="en-US" sz="900" dirty="0"/>
          </a:p>
        </p:txBody>
      </p:sp>
      <p:sp>
        <p:nvSpPr>
          <p:cNvPr id="44" name="Text 39"/>
          <p:cNvSpPr/>
          <p:nvPr/>
        </p:nvSpPr>
        <p:spPr>
          <a:xfrm>
            <a:off x="4910328" y="309981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~4hr downtime per 10hr day = 40%</a:t>
            </a:r>
            <a:endParaRPr lang="en-US" sz="750" dirty="0"/>
          </a:p>
        </p:txBody>
      </p:sp>
      <p:sp>
        <p:nvSpPr>
          <p:cNvPr id="45" name="Shape 40"/>
          <p:cNvSpPr/>
          <p:nvPr/>
        </p:nvSpPr>
        <p:spPr>
          <a:xfrm>
            <a:off x="7086600" y="2926080"/>
            <a:ext cx="1508760" cy="310896"/>
          </a:xfrm>
          <a:prstGeom prst="rect">
            <a:avLst/>
          </a:prstGeom>
          <a:solidFill>
            <a:srgbClr val="4A6FA5"/>
          </a:solidFill>
          <a:ln/>
        </p:spPr>
      </p:sp>
      <p:sp>
        <p:nvSpPr>
          <p:cNvPr id="46" name="Text 41"/>
          <p:cNvSpPr/>
          <p:nvPr/>
        </p:nvSpPr>
        <p:spPr>
          <a:xfrm>
            <a:off x="7086600" y="292608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40%</a:t>
            </a:r>
            <a:endParaRPr lang="en-US" sz="1200" dirty="0"/>
          </a:p>
        </p:txBody>
      </p:sp>
      <p:sp>
        <p:nvSpPr>
          <p:cNvPr id="47" name="Shape 42"/>
          <p:cNvSpPr/>
          <p:nvPr/>
        </p:nvSpPr>
        <p:spPr>
          <a:xfrm>
            <a:off x="4846320" y="3401568"/>
            <a:ext cx="3886200" cy="475488"/>
          </a:xfrm>
          <a:prstGeom prst="rect">
            <a:avLst/>
          </a:prstGeom>
          <a:solidFill>
            <a:srgbClr val="F7F9FC"/>
          </a:solidFill>
          <a:ln/>
        </p:spPr>
      </p:sp>
      <p:sp>
        <p:nvSpPr>
          <p:cNvPr id="48" name="Text 43"/>
          <p:cNvSpPr/>
          <p:nvPr/>
        </p:nvSpPr>
        <p:spPr>
          <a:xfrm>
            <a:off x="4910328" y="343814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Rate of Occurrence (ARO)</a:t>
            </a:r>
            <a:endParaRPr lang="en-US" sz="900" dirty="0"/>
          </a:p>
        </p:txBody>
      </p:sp>
      <p:sp>
        <p:nvSpPr>
          <p:cNvPr id="49" name="Text 44"/>
          <p:cNvSpPr/>
          <p:nvPr/>
        </p:nvSpPr>
        <p:spPr>
          <a:xfrm>
            <a:off x="4910328" y="364845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Once every 2 years (scripted attacks)</a:t>
            </a:r>
            <a:endParaRPr lang="en-US" sz="750" dirty="0"/>
          </a:p>
        </p:txBody>
      </p:sp>
      <p:sp>
        <p:nvSpPr>
          <p:cNvPr id="50" name="Shape 45"/>
          <p:cNvSpPr/>
          <p:nvPr/>
        </p:nvSpPr>
        <p:spPr>
          <a:xfrm>
            <a:off x="7086600" y="3474720"/>
            <a:ext cx="1508760" cy="310896"/>
          </a:xfrm>
          <a:prstGeom prst="rect">
            <a:avLst/>
          </a:prstGeom>
          <a:solidFill>
            <a:srgbClr val="E67E22"/>
          </a:solidFill>
          <a:ln/>
        </p:spPr>
      </p:sp>
      <p:sp>
        <p:nvSpPr>
          <p:cNvPr id="51" name="Text 46"/>
          <p:cNvSpPr/>
          <p:nvPr/>
        </p:nvSpPr>
        <p:spPr>
          <a:xfrm>
            <a:off x="7086600" y="347472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0.5×</a:t>
            </a:r>
            <a:endParaRPr lang="en-US" sz="1200" dirty="0"/>
          </a:p>
        </p:txBody>
      </p:sp>
      <p:sp>
        <p:nvSpPr>
          <p:cNvPr id="52" name="Shape 47"/>
          <p:cNvSpPr/>
          <p:nvPr/>
        </p:nvSpPr>
        <p:spPr>
          <a:xfrm>
            <a:off x="4846320" y="3950208"/>
            <a:ext cx="3886200" cy="475488"/>
          </a:xfrm>
          <a:prstGeom prst="rect">
            <a:avLst/>
          </a:prstGeom>
          <a:solidFill>
            <a:srgbClr val="FFFFFF"/>
          </a:solidFill>
          <a:ln/>
        </p:spPr>
      </p:sp>
      <p:sp>
        <p:nvSpPr>
          <p:cNvPr id="53" name="Text 48"/>
          <p:cNvSpPr/>
          <p:nvPr/>
        </p:nvSpPr>
        <p:spPr>
          <a:xfrm>
            <a:off x="4910328" y="3986784"/>
            <a:ext cx="2011680" cy="201168"/>
          </a:xfrm>
          <a:prstGeom prst="rect">
            <a:avLst/>
          </a:prstGeom>
          <a:noFill/>
          <a:ln/>
        </p:spPr>
        <p:txBody>
          <a:bodyPr wrap="square" lIns="0" tIns="0" rIns="0" bIns="0" rtlCol="0" anchor="ctr"/>
          <a:lstStyle/>
          <a:p>
            <a:pPr indent="0" marL="0">
              <a:buNone/>
            </a:pPr>
            <a:r>
              <a:rPr lang="en-US" sz="900" b="1" dirty="0">
                <a:solidFill>
                  <a:srgbClr val="2D3748"/>
                </a:solidFill>
                <a:latin typeface="Calibri" pitchFamily="34" charset="0"/>
                <a:ea typeface="Calibri" pitchFamily="34" charset="-122"/>
                <a:cs typeface="Calibri" pitchFamily="34" charset="-120"/>
              </a:rPr>
              <a:t>Single Loss Expectancy</a:t>
            </a:r>
            <a:endParaRPr lang="en-US" sz="900" dirty="0"/>
          </a:p>
        </p:txBody>
      </p:sp>
      <p:sp>
        <p:nvSpPr>
          <p:cNvPr id="54" name="Text 49"/>
          <p:cNvSpPr/>
          <p:nvPr/>
        </p:nvSpPr>
        <p:spPr>
          <a:xfrm>
            <a:off x="4910328" y="4197096"/>
            <a:ext cx="2011680" cy="182880"/>
          </a:xfrm>
          <a:prstGeom prst="rect">
            <a:avLst/>
          </a:prstGeom>
          <a:noFill/>
          <a:ln/>
        </p:spPr>
        <p:txBody>
          <a:bodyPr wrap="square" lIns="0" tIns="0" rIns="0" bIns="0" rtlCol="0" anchor="ctr"/>
          <a:lstStyle/>
          <a:p>
            <a:pPr indent="0" marL="0">
              <a:buNone/>
            </a:pPr>
            <a:r>
              <a:rPr lang="en-US" sz="750" i="1" dirty="0">
                <a:solidFill>
                  <a:srgbClr val="718096"/>
                </a:solidFill>
                <a:latin typeface="Calibri" pitchFamily="34" charset="0"/>
                <a:ea typeface="Calibri" pitchFamily="34" charset="-122"/>
                <a:cs typeface="Calibri" pitchFamily="34" charset="-120"/>
              </a:rPr>
              <a:t>AV × EF = $50K × 0.40</a:t>
            </a:r>
            <a:endParaRPr lang="en-US" sz="750" dirty="0"/>
          </a:p>
        </p:txBody>
      </p:sp>
      <p:sp>
        <p:nvSpPr>
          <p:cNvPr id="55" name="Shape 50"/>
          <p:cNvSpPr/>
          <p:nvPr/>
        </p:nvSpPr>
        <p:spPr>
          <a:xfrm>
            <a:off x="7086600" y="4023360"/>
            <a:ext cx="1508760" cy="310896"/>
          </a:xfrm>
          <a:prstGeom prst="rect">
            <a:avLst/>
          </a:prstGeom>
          <a:solidFill>
            <a:srgbClr val="2C5282"/>
          </a:solidFill>
          <a:ln/>
        </p:spPr>
      </p:sp>
      <p:sp>
        <p:nvSpPr>
          <p:cNvPr id="56" name="Text 51"/>
          <p:cNvSpPr/>
          <p:nvPr/>
        </p:nvSpPr>
        <p:spPr>
          <a:xfrm>
            <a:off x="7086600" y="4023360"/>
            <a:ext cx="1508760" cy="310896"/>
          </a:xfrm>
          <a:prstGeom prst="rect">
            <a:avLst/>
          </a:prstGeom>
          <a:noFill/>
          <a:ln/>
        </p:spPr>
        <p:txBody>
          <a:bodyPr wrap="square" lIns="0" tIns="0" rIns="0" bIns="0" rtlCol="0" anchor="ctr"/>
          <a:lstStyle/>
          <a:p>
            <a:pPr algn="ctr" indent="0" marL="0">
              <a:buNone/>
            </a:pPr>
            <a:r>
              <a:rPr lang="en-US" sz="1200" b="1" dirty="0">
                <a:solidFill>
                  <a:srgbClr val="FFFFFF"/>
                </a:solidFill>
              </a:rPr>
              <a:t>$20,000</a:t>
            </a:r>
            <a:endParaRPr lang="en-US" sz="1200" dirty="0"/>
          </a:p>
        </p:txBody>
      </p:sp>
      <p:sp>
        <p:nvSpPr>
          <p:cNvPr id="57" name="Shape 52"/>
          <p:cNvSpPr/>
          <p:nvPr/>
        </p:nvSpPr>
        <p:spPr>
          <a:xfrm>
            <a:off x="4846320" y="4507992"/>
            <a:ext cx="3886200" cy="256032"/>
          </a:xfrm>
          <a:prstGeom prst="rect">
            <a:avLst/>
          </a:prstGeom>
          <a:solidFill>
            <a:srgbClr val="2C5282"/>
          </a:solidFill>
          <a:ln/>
        </p:spPr>
      </p:sp>
      <p:sp>
        <p:nvSpPr>
          <p:cNvPr id="58" name="Text 53"/>
          <p:cNvSpPr/>
          <p:nvPr/>
        </p:nvSpPr>
        <p:spPr>
          <a:xfrm>
            <a:off x="4846320" y="4507992"/>
            <a:ext cx="3886200" cy="256032"/>
          </a:xfrm>
          <a:prstGeom prst="rect">
            <a:avLst/>
          </a:prstGeom>
          <a:noFill/>
          <a:ln/>
        </p:spPr>
        <p:txBody>
          <a:bodyPr wrap="square" rtlCol="0" anchor="ctr"/>
          <a:lstStyle/>
          <a:p>
            <a:pPr algn="ctr" indent="0" marL="0">
              <a:buNone/>
            </a:pPr>
            <a:r>
              <a:rPr lang="en-US" sz="1100" dirty="0">
                <a:solidFill>
                  <a:srgbClr val="FFFFFF"/>
                </a:solidFill>
              </a:rPr>
              <a:t>ALE (DoS) = SLE × ARO = </a:t>
            </a:r>
            <a:pPr algn="ctr" indent="0" marL="0">
              <a:buNone/>
            </a:pPr>
            <a:r>
              <a:rPr lang="en-US" sz="1300" b="1" dirty="0">
                <a:solidFill>
                  <a:srgbClr val="D0E8FF"/>
                </a:solidFill>
              </a:rPr>
              <a:t>$10,000 / year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7A4A"/>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77724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7: Secure Code Remediation</a:t>
            </a:r>
            <a:endParaRPr lang="en-US" sz="2400" dirty="0"/>
          </a:p>
        </p:txBody>
      </p:sp>
      <p:sp>
        <p:nvSpPr>
          <p:cNvPr id="5" name="Shape 2"/>
          <p:cNvSpPr/>
          <p:nvPr/>
        </p:nvSpPr>
        <p:spPr>
          <a:xfrm>
            <a:off x="228600" y="1024128"/>
            <a:ext cx="8686800" cy="73152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6" name="Shape 3"/>
          <p:cNvSpPr/>
          <p:nvPr/>
        </p:nvSpPr>
        <p:spPr>
          <a:xfrm>
            <a:off x="228600" y="1024128"/>
            <a:ext cx="164592" cy="731520"/>
          </a:xfrm>
          <a:prstGeom prst="rect">
            <a:avLst/>
          </a:prstGeom>
          <a:solidFill>
            <a:srgbClr val="8B0000"/>
          </a:solidFill>
          <a:ln/>
        </p:spPr>
      </p:sp>
      <p:sp>
        <p:nvSpPr>
          <p:cNvPr id="7" name="Shape 4"/>
          <p:cNvSpPr/>
          <p:nvPr/>
        </p:nvSpPr>
        <p:spPr>
          <a:xfrm>
            <a:off x="7223760" y="1097280"/>
            <a:ext cx="1554480" cy="228600"/>
          </a:xfrm>
          <a:prstGeom prst="rect">
            <a:avLst/>
          </a:prstGeom>
          <a:solidFill>
            <a:srgbClr val="1A7A4A"/>
          </a:solidFill>
          <a:ln/>
        </p:spPr>
      </p:sp>
      <p:sp>
        <p:nvSpPr>
          <p:cNvPr id="8" name="Text 5"/>
          <p:cNvSpPr/>
          <p:nvPr/>
        </p:nvSpPr>
        <p:spPr>
          <a:xfrm>
            <a:off x="7223760" y="1097280"/>
            <a:ext cx="1554480" cy="228600"/>
          </a:xfrm>
          <a:prstGeom prst="rect">
            <a:avLst/>
          </a:prstGeom>
          <a:noFill/>
          <a:ln/>
        </p:spPr>
        <p:txBody>
          <a:bodyPr wrap="square" lIns="0" tIns="0" rIns="0" bIns="0" rtlCol="0" anchor="ctr"/>
          <a:lstStyle/>
          <a:p>
            <a:pPr algn="ctr" indent="0" marL="0">
              <a:buNone/>
            </a:pPr>
            <a:r>
              <a:rPr lang="en-US" sz="800" b="1" dirty="0">
                <a:solidFill>
                  <a:srgbClr val="FFFFFF"/>
                </a:solidFill>
              </a:rPr>
              <a:t>Parameterized Queries</a:t>
            </a:r>
            <a:endParaRPr lang="en-US" sz="800" dirty="0"/>
          </a:p>
        </p:txBody>
      </p:sp>
      <p:sp>
        <p:nvSpPr>
          <p:cNvPr id="9" name="Text 6"/>
          <p:cNvSpPr/>
          <p:nvPr/>
        </p:nvSpPr>
        <p:spPr>
          <a:xfrm>
            <a:off x="502920" y="1078992"/>
            <a:ext cx="2011680" cy="219456"/>
          </a:xfrm>
          <a:prstGeom prst="rect">
            <a:avLst/>
          </a:prstGeom>
          <a:noFill/>
          <a:ln/>
        </p:spPr>
        <p:txBody>
          <a:bodyPr wrap="square" lIns="0" tIns="0" rIns="0" bIns="0" rtlCol="0" anchor="ctr"/>
          <a:lstStyle/>
          <a:p>
            <a:pPr indent="0" marL="0">
              <a:buNone/>
            </a:pPr>
            <a:r>
              <a:rPr lang="en-US" sz="1100" b="1" dirty="0">
                <a:solidFill>
                  <a:srgbClr val="8B0000"/>
                </a:solidFill>
                <a:latin typeface="Calibri" pitchFamily="34" charset="0"/>
                <a:ea typeface="Calibri" pitchFamily="34" charset="-122"/>
                <a:cs typeface="Calibri" pitchFamily="34" charset="-120"/>
              </a:rPr>
              <a:t>SQL Injection</a:t>
            </a:r>
            <a:endParaRPr lang="en-US" sz="1100" dirty="0"/>
          </a:p>
        </p:txBody>
      </p:sp>
      <p:sp>
        <p:nvSpPr>
          <p:cNvPr id="10" name="Shape 7"/>
          <p:cNvSpPr/>
          <p:nvPr/>
        </p:nvSpPr>
        <p:spPr>
          <a:xfrm>
            <a:off x="2651760" y="1060704"/>
            <a:ext cx="2148840" cy="658368"/>
          </a:xfrm>
          <a:prstGeom prst="rect">
            <a:avLst/>
          </a:prstGeom>
          <a:solidFill>
            <a:srgbClr val="FFF0F0"/>
          </a:solidFill>
          <a:ln/>
        </p:spPr>
      </p:sp>
      <p:sp>
        <p:nvSpPr>
          <p:cNvPr id="11" name="Text 8"/>
          <p:cNvSpPr/>
          <p:nvPr/>
        </p:nvSpPr>
        <p:spPr>
          <a:xfrm>
            <a:off x="2697480" y="1060704"/>
            <a:ext cx="594360" cy="164592"/>
          </a:xfrm>
          <a:prstGeom prst="rect">
            <a:avLst/>
          </a:prstGeom>
          <a:noFill/>
          <a:ln/>
        </p:spPr>
        <p:txBody>
          <a:bodyPr wrap="square" lIns="0" tIns="0" rIns="0" bIns="0" rtlCol="0" anchor="ctr"/>
          <a:lstStyle/>
          <a:p>
            <a:pPr indent="0" marL="0">
              <a:buNone/>
            </a:pPr>
            <a:r>
              <a:rPr lang="en-US" sz="700" b="1" dirty="0">
                <a:solidFill>
                  <a:srgbClr val="8B0000"/>
                </a:solidFill>
              </a:rPr>
              <a:t>BEFORE:</a:t>
            </a:r>
            <a:endParaRPr lang="en-US" sz="700" dirty="0"/>
          </a:p>
        </p:txBody>
      </p:sp>
      <p:sp>
        <p:nvSpPr>
          <p:cNvPr id="12" name="Text 9"/>
          <p:cNvSpPr/>
          <p:nvPr/>
        </p:nvSpPr>
        <p:spPr>
          <a:xfrm>
            <a:off x="2697480" y="1225296"/>
            <a:ext cx="2057400" cy="457200"/>
          </a:xfrm>
          <a:prstGeom prst="rect">
            <a:avLst/>
          </a:prstGeom>
          <a:noFill/>
          <a:ln/>
        </p:spPr>
        <p:txBody>
          <a:bodyPr wrap="square" lIns="0" tIns="0" rIns="0" bIns="0" rtlCol="0" anchor="ctr"/>
          <a:lstStyle/>
          <a:p>
            <a:pPr indent="0" marL="0">
              <a:buNone/>
            </a:pPr>
            <a:r>
              <a:rPr lang="en-US" sz="700" dirty="0">
                <a:solidFill>
                  <a:srgbClr val="8B0000"/>
                </a:solidFill>
                <a:latin typeface="Consolas" pitchFamily="34" charset="0"/>
                <a:ea typeface="Consolas" pitchFamily="34" charset="-122"/>
                <a:cs typeface="Consolas" pitchFamily="34" charset="-120"/>
              </a:rPr>
              <a:t>query = f"SELECT * FROM students WHERE id={user_input}"</a:t>
            </a:r>
            <a:endParaRPr lang="en-US" sz="700" dirty="0"/>
          </a:p>
        </p:txBody>
      </p:sp>
      <p:sp>
        <p:nvSpPr>
          <p:cNvPr id="13" name="Shape 10"/>
          <p:cNvSpPr/>
          <p:nvPr/>
        </p:nvSpPr>
        <p:spPr>
          <a:xfrm>
            <a:off x="4892040" y="1060704"/>
            <a:ext cx="2240280" cy="658368"/>
          </a:xfrm>
          <a:prstGeom prst="rect">
            <a:avLst/>
          </a:prstGeom>
          <a:solidFill>
            <a:srgbClr val="F0FFF4"/>
          </a:solidFill>
          <a:ln/>
        </p:spPr>
      </p:sp>
      <p:sp>
        <p:nvSpPr>
          <p:cNvPr id="14" name="Text 11"/>
          <p:cNvSpPr/>
          <p:nvPr/>
        </p:nvSpPr>
        <p:spPr>
          <a:xfrm>
            <a:off x="4937760" y="1060704"/>
            <a:ext cx="548640" cy="164592"/>
          </a:xfrm>
          <a:prstGeom prst="rect">
            <a:avLst/>
          </a:prstGeom>
          <a:noFill/>
          <a:ln/>
        </p:spPr>
        <p:txBody>
          <a:bodyPr wrap="square" lIns="0" tIns="0" rIns="0" bIns="0" rtlCol="0" anchor="ctr"/>
          <a:lstStyle/>
          <a:p>
            <a:pPr indent="0" marL="0">
              <a:buNone/>
            </a:pPr>
            <a:r>
              <a:rPr lang="en-US" sz="700" b="1" dirty="0">
                <a:solidFill>
                  <a:srgbClr val="1A7A4A"/>
                </a:solidFill>
              </a:rPr>
              <a:t>AFTER:</a:t>
            </a:r>
            <a:endParaRPr lang="en-US" sz="700" dirty="0"/>
          </a:p>
        </p:txBody>
      </p:sp>
      <p:sp>
        <p:nvSpPr>
          <p:cNvPr id="15" name="Text 12"/>
          <p:cNvSpPr/>
          <p:nvPr/>
        </p:nvSpPr>
        <p:spPr>
          <a:xfrm>
            <a:off x="4937760" y="1225296"/>
            <a:ext cx="2148840" cy="457200"/>
          </a:xfrm>
          <a:prstGeom prst="rect">
            <a:avLst/>
          </a:prstGeom>
          <a:noFill/>
          <a:ln/>
        </p:spPr>
        <p:txBody>
          <a:bodyPr wrap="square" lIns="0" tIns="0" rIns="0" bIns="0" rtlCol="0" anchor="ctr"/>
          <a:lstStyle/>
          <a:p>
            <a:pPr indent="0" marL="0">
              <a:buNone/>
            </a:pPr>
            <a:r>
              <a:rPr lang="en-US" sz="700" dirty="0">
                <a:solidFill>
                  <a:srgbClr val="1A7A4A"/>
                </a:solidFill>
                <a:latin typeface="Consolas" pitchFamily="34" charset="0"/>
                <a:ea typeface="Consolas" pitchFamily="34" charset="-122"/>
                <a:cs typeface="Consolas" pitchFamily="34" charset="-120"/>
              </a:rPr>
              <a:t>cursor.execute("SELECT * FROM students WHERE id=?", (user_input,))</a:t>
            </a:r>
            <a:endParaRPr lang="en-US" sz="700" dirty="0"/>
          </a:p>
        </p:txBody>
      </p:sp>
      <p:sp>
        <p:nvSpPr>
          <p:cNvPr id="16" name="Shape 13"/>
          <p:cNvSpPr/>
          <p:nvPr/>
        </p:nvSpPr>
        <p:spPr>
          <a:xfrm>
            <a:off x="228600" y="1828800"/>
            <a:ext cx="8686800" cy="73152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17" name="Shape 14"/>
          <p:cNvSpPr/>
          <p:nvPr/>
        </p:nvSpPr>
        <p:spPr>
          <a:xfrm>
            <a:off x="228600" y="1828800"/>
            <a:ext cx="164592" cy="731520"/>
          </a:xfrm>
          <a:prstGeom prst="rect">
            <a:avLst/>
          </a:prstGeom>
          <a:solidFill>
            <a:srgbClr val="C0392B"/>
          </a:solidFill>
          <a:ln/>
        </p:spPr>
      </p:sp>
      <p:sp>
        <p:nvSpPr>
          <p:cNvPr id="18" name="Shape 15"/>
          <p:cNvSpPr/>
          <p:nvPr/>
        </p:nvSpPr>
        <p:spPr>
          <a:xfrm>
            <a:off x="7223760" y="1901952"/>
            <a:ext cx="1554480" cy="228600"/>
          </a:xfrm>
          <a:prstGeom prst="rect">
            <a:avLst/>
          </a:prstGeom>
          <a:solidFill>
            <a:srgbClr val="1A7A4A"/>
          </a:solidFill>
          <a:ln/>
        </p:spPr>
      </p:sp>
      <p:sp>
        <p:nvSpPr>
          <p:cNvPr id="19" name="Text 16"/>
          <p:cNvSpPr/>
          <p:nvPr/>
        </p:nvSpPr>
        <p:spPr>
          <a:xfrm>
            <a:off x="7223760" y="1901952"/>
            <a:ext cx="1554480" cy="228600"/>
          </a:xfrm>
          <a:prstGeom prst="rect">
            <a:avLst/>
          </a:prstGeom>
          <a:noFill/>
          <a:ln/>
        </p:spPr>
        <p:txBody>
          <a:bodyPr wrap="square" lIns="0" tIns="0" rIns="0" bIns="0" rtlCol="0" anchor="ctr"/>
          <a:lstStyle/>
          <a:p>
            <a:pPr algn="ctr" indent="0" marL="0">
              <a:buNone/>
            </a:pPr>
            <a:r>
              <a:rPr lang="en-US" sz="800" b="1" dirty="0">
                <a:solidFill>
                  <a:srgbClr val="FFFFFF"/>
                </a:solidFill>
              </a:rPr>
              <a:t>Werkzeug secure_filename()</a:t>
            </a:r>
            <a:endParaRPr lang="en-US" sz="800" dirty="0"/>
          </a:p>
        </p:txBody>
      </p:sp>
      <p:sp>
        <p:nvSpPr>
          <p:cNvPr id="20" name="Text 17"/>
          <p:cNvSpPr/>
          <p:nvPr/>
        </p:nvSpPr>
        <p:spPr>
          <a:xfrm>
            <a:off x="502920" y="1883664"/>
            <a:ext cx="2011680" cy="219456"/>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Insecure File Upload</a:t>
            </a:r>
            <a:endParaRPr lang="en-US" sz="1100" dirty="0"/>
          </a:p>
        </p:txBody>
      </p:sp>
      <p:sp>
        <p:nvSpPr>
          <p:cNvPr id="21" name="Shape 18"/>
          <p:cNvSpPr/>
          <p:nvPr/>
        </p:nvSpPr>
        <p:spPr>
          <a:xfrm>
            <a:off x="2651760" y="1865376"/>
            <a:ext cx="2148840" cy="658368"/>
          </a:xfrm>
          <a:prstGeom prst="rect">
            <a:avLst/>
          </a:prstGeom>
          <a:solidFill>
            <a:srgbClr val="FFF0F0"/>
          </a:solidFill>
          <a:ln/>
        </p:spPr>
      </p:sp>
      <p:sp>
        <p:nvSpPr>
          <p:cNvPr id="22" name="Text 19"/>
          <p:cNvSpPr/>
          <p:nvPr/>
        </p:nvSpPr>
        <p:spPr>
          <a:xfrm>
            <a:off x="2697480" y="1865376"/>
            <a:ext cx="594360" cy="164592"/>
          </a:xfrm>
          <a:prstGeom prst="rect">
            <a:avLst/>
          </a:prstGeom>
          <a:noFill/>
          <a:ln/>
        </p:spPr>
        <p:txBody>
          <a:bodyPr wrap="square" lIns="0" tIns="0" rIns="0" bIns="0" rtlCol="0" anchor="ctr"/>
          <a:lstStyle/>
          <a:p>
            <a:pPr indent="0" marL="0">
              <a:buNone/>
            </a:pPr>
            <a:r>
              <a:rPr lang="en-US" sz="700" b="1" dirty="0">
                <a:solidFill>
                  <a:srgbClr val="C0392B"/>
                </a:solidFill>
              </a:rPr>
              <a:t>BEFORE:</a:t>
            </a:r>
            <a:endParaRPr lang="en-US" sz="700" dirty="0"/>
          </a:p>
        </p:txBody>
      </p:sp>
      <p:sp>
        <p:nvSpPr>
          <p:cNvPr id="23" name="Text 20"/>
          <p:cNvSpPr/>
          <p:nvPr/>
        </p:nvSpPr>
        <p:spPr>
          <a:xfrm>
            <a:off x="2697480" y="2029968"/>
            <a:ext cx="2057400" cy="457200"/>
          </a:xfrm>
          <a:prstGeom prst="rect">
            <a:avLst/>
          </a:prstGeom>
          <a:noFill/>
          <a:ln/>
        </p:spPr>
        <p:txBody>
          <a:bodyPr wrap="square" lIns="0" tIns="0" rIns="0" bIns="0" rtlCol="0" anchor="ctr"/>
          <a:lstStyle/>
          <a:p>
            <a:pPr indent="0" marL="0">
              <a:buNone/>
            </a:pPr>
            <a:r>
              <a:rPr lang="en-US" sz="700" dirty="0">
                <a:solidFill>
                  <a:srgbClr val="C0392B"/>
                </a:solidFill>
                <a:latin typeface="Consolas" pitchFamily="34" charset="0"/>
                <a:ea typeface="Consolas" pitchFamily="34" charset="-122"/>
                <a:cs typeface="Consolas" pitchFamily="34" charset="-120"/>
              </a:rPr>
              <a:t>file.save(os.path.join("uploads", file.filename))</a:t>
            </a:r>
            <a:endParaRPr lang="en-US" sz="700" dirty="0"/>
          </a:p>
        </p:txBody>
      </p:sp>
      <p:sp>
        <p:nvSpPr>
          <p:cNvPr id="24" name="Shape 21"/>
          <p:cNvSpPr/>
          <p:nvPr/>
        </p:nvSpPr>
        <p:spPr>
          <a:xfrm>
            <a:off x="4892040" y="1865376"/>
            <a:ext cx="2240280" cy="658368"/>
          </a:xfrm>
          <a:prstGeom prst="rect">
            <a:avLst/>
          </a:prstGeom>
          <a:solidFill>
            <a:srgbClr val="F0FFF4"/>
          </a:solidFill>
          <a:ln/>
        </p:spPr>
      </p:sp>
      <p:sp>
        <p:nvSpPr>
          <p:cNvPr id="25" name="Text 22"/>
          <p:cNvSpPr/>
          <p:nvPr/>
        </p:nvSpPr>
        <p:spPr>
          <a:xfrm>
            <a:off x="4937760" y="1865376"/>
            <a:ext cx="548640" cy="164592"/>
          </a:xfrm>
          <a:prstGeom prst="rect">
            <a:avLst/>
          </a:prstGeom>
          <a:noFill/>
          <a:ln/>
        </p:spPr>
        <p:txBody>
          <a:bodyPr wrap="square" lIns="0" tIns="0" rIns="0" bIns="0" rtlCol="0" anchor="ctr"/>
          <a:lstStyle/>
          <a:p>
            <a:pPr indent="0" marL="0">
              <a:buNone/>
            </a:pPr>
            <a:r>
              <a:rPr lang="en-US" sz="700" b="1" dirty="0">
                <a:solidFill>
                  <a:srgbClr val="1A7A4A"/>
                </a:solidFill>
              </a:rPr>
              <a:t>AFTER:</a:t>
            </a:r>
            <a:endParaRPr lang="en-US" sz="700" dirty="0"/>
          </a:p>
        </p:txBody>
      </p:sp>
      <p:sp>
        <p:nvSpPr>
          <p:cNvPr id="26" name="Text 23"/>
          <p:cNvSpPr/>
          <p:nvPr/>
        </p:nvSpPr>
        <p:spPr>
          <a:xfrm>
            <a:off x="4937760" y="2029968"/>
            <a:ext cx="2148840" cy="457200"/>
          </a:xfrm>
          <a:prstGeom prst="rect">
            <a:avLst/>
          </a:prstGeom>
          <a:noFill/>
          <a:ln/>
        </p:spPr>
        <p:txBody>
          <a:bodyPr wrap="square" lIns="0" tIns="0" rIns="0" bIns="0" rtlCol="0" anchor="ctr"/>
          <a:lstStyle/>
          <a:p>
            <a:pPr indent="0" marL="0">
              <a:buNone/>
            </a:pPr>
            <a:r>
              <a:rPr lang="en-US" sz="700" dirty="0">
                <a:solidFill>
                  <a:srgbClr val="1A7A4A"/>
                </a:solidFill>
                <a:latin typeface="Consolas" pitchFamily="34" charset="0"/>
                <a:ea typeface="Consolas" pitchFamily="34" charset="-122"/>
                <a:cs typeface="Consolas" pitchFamily="34" charset="-120"/>
              </a:rPr>
              <a:t>filename = secure_filename(file.filename)</a:t>
            </a:r>
            <a:endParaRPr lang="en-US" sz="700" dirty="0"/>
          </a:p>
        </p:txBody>
      </p:sp>
      <p:sp>
        <p:nvSpPr>
          <p:cNvPr id="27" name="Shape 24"/>
          <p:cNvSpPr/>
          <p:nvPr/>
        </p:nvSpPr>
        <p:spPr>
          <a:xfrm>
            <a:off x="228600" y="2633472"/>
            <a:ext cx="8686800" cy="73152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28" name="Shape 25"/>
          <p:cNvSpPr/>
          <p:nvPr/>
        </p:nvSpPr>
        <p:spPr>
          <a:xfrm>
            <a:off x="228600" y="2633472"/>
            <a:ext cx="164592" cy="731520"/>
          </a:xfrm>
          <a:prstGeom prst="rect">
            <a:avLst/>
          </a:prstGeom>
          <a:solidFill>
            <a:srgbClr val="C0392B"/>
          </a:solidFill>
          <a:ln/>
        </p:spPr>
      </p:sp>
      <p:sp>
        <p:nvSpPr>
          <p:cNvPr id="29" name="Shape 26"/>
          <p:cNvSpPr/>
          <p:nvPr/>
        </p:nvSpPr>
        <p:spPr>
          <a:xfrm>
            <a:off x="7223760" y="2706624"/>
            <a:ext cx="1554480" cy="228600"/>
          </a:xfrm>
          <a:prstGeom prst="rect">
            <a:avLst/>
          </a:prstGeom>
          <a:solidFill>
            <a:srgbClr val="1A7A4A"/>
          </a:solidFill>
          <a:ln/>
        </p:spPr>
      </p:sp>
      <p:sp>
        <p:nvSpPr>
          <p:cNvPr id="30" name="Text 27"/>
          <p:cNvSpPr/>
          <p:nvPr/>
        </p:nvSpPr>
        <p:spPr>
          <a:xfrm>
            <a:off x="7223760" y="2706624"/>
            <a:ext cx="1554480" cy="228600"/>
          </a:xfrm>
          <a:prstGeom prst="rect">
            <a:avLst/>
          </a:prstGeom>
          <a:noFill/>
          <a:ln/>
        </p:spPr>
        <p:txBody>
          <a:bodyPr wrap="square" lIns="0" tIns="0" rIns="0" bIns="0" rtlCol="0" anchor="ctr"/>
          <a:lstStyle/>
          <a:p>
            <a:pPr algn="ctr" indent="0" marL="0">
              <a:buNone/>
            </a:pPr>
            <a:r>
              <a:rPr lang="en-US" sz="800" b="1" dirty="0">
                <a:solidFill>
                  <a:srgbClr val="FFFFFF"/>
                </a:solidFill>
              </a:rPr>
              <a:t>bcrypt Cryptographic Hashing</a:t>
            </a:r>
            <a:endParaRPr lang="en-US" sz="800" dirty="0"/>
          </a:p>
        </p:txBody>
      </p:sp>
      <p:sp>
        <p:nvSpPr>
          <p:cNvPr id="31" name="Text 28"/>
          <p:cNvSpPr/>
          <p:nvPr/>
        </p:nvSpPr>
        <p:spPr>
          <a:xfrm>
            <a:off x="502920" y="2688336"/>
            <a:ext cx="2011680" cy="219456"/>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Plaintext Passwords</a:t>
            </a:r>
            <a:endParaRPr lang="en-US" sz="1100" dirty="0"/>
          </a:p>
        </p:txBody>
      </p:sp>
      <p:sp>
        <p:nvSpPr>
          <p:cNvPr id="32" name="Shape 29"/>
          <p:cNvSpPr/>
          <p:nvPr/>
        </p:nvSpPr>
        <p:spPr>
          <a:xfrm>
            <a:off x="2651760" y="2670048"/>
            <a:ext cx="2148840" cy="658368"/>
          </a:xfrm>
          <a:prstGeom prst="rect">
            <a:avLst/>
          </a:prstGeom>
          <a:solidFill>
            <a:srgbClr val="FFF0F0"/>
          </a:solidFill>
          <a:ln/>
        </p:spPr>
      </p:sp>
      <p:sp>
        <p:nvSpPr>
          <p:cNvPr id="33" name="Text 30"/>
          <p:cNvSpPr/>
          <p:nvPr/>
        </p:nvSpPr>
        <p:spPr>
          <a:xfrm>
            <a:off x="2697480" y="2670048"/>
            <a:ext cx="594360" cy="164592"/>
          </a:xfrm>
          <a:prstGeom prst="rect">
            <a:avLst/>
          </a:prstGeom>
          <a:noFill/>
          <a:ln/>
        </p:spPr>
        <p:txBody>
          <a:bodyPr wrap="square" lIns="0" tIns="0" rIns="0" bIns="0" rtlCol="0" anchor="ctr"/>
          <a:lstStyle/>
          <a:p>
            <a:pPr indent="0" marL="0">
              <a:buNone/>
            </a:pPr>
            <a:r>
              <a:rPr lang="en-US" sz="700" b="1" dirty="0">
                <a:solidFill>
                  <a:srgbClr val="C0392B"/>
                </a:solidFill>
              </a:rPr>
              <a:t>BEFORE:</a:t>
            </a:r>
            <a:endParaRPr lang="en-US" sz="700" dirty="0"/>
          </a:p>
        </p:txBody>
      </p:sp>
      <p:sp>
        <p:nvSpPr>
          <p:cNvPr id="34" name="Text 31"/>
          <p:cNvSpPr/>
          <p:nvPr/>
        </p:nvSpPr>
        <p:spPr>
          <a:xfrm>
            <a:off x="2697480" y="2834640"/>
            <a:ext cx="2057400" cy="457200"/>
          </a:xfrm>
          <a:prstGeom prst="rect">
            <a:avLst/>
          </a:prstGeom>
          <a:noFill/>
          <a:ln/>
        </p:spPr>
        <p:txBody>
          <a:bodyPr wrap="square" lIns="0" tIns="0" rIns="0" bIns="0" rtlCol="0" anchor="ctr"/>
          <a:lstStyle/>
          <a:p>
            <a:pPr indent="0" marL="0">
              <a:buNone/>
            </a:pPr>
            <a:r>
              <a:rPr lang="en-US" sz="700" dirty="0">
                <a:solidFill>
                  <a:srgbClr val="C0392B"/>
                </a:solidFill>
                <a:latin typeface="Consolas" pitchFamily="34" charset="0"/>
                <a:ea typeface="Consolas" pitchFamily="34" charset="-122"/>
                <a:cs typeface="Consolas" pitchFamily="34" charset="-120"/>
              </a:rPr>
              <a:t>db.execute(f"INSERT INTO users VALUES ('{pw}')")</a:t>
            </a:r>
            <a:endParaRPr lang="en-US" sz="700" dirty="0"/>
          </a:p>
        </p:txBody>
      </p:sp>
      <p:sp>
        <p:nvSpPr>
          <p:cNvPr id="35" name="Shape 32"/>
          <p:cNvSpPr/>
          <p:nvPr/>
        </p:nvSpPr>
        <p:spPr>
          <a:xfrm>
            <a:off x="4892040" y="2670048"/>
            <a:ext cx="2240280" cy="658368"/>
          </a:xfrm>
          <a:prstGeom prst="rect">
            <a:avLst/>
          </a:prstGeom>
          <a:solidFill>
            <a:srgbClr val="F0FFF4"/>
          </a:solidFill>
          <a:ln/>
        </p:spPr>
      </p:sp>
      <p:sp>
        <p:nvSpPr>
          <p:cNvPr id="36" name="Text 33"/>
          <p:cNvSpPr/>
          <p:nvPr/>
        </p:nvSpPr>
        <p:spPr>
          <a:xfrm>
            <a:off x="4937760" y="2670048"/>
            <a:ext cx="548640" cy="164592"/>
          </a:xfrm>
          <a:prstGeom prst="rect">
            <a:avLst/>
          </a:prstGeom>
          <a:noFill/>
          <a:ln/>
        </p:spPr>
        <p:txBody>
          <a:bodyPr wrap="square" lIns="0" tIns="0" rIns="0" bIns="0" rtlCol="0" anchor="ctr"/>
          <a:lstStyle/>
          <a:p>
            <a:pPr indent="0" marL="0">
              <a:buNone/>
            </a:pPr>
            <a:r>
              <a:rPr lang="en-US" sz="700" b="1" dirty="0">
                <a:solidFill>
                  <a:srgbClr val="1A7A4A"/>
                </a:solidFill>
              </a:rPr>
              <a:t>AFTER:</a:t>
            </a:r>
            <a:endParaRPr lang="en-US" sz="700" dirty="0"/>
          </a:p>
        </p:txBody>
      </p:sp>
      <p:sp>
        <p:nvSpPr>
          <p:cNvPr id="37" name="Text 34"/>
          <p:cNvSpPr/>
          <p:nvPr/>
        </p:nvSpPr>
        <p:spPr>
          <a:xfrm>
            <a:off x="4937760" y="2834640"/>
            <a:ext cx="2148840" cy="457200"/>
          </a:xfrm>
          <a:prstGeom prst="rect">
            <a:avLst/>
          </a:prstGeom>
          <a:noFill/>
          <a:ln/>
        </p:spPr>
        <p:txBody>
          <a:bodyPr wrap="square" lIns="0" tIns="0" rIns="0" bIns="0" rtlCol="0" anchor="ctr"/>
          <a:lstStyle/>
          <a:p>
            <a:pPr indent="0" marL="0">
              <a:buNone/>
            </a:pPr>
            <a:r>
              <a:rPr lang="en-US" sz="700" dirty="0">
                <a:solidFill>
                  <a:srgbClr val="1A7A4A"/>
                </a:solidFill>
                <a:latin typeface="Consolas" pitchFamily="34" charset="0"/>
                <a:ea typeface="Consolas" pitchFamily="34" charset="-122"/>
                <a:cs typeface="Consolas" pitchFamily="34" charset="-120"/>
              </a:rPr>
              <a:t>hashed = bcrypt.hashpw(pw.encode(), bcrypt.gensalt())</a:t>
            </a:r>
            <a:endParaRPr lang="en-US" sz="700" dirty="0"/>
          </a:p>
        </p:txBody>
      </p:sp>
      <p:sp>
        <p:nvSpPr>
          <p:cNvPr id="38" name="Shape 35"/>
          <p:cNvSpPr/>
          <p:nvPr/>
        </p:nvSpPr>
        <p:spPr>
          <a:xfrm>
            <a:off x="228600" y="3438144"/>
            <a:ext cx="8686800" cy="73152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39" name="Shape 36"/>
          <p:cNvSpPr/>
          <p:nvPr/>
        </p:nvSpPr>
        <p:spPr>
          <a:xfrm>
            <a:off x="228600" y="3438144"/>
            <a:ext cx="164592" cy="731520"/>
          </a:xfrm>
          <a:prstGeom prst="rect">
            <a:avLst/>
          </a:prstGeom>
          <a:solidFill>
            <a:srgbClr val="E67E22"/>
          </a:solidFill>
          <a:ln/>
        </p:spPr>
      </p:sp>
      <p:sp>
        <p:nvSpPr>
          <p:cNvPr id="40" name="Shape 37"/>
          <p:cNvSpPr/>
          <p:nvPr/>
        </p:nvSpPr>
        <p:spPr>
          <a:xfrm>
            <a:off x="7223760" y="3511296"/>
            <a:ext cx="1554480" cy="228600"/>
          </a:xfrm>
          <a:prstGeom prst="rect">
            <a:avLst/>
          </a:prstGeom>
          <a:solidFill>
            <a:srgbClr val="1A7A4A"/>
          </a:solidFill>
          <a:ln/>
        </p:spPr>
      </p:sp>
      <p:sp>
        <p:nvSpPr>
          <p:cNvPr id="41" name="Text 38"/>
          <p:cNvSpPr/>
          <p:nvPr/>
        </p:nvSpPr>
        <p:spPr>
          <a:xfrm>
            <a:off x="7223760" y="3511296"/>
            <a:ext cx="1554480" cy="228600"/>
          </a:xfrm>
          <a:prstGeom prst="rect">
            <a:avLst/>
          </a:prstGeom>
          <a:noFill/>
          <a:ln/>
        </p:spPr>
        <p:txBody>
          <a:bodyPr wrap="square" lIns="0" tIns="0" rIns="0" bIns="0" rtlCol="0" anchor="ctr"/>
          <a:lstStyle/>
          <a:p>
            <a:pPr algn="ctr" indent="0" marL="0">
              <a:buNone/>
            </a:pPr>
            <a:r>
              <a:rPr lang="en-US" sz="800" b="1" dirty="0">
                <a:solidFill>
                  <a:srgbClr val="FFFFFF"/>
                </a:solidFill>
              </a:rPr>
              <a:t>Python Native Logging</a:t>
            </a:r>
            <a:endParaRPr lang="en-US" sz="800" dirty="0"/>
          </a:p>
        </p:txBody>
      </p:sp>
      <p:sp>
        <p:nvSpPr>
          <p:cNvPr id="42" name="Text 39"/>
          <p:cNvSpPr/>
          <p:nvPr/>
        </p:nvSpPr>
        <p:spPr>
          <a:xfrm>
            <a:off x="502920" y="3493008"/>
            <a:ext cx="2011680" cy="219456"/>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Missing Logging</a:t>
            </a:r>
            <a:endParaRPr lang="en-US" sz="1100" dirty="0"/>
          </a:p>
        </p:txBody>
      </p:sp>
      <p:sp>
        <p:nvSpPr>
          <p:cNvPr id="43" name="Shape 40"/>
          <p:cNvSpPr/>
          <p:nvPr/>
        </p:nvSpPr>
        <p:spPr>
          <a:xfrm>
            <a:off x="2651760" y="3474720"/>
            <a:ext cx="2148840" cy="658368"/>
          </a:xfrm>
          <a:prstGeom prst="rect">
            <a:avLst/>
          </a:prstGeom>
          <a:solidFill>
            <a:srgbClr val="FFF0F0"/>
          </a:solidFill>
          <a:ln/>
        </p:spPr>
      </p:sp>
      <p:sp>
        <p:nvSpPr>
          <p:cNvPr id="44" name="Text 41"/>
          <p:cNvSpPr/>
          <p:nvPr/>
        </p:nvSpPr>
        <p:spPr>
          <a:xfrm>
            <a:off x="2697480" y="3474720"/>
            <a:ext cx="594360" cy="164592"/>
          </a:xfrm>
          <a:prstGeom prst="rect">
            <a:avLst/>
          </a:prstGeom>
          <a:noFill/>
          <a:ln/>
        </p:spPr>
        <p:txBody>
          <a:bodyPr wrap="square" lIns="0" tIns="0" rIns="0" bIns="0" rtlCol="0" anchor="ctr"/>
          <a:lstStyle/>
          <a:p>
            <a:pPr indent="0" marL="0">
              <a:buNone/>
            </a:pPr>
            <a:r>
              <a:rPr lang="en-US" sz="700" b="1" dirty="0">
                <a:solidFill>
                  <a:srgbClr val="E67E22"/>
                </a:solidFill>
              </a:rPr>
              <a:t>BEFORE:</a:t>
            </a:r>
            <a:endParaRPr lang="en-US" sz="700" dirty="0"/>
          </a:p>
        </p:txBody>
      </p:sp>
      <p:sp>
        <p:nvSpPr>
          <p:cNvPr id="45" name="Text 42"/>
          <p:cNvSpPr/>
          <p:nvPr/>
        </p:nvSpPr>
        <p:spPr>
          <a:xfrm>
            <a:off x="2697480" y="3639312"/>
            <a:ext cx="2057400" cy="457200"/>
          </a:xfrm>
          <a:prstGeom prst="rect">
            <a:avLst/>
          </a:prstGeom>
          <a:noFill/>
          <a:ln/>
        </p:spPr>
        <p:txBody>
          <a:bodyPr wrap="square" lIns="0" tIns="0" rIns="0" bIns="0" rtlCol="0" anchor="ctr"/>
          <a:lstStyle/>
          <a:p>
            <a:pPr indent="0" marL="0">
              <a:buNone/>
            </a:pPr>
            <a:r>
              <a:rPr lang="en-US" sz="700" dirty="0">
                <a:solidFill>
                  <a:srgbClr val="E67E22"/>
                </a:solidFill>
                <a:latin typeface="Consolas" pitchFamily="34" charset="0"/>
                <a:ea typeface="Consolas" pitchFamily="34" charset="-122"/>
                <a:cs typeface="Consolas" pitchFamily="34" charset="-120"/>
              </a:rPr>
              <a:t># No logging configured in app</a:t>
            </a:r>
            <a:endParaRPr lang="en-US" sz="700" dirty="0"/>
          </a:p>
        </p:txBody>
      </p:sp>
      <p:sp>
        <p:nvSpPr>
          <p:cNvPr id="46" name="Shape 43"/>
          <p:cNvSpPr/>
          <p:nvPr/>
        </p:nvSpPr>
        <p:spPr>
          <a:xfrm>
            <a:off x="4892040" y="3474720"/>
            <a:ext cx="2240280" cy="658368"/>
          </a:xfrm>
          <a:prstGeom prst="rect">
            <a:avLst/>
          </a:prstGeom>
          <a:solidFill>
            <a:srgbClr val="F0FFF4"/>
          </a:solidFill>
          <a:ln/>
        </p:spPr>
      </p:sp>
      <p:sp>
        <p:nvSpPr>
          <p:cNvPr id="47" name="Text 44"/>
          <p:cNvSpPr/>
          <p:nvPr/>
        </p:nvSpPr>
        <p:spPr>
          <a:xfrm>
            <a:off x="4937760" y="3474720"/>
            <a:ext cx="548640" cy="164592"/>
          </a:xfrm>
          <a:prstGeom prst="rect">
            <a:avLst/>
          </a:prstGeom>
          <a:noFill/>
          <a:ln/>
        </p:spPr>
        <p:txBody>
          <a:bodyPr wrap="square" lIns="0" tIns="0" rIns="0" bIns="0" rtlCol="0" anchor="ctr"/>
          <a:lstStyle/>
          <a:p>
            <a:pPr indent="0" marL="0">
              <a:buNone/>
            </a:pPr>
            <a:r>
              <a:rPr lang="en-US" sz="700" b="1" dirty="0">
                <a:solidFill>
                  <a:srgbClr val="1A7A4A"/>
                </a:solidFill>
              </a:rPr>
              <a:t>AFTER:</a:t>
            </a:r>
            <a:endParaRPr lang="en-US" sz="700" dirty="0"/>
          </a:p>
        </p:txBody>
      </p:sp>
      <p:sp>
        <p:nvSpPr>
          <p:cNvPr id="48" name="Text 45"/>
          <p:cNvSpPr/>
          <p:nvPr/>
        </p:nvSpPr>
        <p:spPr>
          <a:xfrm>
            <a:off x="4937760" y="3639312"/>
            <a:ext cx="2148840" cy="457200"/>
          </a:xfrm>
          <a:prstGeom prst="rect">
            <a:avLst/>
          </a:prstGeom>
          <a:noFill/>
          <a:ln/>
        </p:spPr>
        <p:txBody>
          <a:bodyPr wrap="square" lIns="0" tIns="0" rIns="0" bIns="0" rtlCol="0" anchor="ctr"/>
          <a:lstStyle/>
          <a:p>
            <a:pPr indent="0" marL="0">
              <a:buNone/>
            </a:pPr>
            <a:r>
              <a:rPr lang="en-US" sz="700" dirty="0">
                <a:solidFill>
                  <a:srgbClr val="1A7A4A"/>
                </a:solidFill>
                <a:latin typeface="Consolas" pitchFamily="34" charset="0"/>
                <a:ea typeface="Consolas" pitchFamily="34" charset="-122"/>
                <a:cs typeface="Consolas" pitchFamily="34" charset="-120"/>
              </a:rPr>
              <a:t>import logging</a:t>
            </a:r>
            <a:endParaRPr lang="en-US" sz="700" dirty="0"/>
          </a:p>
        </p:txBody>
      </p:sp>
      <p:sp>
        <p:nvSpPr>
          <p:cNvPr id="49" name="Shape 46"/>
          <p:cNvSpPr/>
          <p:nvPr/>
        </p:nvSpPr>
        <p:spPr>
          <a:xfrm>
            <a:off x="228600" y="4242816"/>
            <a:ext cx="8686800" cy="731520"/>
          </a:xfrm>
          <a:prstGeom prst="rect">
            <a:avLst/>
          </a:prstGeom>
          <a:solidFill>
            <a:srgbClr val="FFFFFF"/>
          </a:solidFill>
          <a:ln/>
          <a:effectLst>
            <a:outerShdw sx="100000" sy="100000" kx="0" ky="0" algn="bl" rotWithShape="0" blurRad="63500" dist="25400" dir="8100000">
              <a:srgbClr val="000000">
                <a:alpha val="8000"/>
              </a:srgbClr>
            </a:outerShdw>
          </a:effectLst>
        </p:spPr>
      </p:sp>
      <p:sp>
        <p:nvSpPr>
          <p:cNvPr id="50" name="Shape 47"/>
          <p:cNvSpPr/>
          <p:nvPr/>
        </p:nvSpPr>
        <p:spPr>
          <a:xfrm>
            <a:off x="228600" y="4242816"/>
            <a:ext cx="164592" cy="731520"/>
          </a:xfrm>
          <a:prstGeom prst="rect">
            <a:avLst/>
          </a:prstGeom>
          <a:solidFill>
            <a:srgbClr val="C0392B"/>
          </a:solidFill>
          <a:ln/>
        </p:spPr>
      </p:sp>
      <p:sp>
        <p:nvSpPr>
          <p:cNvPr id="51" name="Shape 48"/>
          <p:cNvSpPr/>
          <p:nvPr/>
        </p:nvSpPr>
        <p:spPr>
          <a:xfrm>
            <a:off x="7223760" y="4315968"/>
            <a:ext cx="1554480" cy="228600"/>
          </a:xfrm>
          <a:prstGeom prst="rect">
            <a:avLst/>
          </a:prstGeom>
          <a:solidFill>
            <a:srgbClr val="1A7A4A"/>
          </a:solidFill>
          <a:ln/>
        </p:spPr>
      </p:sp>
      <p:sp>
        <p:nvSpPr>
          <p:cNvPr id="52" name="Text 49"/>
          <p:cNvSpPr/>
          <p:nvPr/>
        </p:nvSpPr>
        <p:spPr>
          <a:xfrm>
            <a:off x="7223760" y="4315968"/>
            <a:ext cx="1554480" cy="228600"/>
          </a:xfrm>
          <a:prstGeom prst="rect">
            <a:avLst/>
          </a:prstGeom>
          <a:noFill/>
          <a:ln/>
        </p:spPr>
        <p:txBody>
          <a:bodyPr wrap="square" lIns="0" tIns="0" rIns="0" bIns="0" rtlCol="0" anchor="ctr"/>
          <a:lstStyle/>
          <a:p>
            <a:pPr algn="ctr" indent="0" marL="0">
              <a:buNone/>
            </a:pPr>
            <a:r>
              <a:rPr lang="en-US" sz="800" b="1" dirty="0">
                <a:solidFill>
                  <a:srgbClr val="FFFFFF"/>
                </a:solidFill>
              </a:rPr>
              <a:t>Flask Session Role Checks</a:t>
            </a:r>
            <a:endParaRPr lang="en-US" sz="800" dirty="0"/>
          </a:p>
        </p:txBody>
      </p:sp>
      <p:sp>
        <p:nvSpPr>
          <p:cNvPr id="53" name="Text 50"/>
          <p:cNvSpPr/>
          <p:nvPr/>
        </p:nvSpPr>
        <p:spPr>
          <a:xfrm>
            <a:off x="502920" y="4297680"/>
            <a:ext cx="2011680" cy="219456"/>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No Privilege Checks</a:t>
            </a:r>
            <a:endParaRPr lang="en-US" sz="1100" dirty="0"/>
          </a:p>
        </p:txBody>
      </p:sp>
      <p:sp>
        <p:nvSpPr>
          <p:cNvPr id="54" name="Shape 51"/>
          <p:cNvSpPr/>
          <p:nvPr/>
        </p:nvSpPr>
        <p:spPr>
          <a:xfrm>
            <a:off x="2651760" y="4279392"/>
            <a:ext cx="2148840" cy="658368"/>
          </a:xfrm>
          <a:prstGeom prst="rect">
            <a:avLst/>
          </a:prstGeom>
          <a:solidFill>
            <a:srgbClr val="FFF0F0"/>
          </a:solidFill>
          <a:ln/>
        </p:spPr>
      </p:sp>
      <p:sp>
        <p:nvSpPr>
          <p:cNvPr id="55" name="Text 52"/>
          <p:cNvSpPr/>
          <p:nvPr/>
        </p:nvSpPr>
        <p:spPr>
          <a:xfrm>
            <a:off x="2697480" y="4279392"/>
            <a:ext cx="594360" cy="164592"/>
          </a:xfrm>
          <a:prstGeom prst="rect">
            <a:avLst/>
          </a:prstGeom>
          <a:noFill/>
          <a:ln/>
        </p:spPr>
        <p:txBody>
          <a:bodyPr wrap="square" lIns="0" tIns="0" rIns="0" bIns="0" rtlCol="0" anchor="ctr"/>
          <a:lstStyle/>
          <a:p>
            <a:pPr indent="0" marL="0">
              <a:buNone/>
            </a:pPr>
            <a:r>
              <a:rPr lang="en-US" sz="700" b="1" dirty="0">
                <a:solidFill>
                  <a:srgbClr val="C0392B"/>
                </a:solidFill>
              </a:rPr>
              <a:t>BEFORE:</a:t>
            </a:r>
            <a:endParaRPr lang="en-US" sz="700" dirty="0"/>
          </a:p>
        </p:txBody>
      </p:sp>
      <p:sp>
        <p:nvSpPr>
          <p:cNvPr id="56" name="Text 53"/>
          <p:cNvSpPr/>
          <p:nvPr/>
        </p:nvSpPr>
        <p:spPr>
          <a:xfrm>
            <a:off x="2697480" y="4443984"/>
            <a:ext cx="2057400" cy="457200"/>
          </a:xfrm>
          <a:prstGeom prst="rect">
            <a:avLst/>
          </a:prstGeom>
          <a:noFill/>
          <a:ln/>
        </p:spPr>
        <p:txBody>
          <a:bodyPr wrap="square" lIns="0" tIns="0" rIns="0" bIns="0" rtlCol="0" anchor="ctr"/>
          <a:lstStyle/>
          <a:p>
            <a:pPr indent="0" marL="0">
              <a:buNone/>
            </a:pPr>
            <a:r>
              <a:rPr lang="en-US" sz="700" dirty="0">
                <a:solidFill>
                  <a:srgbClr val="C0392B"/>
                </a:solidFill>
                <a:latin typeface="Consolas" pitchFamily="34" charset="0"/>
                <a:ea typeface="Consolas" pitchFamily="34" charset="-122"/>
                <a:cs typeface="Consolas" pitchFamily="34" charset="-120"/>
              </a:rPr>
              <a:t>@app.route("/admin")</a:t>
            </a:r>
            <a:endParaRPr lang="en-US" sz="700" dirty="0"/>
          </a:p>
        </p:txBody>
      </p:sp>
      <p:sp>
        <p:nvSpPr>
          <p:cNvPr id="57" name="Shape 54"/>
          <p:cNvSpPr/>
          <p:nvPr/>
        </p:nvSpPr>
        <p:spPr>
          <a:xfrm>
            <a:off x="4892040" y="4279392"/>
            <a:ext cx="2240280" cy="658368"/>
          </a:xfrm>
          <a:prstGeom prst="rect">
            <a:avLst/>
          </a:prstGeom>
          <a:solidFill>
            <a:srgbClr val="F0FFF4"/>
          </a:solidFill>
          <a:ln/>
        </p:spPr>
      </p:sp>
      <p:sp>
        <p:nvSpPr>
          <p:cNvPr id="58" name="Text 55"/>
          <p:cNvSpPr/>
          <p:nvPr/>
        </p:nvSpPr>
        <p:spPr>
          <a:xfrm>
            <a:off x="4937760" y="4279392"/>
            <a:ext cx="548640" cy="164592"/>
          </a:xfrm>
          <a:prstGeom prst="rect">
            <a:avLst/>
          </a:prstGeom>
          <a:noFill/>
          <a:ln/>
        </p:spPr>
        <p:txBody>
          <a:bodyPr wrap="square" lIns="0" tIns="0" rIns="0" bIns="0" rtlCol="0" anchor="ctr"/>
          <a:lstStyle/>
          <a:p>
            <a:pPr indent="0" marL="0">
              <a:buNone/>
            </a:pPr>
            <a:r>
              <a:rPr lang="en-US" sz="700" b="1" dirty="0">
                <a:solidFill>
                  <a:srgbClr val="1A7A4A"/>
                </a:solidFill>
              </a:rPr>
              <a:t>AFTER:</a:t>
            </a:r>
            <a:endParaRPr lang="en-US" sz="700" dirty="0"/>
          </a:p>
        </p:txBody>
      </p:sp>
      <p:sp>
        <p:nvSpPr>
          <p:cNvPr id="59" name="Text 56"/>
          <p:cNvSpPr/>
          <p:nvPr/>
        </p:nvSpPr>
        <p:spPr>
          <a:xfrm>
            <a:off x="4937760" y="4443984"/>
            <a:ext cx="2148840" cy="457200"/>
          </a:xfrm>
          <a:prstGeom prst="rect">
            <a:avLst/>
          </a:prstGeom>
          <a:noFill/>
          <a:ln/>
        </p:spPr>
        <p:txBody>
          <a:bodyPr wrap="square" lIns="0" tIns="0" rIns="0" bIns="0" rtlCol="0" anchor="ctr"/>
          <a:lstStyle/>
          <a:p>
            <a:pPr indent="0" marL="0">
              <a:buNone/>
            </a:pPr>
            <a:r>
              <a:rPr lang="en-US" sz="700" dirty="0">
                <a:solidFill>
                  <a:srgbClr val="1A7A4A"/>
                </a:solidFill>
                <a:latin typeface="Consolas" pitchFamily="34" charset="0"/>
                <a:ea typeface="Consolas" pitchFamily="34" charset="-122"/>
                <a:cs typeface="Consolas" pitchFamily="34" charset="-120"/>
              </a:rPr>
              <a:t>@app.route('/admin')</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4A6FA5"/>
          </a:solidFill>
          <a:ln/>
        </p:spPr>
      </p:sp>
      <p:pic>
        <p:nvPicPr>
          <p:cNvPr id="3" name="Image 0" descr="preencoded.png">    </p:cNvPr>
          <p:cNvPicPr>
            <a:picLocks noChangeAspect="1"/>
          </p:cNvPicPr>
          <p:nvPr/>
        </p:nvPicPr>
        <p:blipFill>
          <a:blip r:embed="rId1"/>
          <a:stretch>
            <a:fillRect/>
          </a:stretch>
        </p:blipFill>
        <p:spPr>
          <a:xfrm>
            <a:off x="182880" y="137160"/>
            <a:ext cx="594360" cy="594360"/>
          </a:xfrm>
          <a:prstGeom prst="rect">
            <a:avLst/>
          </a:prstGeom>
        </p:spPr>
      </p:pic>
      <p:sp>
        <p:nvSpPr>
          <p:cNvPr id="4" name="Text 1"/>
          <p:cNvSpPr/>
          <p:nvPr/>
        </p:nvSpPr>
        <p:spPr>
          <a:xfrm>
            <a:off x="914400" y="91440"/>
            <a:ext cx="7772400" cy="7315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Phase 8: Retesting &amp; Control Effectiveness</a:t>
            </a:r>
            <a:endParaRPr lang="en-US" sz="2400" dirty="0"/>
          </a:p>
        </p:txBody>
      </p:sp>
      <p:sp>
        <p:nvSpPr>
          <p:cNvPr id="5" name="Shape 2"/>
          <p:cNvSpPr/>
          <p:nvPr/>
        </p:nvSpPr>
        <p:spPr>
          <a:xfrm>
            <a:off x="274320" y="1005840"/>
            <a:ext cx="8595360" cy="347472"/>
          </a:xfrm>
          <a:prstGeom prst="rect">
            <a:avLst/>
          </a:prstGeom>
          <a:solidFill>
            <a:srgbClr val="0D1B2A"/>
          </a:solidFill>
          <a:ln/>
        </p:spPr>
      </p:sp>
      <p:sp>
        <p:nvSpPr>
          <p:cNvPr id="6" name="Text 3"/>
          <p:cNvSpPr/>
          <p:nvPr/>
        </p:nvSpPr>
        <p:spPr>
          <a:xfrm>
            <a:off x="347472" y="1005840"/>
            <a:ext cx="2121408" cy="347472"/>
          </a:xfrm>
          <a:prstGeom prst="rect">
            <a:avLst/>
          </a:prstGeom>
          <a:noFill/>
          <a:ln/>
        </p:spPr>
        <p:txBody>
          <a:bodyPr wrap="square" lIns="0" tIns="0" rIns="0" bIns="0" rtlCol="0" anchor="ctr"/>
          <a:lstStyle/>
          <a:p>
            <a:pPr algn="l" indent="0" marL="0">
              <a:buNone/>
            </a:pPr>
            <a:r>
              <a:rPr lang="en-US" sz="1000" b="1" dirty="0">
                <a:solidFill>
                  <a:srgbClr val="FFFFFF"/>
                </a:solidFill>
              </a:rPr>
              <a:t>Metric</a:t>
            </a:r>
            <a:endParaRPr lang="en-US" sz="1000" dirty="0"/>
          </a:p>
        </p:txBody>
      </p:sp>
      <p:sp>
        <p:nvSpPr>
          <p:cNvPr id="7" name="Text 4"/>
          <p:cNvSpPr/>
          <p:nvPr/>
        </p:nvSpPr>
        <p:spPr>
          <a:xfrm>
            <a:off x="2542032" y="1005840"/>
            <a:ext cx="1847088" cy="347472"/>
          </a:xfrm>
          <a:prstGeom prst="rect">
            <a:avLst/>
          </a:prstGeom>
          <a:noFill/>
          <a:ln/>
        </p:spPr>
        <p:txBody>
          <a:bodyPr wrap="square" lIns="0" tIns="0" rIns="0" bIns="0" rtlCol="0" anchor="ctr"/>
          <a:lstStyle/>
          <a:p>
            <a:pPr algn="ctr" indent="0" marL="0">
              <a:buNone/>
            </a:pPr>
            <a:r>
              <a:rPr lang="en-US" sz="1000" b="1" dirty="0">
                <a:solidFill>
                  <a:srgbClr val="FFFFFF"/>
                </a:solidFill>
              </a:rPr>
              <a:t>BEFORE Remediation</a:t>
            </a:r>
            <a:endParaRPr lang="en-US" sz="1000" dirty="0"/>
          </a:p>
        </p:txBody>
      </p:sp>
      <p:sp>
        <p:nvSpPr>
          <p:cNvPr id="8" name="Text 5"/>
          <p:cNvSpPr/>
          <p:nvPr/>
        </p:nvSpPr>
        <p:spPr>
          <a:xfrm>
            <a:off x="4462272" y="1005840"/>
            <a:ext cx="1847088" cy="347472"/>
          </a:xfrm>
          <a:prstGeom prst="rect">
            <a:avLst/>
          </a:prstGeom>
          <a:noFill/>
          <a:ln/>
        </p:spPr>
        <p:txBody>
          <a:bodyPr wrap="square" lIns="0" tIns="0" rIns="0" bIns="0" rtlCol="0" anchor="ctr"/>
          <a:lstStyle/>
          <a:p>
            <a:pPr algn="ctr" indent="0" marL="0">
              <a:buNone/>
            </a:pPr>
            <a:r>
              <a:rPr lang="en-US" sz="1000" b="1" dirty="0">
                <a:solidFill>
                  <a:srgbClr val="FFFFFF"/>
                </a:solidFill>
              </a:rPr>
              <a:t>AFTER Remediation</a:t>
            </a:r>
            <a:endParaRPr lang="en-US" sz="1000" dirty="0"/>
          </a:p>
        </p:txBody>
      </p:sp>
      <p:sp>
        <p:nvSpPr>
          <p:cNvPr id="9" name="Text 6"/>
          <p:cNvSpPr/>
          <p:nvPr/>
        </p:nvSpPr>
        <p:spPr>
          <a:xfrm>
            <a:off x="6382512" y="1005840"/>
            <a:ext cx="1664208" cy="347472"/>
          </a:xfrm>
          <a:prstGeom prst="rect">
            <a:avLst/>
          </a:prstGeom>
          <a:noFill/>
          <a:ln/>
        </p:spPr>
        <p:txBody>
          <a:bodyPr wrap="square" lIns="0" tIns="0" rIns="0" bIns="0" rtlCol="0" anchor="ctr"/>
          <a:lstStyle/>
          <a:p>
            <a:pPr algn="ctr" indent="0" marL="0">
              <a:buNone/>
            </a:pPr>
            <a:r>
              <a:rPr lang="en-US" sz="1000" b="1" dirty="0">
                <a:solidFill>
                  <a:srgbClr val="FFFFFF"/>
                </a:solidFill>
              </a:rPr>
              <a:t>Reduction</a:t>
            </a:r>
            <a:endParaRPr lang="en-US" sz="1000" dirty="0"/>
          </a:p>
        </p:txBody>
      </p:sp>
      <p:sp>
        <p:nvSpPr>
          <p:cNvPr id="10" name="Shape 7"/>
          <p:cNvSpPr/>
          <p:nvPr/>
        </p:nvSpPr>
        <p:spPr>
          <a:xfrm>
            <a:off x="274320" y="1389888"/>
            <a:ext cx="8595360" cy="365760"/>
          </a:xfrm>
          <a:prstGeom prst="rect">
            <a:avLst/>
          </a:prstGeom>
          <a:solidFill>
            <a:srgbClr val="FFFFFF"/>
          </a:solidFill>
          <a:ln/>
        </p:spPr>
      </p:sp>
      <p:sp>
        <p:nvSpPr>
          <p:cNvPr id="11" name="Text 8"/>
          <p:cNvSpPr/>
          <p:nvPr/>
        </p:nvSpPr>
        <p:spPr>
          <a:xfrm>
            <a:off x="347472" y="1444752"/>
            <a:ext cx="2057400" cy="256032"/>
          </a:xfrm>
          <a:prstGeom prst="rect">
            <a:avLst/>
          </a:prstGeom>
          <a:noFill/>
          <a:ln/>
        </p:spPr>
        <p:txBody>
          <a:bodyPr wrap="square" lIns="0" tIns="0" rIns="0" bIns="0" rtlCol="0" anchor="ctr"/>
          <a:lstStyle/>
          <a:p>
            <a:pPr indent="0" marL="0">
              <a:buNone/>
            </a:pPr>
            <a:r>
              <a:rPr lang="en-US" sz="950" b="1" dirty="0">
                <a:solidFill>
                  <a:srgbClr val="2D3748"/>
                </a:solidFill>
                <a:latin typeface="Calibri" pitchFamily="34" charset="0"/>
                <a:ea typeface="Calibri" pitchFamily="34" charset="-122"/>
                <a:cs typeface="Calibri" pitchFamily="34" charset="-120"/>
              </a:rPr>
              <a:t>Bandit HIGH Issues</a:t>
            </a:r>
            <a:endParaRPr lang="en-US" sz="950" dirty="0"/>
          </a:p>
        </p:txBody>
      </p:sp>
      <p:sp>
        <p:nvSpPr>
          <p:cNvPr id="12" name="Shape 9"/>
          <p:cNvSpPr/>
          <p:nvPr/>
        </p:nvSpPr>
        <p:spPr>
          <a:xfrm>
            <a:off x="2487168" y="1444752"/>
            <a:ext cx="1783080" cy="256032"/>
          </a:xfrm>
          <a:prstGeom prst="rect">
            <a:avLst/>
          </a:prstGeom>
          <a:solidFill>
            <a:srgbClr val="C0392B">
              <a:alpha val="85000"/>
            </a:srgbClr>
          </a:solidFill>
          <a:ln/>
        </p:spPr>
      </p:sp>
      <p:sp>
        <p:nvSpPr>
          <p:cNvPr id="13" name="Text 10"/>
          <p:cNvSpPr/>
          <p:nvPr/>
        </p:nvSpPr>
        <p:spPr>
          <a:xfrm>
            <a:off x="2487168" y="1444752"/>
            <a:ext cx="1783080" cy="25603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5</a:t>
            </a:r>
            <a:endParaRPr lang="en-US" sz="900" dirty="0"/>
          </a:p>
        </p:txBody>
      </p:sp>
      <p:sp>
        <p:nvSpPr>
          <p:cNvPr id="14" name="Shape 11"/>
          <p:cNvSpPr/>
          <p:nvPr/>
        </p:nvSpPr>
        <p:spPr>
          <a:xfrm>
            <a:off x="4407408" y="1444752"/>
            <a:ext cx="1783080" cy="256032"/>
          </a:xfrm>
          <a:prstGeom prst="rect">
            <a:avLst/>
          </a:prstGeom>
          <a:solidFill>
            <a:srgbClr val="1A7A4A">
              <a:alpha val="85000"/>
            </a:srgbClr>
          </a:solidFill>
          <a:ln/>
        </p:spPr>
      </p:sp>
      <p:sp>
        <p:nvSpPr>
          <p:cNvPr id="15" name="Text 12"/>
          <p:cNvSpPr/>
          <p:nvPr/>
        </p:nvSpPr>
        <p:spPr>
          <a:xfrm>
            <a:off x="4407408" y="1444752"/>
            <a:ext cx="1783080" cy="25603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0</a:t>
            </a:r>
            <a:endParaRPr lang="en-US" sz="900" dirty="0"/>
          </a:p>
        </p:txBody>
      </p:sp>
      <p:sp>
        <p:nvSpPr>
          <p:cNvPr id="16" name="Shape 13"/>
          <p:cNvSpPr/>
          <p:nvPr/>
        </p:nvSpPr>
        <p:spPr>
          <a:xfrm>
            <a:off x="6327648" y="1444752"/>
            <a:ext cx="1508760" cy="256032"/>
          </a:xfrm>
          <a:prstGeom prst="rect">
            <a:avLst/>
          </a:prstGeom>
          <a:solidFill>
            <a:srgbClr val="1A7A4A"/>
          </a:solidFill>
          <a:ln/>
        </p:spPr>
      </p:sp>
      <p:sp>
        <p:nvSpPr>
          <p:cNvPr id="17" name="Text 14"/>
          <p:cNvSpPr/>
          <p:nvPr/>
        </p:nvSpPr>
        <p:spPr>
          <a:xfrm>
            <a:off x="6327648" y="1444752"/>
            <a:ext cx="1508760" cy="256032"/>
          </a:xfrm>
          <a:prstGeom prst="rect">
            <a:avLst/>
          </a:prstGeom>
          <a:noFill/>
          <a:ln/>
        </p:spPr>
        <p:txBody>
          <a:bodyPr wrap="square" lIns="0" tIns="0" rIns="0" bIns="0" rtlCol="0" anchor="ctr"/>
          <a:lstStyle/>
          <a:p>
            <a:pPr algn="ctr" indent="0" marL="0">
              <a:buNone/>
            </a:pPr>
            <a:r>
              <a:rPr lang="en-US" sz="950" b="1" dirty="0">
                <a:solidFill>
                  <a:srgbClr val="FFFFFF"/>
                </a:solidFill>
              </a:rPr>
              <a:t>100%</a:t>
            </a:r>
            <a:endParaRPr lang="en-US" sz="950" dirty="0"/>
          </a:p>
        </p:txBody>
      </p:sp>
      <p:sp>
        <p:nvSpPr>
          <p:cNvPr id="18" name="Shape 15"/>
          <p:cNvSpPr/>
          <p:nvPr/>
        </p:nvSpPr>
        <p:spPr>
          <a:xfrm>
            <a:off x="274320" y="1773936"/>
            <a:ext cx="8595360" cy="365760"/>
          </a:xfrm>
          <a:prstGeom prst="rect">
            <a:avLst/>
          </a:prstGeom>
          <a:solidFill>
            <a:srgbClr val="F7F9FC"/>
          </a:solidFill>
          <a:ln/>
        </p:spPr>
      </p:sp>
      <p:sp>
        <p:nvSpPr>
          <p:cNvPr id="19" name="Text 16"/>
          <p:cNvSpPr/>
          <p:nvPr/>
        </p:nvSpPr>
        <p:spPr>
          <a:xfrm>
            <a:off x="347472" y="1828800"/>
            <a:ext cx="2057400" cy="256032"/>
          </a:xfrm>
          <a:prstGeom prst="rect">
            <a:avLst/>
          </a:prstGeom>
          <a:noFill/>
          <a:ln/>
        </p:spPr>
        <p:txBody>
          <a:bodyPr wrap="square" lIns="0" tIns="0" rIns="0" bIns="0" rtlCol="0" anchor="ctr"/>
          <a:lstStyle/>
          <a:p>
            <a:pPr indent="0" marL="0">
              <a:buNone/>
            </a:pPr>
            <a:r>
              <a:rPr lang="en-US" sz="950" b="1" dirty="0">
                <a:solidFill>
                  <a:srgbClr val="2D3748"/>
                </a:solidFill>
                <a:latin typeface="Calibri" pitchFamily="34" charset="0"/>
                <a:ea typeface="Calibri" pitchFamily="34" charset="-122"/>
                <a:cs typeface="Calibri" pitchFamily="34" charset="-120"/>
              </a:rPr>
              <a:t>Bandit MEDIUM Issues</a:t>
            </a:r>
            <a:endParaRPr lang="en-US" sz="950" dirty="0"/>
          </a:p>
        </p:txBody>
      </p:sp>
      <p:sp>
        <p:nvSpPr>
          <p:cNvPr id="20" name="Shape 17"/>
          <p:cNvSpPr/>
          <p:nvPr/>
        </p:nvSpPr>
        <p:spPr>
          <a:xfrm>
            <a:off x="2487168" y="1828800"/>
            <a:ext cx="1783080" cy="256032"/>
          </a:xfrm>
          <a:prstGeom prst="rect">
            <a:avLst/>
          </a:prstGeom>
          <a:solidFill>
            <a:srgbClr val="C0392B">
              <a:alpha val="85000"/>
            </a:srgbClr>
          </a:solidFill>
          <a:ln/>
        </p:spPr>
      </p:sp>
      <p:sp>
        <p:nvSpPr>
          <p:cNvPr id="21" name="Text 18"/>
          <p:cNvSpPr/>
          <p:nvPr/>
        </p:nvSpPr>
        <p:spPr>
          <a:xfrm>
            <a:off x="2487168" y="1828800"/>
            <a:ext cx="1783080" cy="25603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3</a:t>
            </a:r>
            <a:endParaRPr lang="en-US" sz="900" dirty="0"/>
          </a:p>
        </p:txBody>
      </p:sp>
      <p:sp>
        <p:nvSpPr>
          <p:cNvPr id="22" name="Shape 19"/>
          <p:cNvSpPr/>
          <p:nvPr/>
        </p:nvSpPr>
        <p:spPr>
          <a:xfrm>
            <a:off x="4407408" y="1828800"/>
            <a:ext cx="1783080" cy="256032"/>
          </a:xfrm>
          <a:prstGeom prst="rect">
            <a:avLst/>
          </a:prstGeom>
          <a:solidFill>
            <a:srgbClr val="1A7A4A">
              <a:alpha val="85000"/>
            </a:srgbClr>
          </a:solidFill>
          <a:ln/>
        </p:spPr>
      </p:sp>
      <p:sp>
        <p:nvSpPr>
          <p:cNvPr id="23" name="Text 20"/>
          <p:cNvSpPr/>
          <p:nvPr/>
        </p:nvSpPr>
        <p:spPr>
          <a:xfrm>
            <a:off x="4407408" y="1828800"/>
            <a:ext cx="1783080" cy="25603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0</a:t>
            </a:r>
            <a:endParaRPr lang="en-US" sz="900" dirty="0"/>
          </a:p>
        </p:txBody>
      </p:sp>
      <p:sp>
        <p:nvSpPr>
          <p:cNvPr id="24" name="Shape 21"/>
          <p:cNvSpPr/>
          <p:nvPr/>
        </p:nvSpPr>
        <p:spPr>
          <a:xfrm>
            <a:off x="6327648" y="1828800"/>
            <a:ext cx="1508760" cy="256032"/>
          </a:xfrm>
          <a:prstGeom prst="rect">
            <a:avLst/>
          </a:prstGeom>
          <a:solidFill>
            <a:srgbClr val="1A7A4A"/>
          </a:solidFill>
          <a:ln/>
        </p:spPr>
      </p:sp>
      <p:sp>
        <p:nvSpPr>
          <p:cNvPr id="25" name="Text 22"/>
          <p:cNvSpPr/>
          <p:nvPr/>
        </p:nvSpPr>
        <p:spPr>
          <a:xfrm>
            <a:off x="6327648" y="1828800"/>
            <a:ext cx="1508760" cy="256032"/>
          </a:xfrm>
          <a:prstGeom prst="rect">
            <a:avLst/>
          </a:prstGeom>
          <a:noFill/>
          <a:ln/>
        </p:spPr>
        <p:txBody>
          <a:bodyPr wrap="square" lIns="0" tIns="0" rIns="0" bIns="0" rtlCol="0" anchor="ctr"/>
          <a:lstStyle/>
          <a:p>
            <a:pPr algn="ctr" indent="0" marL="0">
              <a:buNone/>
            </a:pPr>
            <a:r>
              <a:rPr lang="en-US" sz="950" b="1" dirty="0">
                <a:solidFill>
                  <a:srgbClr val="FFFFFF"/>
                </a:solidFill>
              </a:rPr>
              <a:t>100%</a:t>
            </a:r>
            <a:endParaRPr lang="en-US" sz="950" dirty="0"/>
          </a:p>
        </p:txBody>
      </p:sp>
      <p:sp>
        <p:nvSpPr>
          <p:cNvPr id="26" name="Shape 23"/>
          <p:cNvSpPr/>
          <p:nvPr/>
        </p:nvSpPr>
        <p:spPr>
          <a:xfrm>
            <a:off x="274320" y="2157984"/>
            <a:ext cx="8595360" cy="365760"/>
          </a:xfrm>
          <a:prstGeom prst="rect">
            <a:avLst/>
          </a:prstGeom>
          <a:solidFill>
            <a:srgbClr val="FFFFFF"/>
          </a:solidFill>
          <a:ln/>
        </p:spPr>
      </p:sp>
      <p:sp>
        <p:nvSpPr>
          <p:cNvPr id="27" name="Text 24"/>
          <p:cNvSpPr/>
          <p:nvPr/>
        </p:nvSpPr>
        <p:spPr>
          <a:xfrm>
            <a:off x="347472" y="2212848"/>
            <a:ext cx="2057400" cy="256032"/>
          </a:xfrm>
          <a:prstGeom prst="rect">
            <a:avLst/>
          </a:prstGeom>
          <a:noFill/>
          <a:ln/>
        </p:spPr>
        <p:txBody>
          <a:bodyPr wrap="square" lIns="0" tIns="0" rIns="0" bIns="0" rtlCol="0" anchor="ctr"/>
          <a:lstStyle/>
          <a:p>
            <a:pPr indent="0" marL="0">
              <a:buNone/>
            </a:pPr>
            <a:r>
              <a:rPr lang="en-US" sz="950" b="1" dirty="0">
                <a:solidFill>
                  <a:srgbClr val="2D3748"/>
                </a:solidFill>
                <a:latin typeface="Calibri" pitchFamily="34" charset="0"/>
                <a:ea typeface="Calibri" pitchFamily="34" charset="-122"/>
                <a:cs typeface="Calibri" pitchFamily="34" charset="-120"/>
              </a:rPr>
              <a:t>SQL Injection Risk (ALE)</a:t>
            </a:r>
            <a:endParaRPr lang="en-US" sz="950" dirty="0"/>
          </a:p>
        </p:txBody>
      </p:sp>
      <p:sp>
        <p:nvSpPr>
          <p:cNvPr id="28" name="Shape 25"/>
          <p:cNvSpPr/>
          <p:nvPr/>
        </p:nvSpPr>
        <p:spPr>
          <a:xfrm>
            <a:off x="2487168" y="2212848"/>
            <a:ext cx="1783080" cy="256032"/>
          </a:xfrm>
          <a:prstGeom prst="rect">
            <a:avLst/>
          </a:prstGeom>
          <a:solidFill>
            <a:srgbClr val="C0392B">
              <a:alpha val="85000"/>
            </a:srgbClr>
          </a:solidFill>
          <a:ln/>
        </p:spPr>
      </p:sp>
      <p:sp>
        <p:nvSpPr>
          <p:cNvPr id="29" name="Text 26"/>
          <p:cNvSpPr/>
          <p:nvPr/>
        </p:nvSpPr>
        <p:spPr>
          <a:xfrm>
            <a:off x="2487168" y="2212848"/>
            <a:ext cx="1783080" cy="25603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$40,000/yr</a:t>
            </a:r>
            <a:endParaRPr lang="en-US" sz="900" dirty="0"/>
          </a:p>
        </p:txBody>
      </p:sp>
      <p:sp>
        <p:nvSpPr>
          <p:cNvPr id="30" name="Shape 27"/>
          <p:cNvSpPr/>
          <p:nvPr/>
        </p:nvSpPr>
        <p:spPr>
          <a:xfrm>
            <a:off x="4407408" y="2212848"/>
            <a:ext cx="1783080" cy="256032"/>
          </a:xfrm>
          <a:prstGeom prst="rect">
            <a:avLst/>
          </a:prstGeom>
          <a:solidFill>
            <a:srgbClr val="1A7A4A">
              <a:alpha val="85000"/>
            </a:srgbClr>
          </a:solidFill>
          <a:ln/>
        </p:spPr>
      </p:sp>
      <p:sp>
        <p:nvSpPr>
          <p:cNvPr id="31" name="Text 28"/>
          <p:cNvSpPr/>
          <p:nvPr/>
        </p:nvSpPr>
        <p:spPr>
          <a:xfrm>
            <a:off x="4407408" y="2212848"/>
            <a:ext cx="1783080" cy="25603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$0 (parameterized)</a:t>
            </a:r>
            <a:endParaRPr lang="en-US" sz="900" dirty="0"/>
          </a:p>
        </p:txBody>
      </p:sp>
      <p:sp>
        <p:nvSpPr>
          <p:cNvPr id="32" name="Shape 29"/>
          <p:cNvSpPr/>
          <p:nvPr/>
        </p:nvSpPr>
        <p:spPr>
          <a:xfrm>
            <a:off x="6327648" y="2212848"/>
            <a:ext cx="1508760" cy="256032"/>
          </a:xfrm>
          <a:prstGeom prst="rect">
            <a:avLst/>
          </a:prstGeom>
          <a:solidFill>
            <a:srgbClr val="1A7A4A"/>
          </a:solidFill>
          <a:ln/>
        </p:spPr>
      </p:sp>
      <p:sp>
        <p:nvSpPr>
          <p:cNvPr id="33" name="Text 30"/>
          <p:cNvSpPr/>
          <p:nvPr/>
        </p:nvSpPr>
        <p:spPr>
          <a:xfrm>
            <a:off x="6327648" y="2212848"/>
            <a:ext cx="1508760" cy="256032"/>
          </a:xfrm>
          <a:prstGeom prst="rect">
            <a:avLst/>
          </a:prstGeom>
          <a:noFill/>
          <a:ln/>
        </p:spPr>
        <p:txBody>
          <a:bodyPr wrap="square" lIns="0" tIns="0" rIns="0" bIns="0" rtlCol="0" anchor="ctr"/>
          <a:lstStyle/>
          <a:p>
            <a:pPr algn="ctr" indent="0" marL="0">
              <a:buNone/>
            </a:pPr>
            <a:r>
              <a:rPr lang="en-US" sz="950" b="1" dirty="0">
                <a:solidFill>
                  <a:srgbClr val="FFFFFF"/>
                </a:solidFill>
              </a:rPr>
              <a:t>100%</a:t>
            </a:r>
            <a:endParaRPr lang="en-US" sz="950" dirty="0"/>
          </a:p>
        </p:txBody>
      </p:sp>
      <p:sp>
        <p:nvSpPr>
          <p:cNvPr id="34" name="Shape 31"/>
          <p:cNvSpPr/>
          <p:nvPr/>
        </p:nvSpPr>
        <p:spPr>
          <a:xfrm>
            <a:off x="274320" y="2542032"/>
            <a:ext cx="8595360" cy="365760"/>
          </a:xfrm>
          <a:prstGeom prst="rect">
            <a:avLst/>
          </a:prstGeom>
          <a:solidFill>
            <a:srgbClr val="F7F9FC"/>
          </a:solidFill>
          <a:ln/>
        </p:spPr>
      </p:sp>
      <p:sp>
        <p:nvSpPr>
          <p:cNvPr id="35" name="Text 32"/>
          <p:cNvSpPr/>
          <p:nvPr/>
        </p:nvSpPr>
        <p:spPr>
          <a:xfrm>
            <a:off x="347472" y="2596896"/>
            <a:ext cx="2057400" cy="256032"/>
          </a:xfrm>
          <a:prstGeom prst="rect">
            <a:avLst/>
          </a:prstGeom>
          <a:noFill/>
          <a:ln/>
        </p:spPr>
        <p:txBody>
          <a:bodyPr wrap="square" lIns="0" tIns="0" rIns="0" bIns="0" rtlCol="0" anchor="ctr"/>
          <a:lstStyle/>
          <a:p>
            <a:pPr indent="0" marL="0">
              <a:buNone/>
            </a:pPr>
            <a:r>
              <a:rPr lang="en-US" sz="950" b="1" dirty="0">
                <a:solidFill>
                  <a:srgbClr val="2D3748"/>
                </a:solidFill>
                <a:latin typeface="Calibri" pitchFamily="34" charset="0"/>
                <a:ea typeface="Calibri" pitchFamily="34" charset="-122"/>
                <a:cs typeface="Calibri" pitchFamily="34" charset="-120"/>
              </a:rPr>
              <a:t>DoS Attack Surface</a:t>
            </a:r>
            <a:endParaRPr lang="en-US" sz="950" dirty="0"/>
          </a:p>
        </p:txBody>
      </p:sp>
      <p:sp>
        <p:nvSpPr>
          <p:cNvPr id="36" name="Shape 33"/>
          <p:cNvSpPr/>
          <p:nvPr/>
        </p:nvSpPr>
        <p:spPr>
          <a:xfrm>
            <a:off x="2487168" y="2596896"/>
            <a:ext cx="1783080" cy="256032"/>
          </a:xfrm>
          <a:prstGeom prst="rect">
            <a:avLst/>
          </a:prstGeom>
          <a:solidFill>
            <a:srgbClr val="C0392B">
              <a:alpha val="85000"/>
            </a:srgbClr>
          </a:solidFill>
          <a:ln/>
        </p:spPr>
      </p:sp>
      <p:sp>
        <p:nvSpPr>
          <p:cNvPr id="37" name="Text 34"/>
          <p:cNvSpPr/>
          <p:nvPr/>
        </p:nvSpPr>
        <p:spPr>
          <a:xfrm>
            <a:off x="2487168" y="2596896"/>
            <a:ext cx="1783080" cy="25603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Unlimited requests</a:t>
            </a:r>
            <a:endParaRPr lang="en-US" sz="900" dirty="0"/>
          </a:p>
        </p:txBody>
      </p:sp>
      <p:sp>
        <p:nvSpPr>
          <p:cNvPr id="38" name="Shape 35"/>
          <p:cNvSpPr/>
          <p:nvPr/>
        </p:nvSpPr>
        <p:spPr>
          <a:xfrm>
            <a:off x="4407408" y="2596896"/>
            <a:ext cx="1783080" cy="256032"/>
          </a:xfrm>
          <a:prstGeom prst="rect">
            <a:avLst/>
          </a:prstGeom>
          <a:solidFill>
            <a:srgbClr val="1A7A4A">
              <a:alpha val="85000"/>
            </a:srgbClr>
          </a:solidFill>
          <a:ln/>
        </p:spPr>
      </p:sp>
      <p:sp>
        <p:nvSpPr>
          <p:cNvPr id="39" name="Text 36"/>
          <p:cNvSpPr/>
          <p:nvPr/>
        </p:nvSpPr>
        <p:spPr>
          <a:xfrm>
            <a:off x="4407408" y="2596896"/>
            <a:ext cx="1783080" cy="25603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Rate-limited (5/min)</a:t>
            </a:r>
            <a:endParaRPr lang="en-US" sz="900" dirty="0"/>
          </a:p>
        </p:txBody>
      </p:sp>
      <p:sp>
        <p:nvSpPr>
          <p:cNvPr id="40" name="Shape 37"/>
          <p:cNvSpPr/>
          <p:nvPr/>
        </p:nvSpPr>
        <p:spPr>
          <a:xfrm>
            <a:off x="6327648" y="2596896"/>
            <a:ext cx="1508760" cy="256032"/>
          </a:xfrm>
          <a:prstGeom prst="rect">
            <a:avLst/>
          </a:prstGeom>
          <a:solidFill>
            <a:srgbClr val="1A7A4A"/>
          </a:solidFill>
          <a:ln/>
        </p:spPr>
      </p:sp>
      <p:sp>
        <p:nvSpPr>
          <p:cNvPr id="41" name="Text 38"/>
          <p:cNvSpPr/>
          <p:nvPr/>
        </p:nvSpPr>
        <p:spPr>
          <a:xfrm>
            <a:off x="6327648" y="2596896"/>
            <a:ext cx="1508760" cy="256032"/>
          </a:xfrm>
          <a:prstGeom prst="rect">
            <a:avLst/>
          </a:prstGeom>
          <a:noFill/>
          <a:ln/>
        </p:spPr>
        <p:txBody>
          <a:bodyPr wrap="square" lIns="0" tIns="0" rIns="0" bIns="0" rtlCol="0" anchor="ctr"/>
          <a:lstStyle/>
          <a:p>
            <a:pPr algn="ctr" indent="0" marL="0">
              <a:buNone/>
            </a:pPr>
            <a:r>
              <a:rPr lang="en-US" sz="950" b="1" dirty="0">
                <a:solidFill>
                  <a:srgbClr val="FFFFFF"/>
                </a:solidFill>
              </a:rPr>
              <a:t>~95%</a:t>
            </a:r>
            <a:endParaRPr lang="en-US" sz="950" dirty="0"/>
          </a:p>
        </p:txBody>
      </p:sp>
      <p:sp>
        <p:nvSpPr>
          <p:cNvPr id="42" name="Shape 39"/>
          <p:cNvSpPr/>
          <p:nvPr/>
        </p:nvSpPr>
        <p:spPr>
          <a:xfrm>
            <a:off x="274320" y="2926080"/>
            <a:ext cx="8595360" cy="365760"/>
          </a:xfrm>
          <a:prstGeom prst="rect">
            <a:avLst/>
          </a:prstGeom>
          <a:solidFill>
            <a:srgbClr val="FFFFFF"/>
          </a:solidFill>
          <a:ln/>
        </p:spPr>
      </p:sp>
      <p:sp>
        <p:nvSpPr>
          <p:cNvPr id="43" name="Text 40"/>
          <p:cNvSpPr/>
          <p:nvPr/>
        </p:nvSpPr>
        <p:spPr>
          <a:xfrm>
            <a:off x="347472" y="2980944"/>
            <a:ext cx="2057400" cy="256032"/>
          </a:xfrm>
          <a:prstGeom prst="rect">
            <a:avLst/>
          </a:prstGeom>
          <a:noFill/>
          <a:ln/>
        </p:spPr>
        <p:txBody>
          <a:bodyPr wrap="square" lIns="0" tIns="0" rIns="0" bIns="0" rtlCol="0" anchor="ctr"/>
          <a:lstStyle/>
          <a:p>
            <a:pPr indent="0" marL="0">
              <a:buNone/>
            </a:pPr>
            <a:r>
              <a:rPr lang="en-US" sz="950" b="1" dirty="0">
                <a:solidFill>
                  <a:srgbClr val="2D3748"/>
                </a:solidFill>
                <a:latin typeface="Calibri" pitchFamily="34" charset="0"/>
                <a:ea typeface="Calibri" pitchFamily="34" charset="-122"/>
                <a:cs typeface="Calibri" pitchFamily="34" charset="-120"/>
              </a:rPr>
              <a:t>Password Storage</a:t>
            </a:r>
            <a:endParaRPr lang="en-US" sz="950" dirty="0"/>
          </a:p>
        </p:txBody>
      </p:sp>
      <p:sp>
        <p:nvSpPr>
          <p:cNvPr id="44" name="Shape 41"/>
          <p:cNvSpPr/>
          <p:nvPr/>
        </p:nvSpPr>
        <p:spPr>
          <a:xfrm>
            <a:off x="2487168" y="2980944"/>
            <a:ext cx="1783080" cy="256032"/>
          </a:xfrm>
          <a:prstGeom prst="rect">
            <a:avLst/>
          </a:prstGeom>
          <a:solidFill>
            <a:srgbClr val="C0392B">
              <a:alpha val="85000"/>
            </a:srgbClr>
          </a:solidFill>
          <a:ln/>
        </p:spPr>
      </p:sp>
      <p:sp>
        <p:nvSpPr>
          <p:cNvPr id="45" name="Text 42"/>
          <p:cNvSpPr/>
          <p:nvPr/>
        </p:nvSpPr>
        <p:spPr>
          <a:xfrm>
            <a:off x="2487168" y="2980944"/>
            <a:ext cx="1783080" cy="25603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Plaintext</a:t>
            </a:r>
            <a:endParaRPr lang="en-US" sz="900" dirty="0"/>
          </a:p>
        </p:txBody>
      </p:sp>
      <p:sp>
        <p:nvSpPr>
          <p:cNvPr id="46" name="Shape 43"/>
          <p:cNvSpPr/>
          <p:nvPr/>
        </p:nvSpPr>
        <p:spPr>
          <a:xfrm>
            <a:off x="4407408" y="2980944"/>
            <a:ext cx="1783080" cy="256032"/>
          </a:xfrm>
          <a:prstGeom prst="rect">
            <a:avLst/>
          </a:prstGeom>
          <a:solidFill>
            <a:srgbClr val="1A7A4A">
              <a:alpha val="85000"/>
            </a:srgbClr>
          </a:solidFill>
          <a:ln/>
        </p:spPr>
      </p:sp>
      <p:sp>
        <p:nvSpPr>
          <p:cNvPr id="47" name="Text 44"/>
          <p:cNvSpPr/>
          <p:nvPr/>
        </p:nvSpPr>
        <p:spPr>
          <a:xfrm>
            <a:off x="4407408" y="2980944"/>
            <a:ext cx="1783080" cy="25603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bcrypt hash + salt</a:t>
            </a:r>
            <a:endParaRPr lang="en-US" sz="900" dirty="0"/>
          </a:p>
        </p:txBody>
      </p:sp>
      <p:sp>
        <p:nvSpPr>
          <p:cNvPr id="48" name="Shape 45"/>
          <p:cNvSpPr/>
          <p:nvPr/>
        </p:nvSpPr>
        <p:spPr>
          <a:xfrm>
            <a:off x="6327648" y="2980944"/>
            <a:ext cx="1508760" cy="256032"/>
          </a:xfrm>
          <a:prstGeom prst="rect">
            <a:avLst/>
          </a:prstGeom>
          <a:solidFill>
            <a:srgbClr val="1A7A4A"/>
          </a:solidFill>
          <a:ln/>
        </p:spPr>
      </p:sp>
      <p:sp>
        <p:nvSpPr>
          <p:cNvPr id="49" name="Text 46"/>
          <p:cNvSpPr/>
          <p:nvPr/>
        </p:nvSpPr>
        <p:spPr>
          <a:xfrm>
            <a:off x="6327648" y="2980944"/>
            <a:ext cx="1508760" cy="256032"/>
          </a:xfrm>
          <a:prstGeom prst="rect">
            <a:avLst/>
          </a:prstGeom>
          <a:noFill/>
          <a:ln/>
        </p:spPr>
        <p:txBody>
          <a:bodyPr wrap="square" lIns="0" tIns="0" rIns="0" bIns="0" rtlCol="0" anchor="ctr"/>
          <a:lstStyle/>
          <a:p>
            <a:pPr algn="ctr" indent="0" marL="0">
              <a:buNone/>
            </a:pPr>
            <a:r>
              <a:rPr lang="en-US" sz="950" b="1" dirty="0">
                <a:solidFill>
                  <a:srgbClr val="FFFFFF"/>
                </a:solidFill>
              </a:rPr>
              <a:t>Eliminated</a:t>
            </a:r>
            <a:endParaRPr lang="en-US" sz="950" dirty="0"/>
          </a:p>
        </p:txBody>
      </p:sp>
      <p:sp>
        <p:nvSpPr>
          <p:cNvPr id="50" name="Shape 47"/>
          <p:cNvSpPr/>
          <p:nvPr/>
        </p:nvSpPr>
        <p:spPr>
          <a:xfrm>
            <a:off x="274320" y="3310128"/>
            <a:ext cx="8595360" cy="365760"/>
          </a:xfrm>
          <a:prstGeom prst="rect">
            <a:avLst/>
          </a:prstGeom>
          <a:solidFill>
            <a:srgbClr val="F7F9FC"/>
          </a:solidFill>
          <a:ln/>
        </p:spPr>
      </p:sp>
      <p:sp>
        <p:nvSpPr>
          <p:cNvPr id="51" name="Text 48"/>
          <p:cNvSpPr/>
          <p:nvPr/>
        </p:nvSpPr>
        <p:spPr>
          <a:xfrm>
            <a:off x="347472" y="3364992"/>
            <a:ext cx="2057400" cy="256032"/>
          </a:xfrm>
          <a:prstGeom prst="rect">
            <a:avLst/>
          </a:prstGeom>
          <a:noFill/>
          <a:ln/>
        </p:spPr>
        <p:txBody>
          <a:bodyPr wrap="square" lIns="0" tIns="0" rIns="0" bIns="0" rtlCol="0" anchor="ctr"/>
          <a:lstStyle/>
          <a:p>
            <a:pPr indent="0" marL="0">
              <a:buNone/>
            </a:pPr>
            <a:r>
              <a:rPr lang="en-US" sz="950" b="1" dirty="0">
                <a:solidFill>
                  <a:srgbClr val="2D3748"/>
                </a:solidFill>
                <a:latin typeface="Calibri" pitchFamily="34" charset="0"/>
                <a:ea typeface="Calibri" pitchFamily="34" charset="-122"/>
                <a:cs typeface="Calibri" pitchFamily="34" charset="-120"/>
              </a:rPr>
              <a:t>Audit Log Coverage</a:t>
            </a:r>
            <a:endParaRPr lang="en-US" sz="950" dirty="0"/>
          </a:p>
        </p:txBody>
      </p:sp>
      <p:sp>
        <p:nvSpPr>
          <p:cNvPr id="52" name="Shape 49"/>
          <p:cNvSpPr/>
          <p:nvPr/>
        </p:nvSpPr>
        <p:spPr>
          <a:xfrm>
            <a:off x="2487168" y="3364992"/>
            <a:ext cx="1783080" cy="256032"/>
          </a:xfrm>
          <a:prstGeom prst="rect">
            <a:avLst/>
          </a:prstGeom>
          <a:solidFill>
            <a:srgbClr val="C0392B">
              <a:alpha val="85000"/>
            </a:srgbClr>
          </a:solidFill>
          <a:ln/>
        </p:spPr>
      </p:sp>
      <p:sp>
        <p:nvSpPr>
          <p:cNvPr id="53" name="Text 50"/>
          <p:cNvSpPr/>
          <p:nvPr/>
        </p:nvSpPr>
        <p:spPr>
          <a:xfrm>
            <a:off x="2487168" y="3364992"/>
            <a:ext cx="1783080" cy="25603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0%</a:t>
            </a:r>
            <a:endParaRPr lang="en-US" sz="900" dirty="0"/>
          </a:p>
        </p:txBody>
      </p:sp>
      <p:sp>
        <p:nvSpPr>
          <p:cNvPr id="54" name="Shape 51"/>
          <p:cNvSpPr/>
          <p:nvPr/>
        </p:nvSpPr>
        <p:spPr>
          <a:xfrm>
            <a:off x="4407408" y="3364992"/>
            <a:ext cx="1783080" cy="256032"/>
          </a:xfrm>
          <a:prstGeom prst="rect">
            <a:avLst/>
          </a:prstGeom>
          <a:solidFill>
            <a:srgbClr val="1A7A4A">
              <a:alpha val="85000"/>
            </a:srgbClr>
          </a:solidFill>
          <a:ln/>
        </p:spPr>
      </p:sp>
      <p:sp>
        <p:nvSpPr>
          <p:cNvPr id="55" name="Text 52"/>
          <p:cNvSpPr/>
          <p:nvPr/>
        </p:nvSpPr>
        <p:spPr>
          <a:xfrm>
            <a:off x="4407408" y="3364992"/>
            <a:ext cx="1783080" cy="25603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100% of auth events</a:t>
            </a:r>
            <a:endParaRPr lang="en-US" sz="900" dirty="0"/>
          </a:p>
        </p:txBody>
      </p:sp>
      <p:sp>
        <p:nvSpPr>
          <p:cNvPr id="56" name="Shape 53"/>
          <p:cNvSpPr/>
          <p:nvPr/>
        </p:nvSpPr>
        <p:spPr>
          <a:xfrm>
            <a:off x="6327648" y="3364992"/>
            <a:ext cx="1508760" cy="256032"/>
          </a:xfrm>
          <a:prstGeom prst="rect">
            <a:avLst/>
          </a:prstGeom>
          <a:solidFill>
            <a:srgbClr val="1A7A4A"/>
          </a:solidFill>
          <a:ln/>
        </p:spPr>
      </p:sp>
      <p:sp>
        <p:nvSpPr>
          <p:cNvPr id="57" name="Text 54"/>
          <p:cNvSpPr/>
          <p:nvPr/>
        </p:nvSpPr>
        <p:spPr>
          <a:xfrm>
            <a:off x="6327648" y="3364992"/>
            <a:ext cx="1508760" cy="256032"/>
          </a:xfrm>
          <a:prstGeom prst="rect">
            <a:avLst/>
          </a:prstGeom>
          <a:noFill/>
          <a:ln/>
        </p:spPr>
        <p:txBody>
          <a:bodyPr wrap="square" lIns="0" tIns="0" rIns="0" bIns="0" rtlCol="0" anchor="ctr"/>
          <a:lstStyle/>
          <a:p>
            <a:pPr algn="ctr" indent="0" marL="0">
              <a:buNone/>
            </a:pPr>
            <a:r>
              <a:rPr lang="en-US" sz="950" b="1" dirty="0">
                <a:solidFill>
                  <a:srgbClr val="FFFFFF"/>
                </a:solidFill>
              </a:rPr>
              <a:t>Full</a:t>
            </a:r>
            <a:endParaRPr lang="en-US" sz="950" dirty="0"/>
          </a:p>
        </p:txBody>
      </p:sp>
      <p:sp>
        <p:nvSpPr>
          <p:cNvPr id="58" name="Shape 55"/>
          <p:cNvSpPr/>
          <p:nvPr/>
        </p:nvSpPr>
        <p:spPr>
          <a:xfrm>
            <a:off x="274320" y="3694176"/>
            <a:ext cx="8595360" cy="365760"/>
          </a:xfrm>
          <a:prstGeom prst="rect">
            <a:avLst/>
          </a:prstGeom>
          <a:solidFill>
            <a:srgbClr val="FFFFFF"/>
          </a:solidFill>
          <a:ln/>
        </p:spPr>
      </p:sp>
      <p:sp>
        <p:nvSpPr>
          <p:cNvPr id="59" name="Text 56"/>
          <p:cNvSpPr/>
          <p:nvPr/>
        </p:nvSpPr>
        <p:spPr>
          <a:xfrm>
            <a:off x="347472" y="3749040"/>
            <a:ext cx="2057400" cy="256032"/>
          </a:xfrm>
          <a:prstGeom prst="rect">
            <a:avLst/>
          </a:prstGeom>
          <a:noFill/>
          <a:ln/>
        </p:spPr>
        <p:txBody>
          <a:bodyPr wrap="square" lIns="0" tIns="0" rIns="0" bIns="0" rtlCol="0" anchor="ctr"/>
          <a:lstStyle/>
          <a:p>
            <a:pPr indent="0" marL="0">
              <a:buNone/>
            </a:pPr>
            <a:r>
              <a:rPr lang="en-US" sz="950" b="1" dirty="0">
                <a:solidFill>
                  <a:srgbClr val="2D3748"/>
                </a:solidFill>
                <a:latin typeface="Calibri" pitchFamily="34" charset="0"/>
                <a:ea typeface="Calibri" pitchFamily="34" charset="-122"/>
                <a:cs typeface="Calibri" pitchFamily="34" charset="-120"/>
              </a:rPr>
              <a:t>File Upload Safety</a:t>
            </a:r>
            <a:endParaRPr lang="en-US" sz="950" dirty="0"/>
          </a:p>
        </p:txBody>
      </p:sp>
      <p:sp>
        <p:nvSpPr>
          <p:cNvPr id="60" name="Shape 57"/>
          <p:cNvSpPr/>
          <p:nvPr/>
        </p:nvSpPr>
        <p:spPr>
          <a:xfrm>
            <a:off x="2487168" y="3749040"/>
            <a:ext cx="1783080" cy="256032"/>
          </a:xfrm>
          <a:prstGeom prst="rect">
            <a:avLst/>
          </a:prstGeom>
          <a:solidFill>
            <a:srgbClr val="C0392B">
              <a:alpha val="85000"/>
            </a:srgbClr>
          </a:solidFill>
          <a:ln/>
        </p:spPr>
      </p:sp>
      <p:sp>
        <p:nvSpPr>
          <p:cNvPr id="61" name="Text 58"/>
          <p:cNvSpPr/>
          <p:nvPr/>
        </p:nvSpPr>
        <p:spPr>
          <a:xfrm>
            <a:off x="2487168" y="3749040"/>
            <a:ext cx="1783080" cy="25603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Any file type</a:t>
            </a:r>
            <a:endParaRPr lang="en-US" sz="900" dirty="0"/>
          </a:p>
        </p:txBody>
      </p:sp>
      <p:sp>
        <p:nvSpPr>
          <p:cNvPr id="62" name="Shape 59"/>
          <p:cNvSpPr/>
          <p:nvPr/>
        </p:nvSpPr>
        <p:spPr>
          <a:xfrm>
            <a:off x="4407408" y="3749040"/>
            <a:ext cx="1783080" cy="256032"/>
          </a:xfrm>
          <a:prstGeom prst="rect">
            <a:avLst/>
          </a:prstGeom>
          <a:solidFill>
            <a:srgbClr val="1A7A4A">
              <a:alpha val="85000"/>
            </a:srgbClr>
          </a:solidFill>
          <a:ln/>
        </p:spPr>
      </p:sp>
      <p:sp>
        <p:nvSpPr>
          <p:cNvPr id="63" name="Text 60"/>
          <p:cNvSpPr/>
          <p:nvPr/>
        </p:nvSpPr>
        <p:spPr>
          <a:xfrm>
            <a:off x="4407408" y="3749040"/>
            <a:ext cx="1783080" cy="25603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Allowlist + secure name</a:t>
            </a:r>
            <a:endParaRPr lang="en-US" sz="900" dirty="0"/>
          </a:p>
        </p:txBody>
      </p:sp>
      <p:sp>
        <p:nvSpPr>
          <p:cNvPr id="64" name="Shape 61"/>
          <p:cNvSpPr/>
          <p:nvPr/>
        </p:nvSpPr>
        <p:spPr>
          <a:xfrm>
            <a:off x="6327648" y="3749040"/>
            <a:ext cx="1508760" cy="256032"/>
          </a:xfrm>
          <a:prstGeom prst="rect">
            <a:avLst/>
          </a:prstGeom>
          <a:solidFill>
            <a:srgbClr val="1A7A4A"/>
          </a:solidFill>
          <a:ln/>
        </p:spPr>
      </p:sp>
      <p:sp>
        <p:nvSpPr>
          <p:cNvPr id="65" name="Text 62"/>
          <p:cNvSpPr/>
          <p:nvPr/>
        </p:nvSpPr>
        <p:spPr>
          <a:xfrm>
            <a:off x="6327648" y="3749040"/>
            <a:ext cx="1508760" cy="256032"/>
          </a:xfrm>
          <a:prstGeom prst="rect">
            <a:avLst/>
          </a:prstGeom>
          <a:noFill/>
          <a:ln/>
        </p:spPr>
        <p:txBody>
          <a:bodyPr wrap="square" lIns="0" tIns="0" rIns="0" bIns="0" rtlCol="0" anchor="ctr"/>
          <a:lstStyle/>
          <a:p>
            <a:pPr algn="ctr" indent="0" marL="0">
              <a:buNone/>
            </a:pPr>
            <a:r>
              <a:rPr lang="en-US" sz="950" b="1" dirty="0">
                <a:solidFill>
                  <a:srgbClr val="FFFFFF"/>
                </a:solidFill>
              </a:rPr>
              <a:t>Secured</a:t>
            </a:r>
            <a:endParaRPr lang="en-US" sz="950" dirty="0"/>
          </a:p>
        </p:txBody>
      </p:sp>
      <p:sp>
        <p:nvSpPr>
          <p:cNvPr id="66" name="Shape 63"/>
          <p:cNvSpPr/>
          <p:nvPr/>
        </p:nvSpPr>
        <p:spPr>
          <a:xfrm>
            <a:off x="274320" y="4343400"/>
            <a:ext cx="8595360" cy="640080"/>
          </a:xfrm>
          <a:prstGeom prst="rect">
            <a:avLst/>
          </a:prstGeom>
          <a:solidFill>
            <a:srgbClr val="0D1B2A"/>
          </a:solidFill>
          <a:ln/>
          <a:effectLst>
            <a:outerShdw sx="100000" sy="100000" kx="0" ky="0" algn="bl" rotWithShape="0" blurRad="101600" dist="38100" dir="8100000">
              <a:srgbClr val="000000">
                <a:alpha val="10000"/>
              </a:srgbClr>
            </a:outerShdw>
          </a:effectLst>
        </p:spPr>
      </p:sp>
      <p:sp>
        <p:nvSpPr>
          <p:cNvPr id="67" name="Text 64"/>
          <p:cNvSpPr/>
          <p:nvPr/>
        </p:nvSpPr>
        <p:spPr>
          <a:xfrm>
            <a:off x="548640" y="4370832"/>
            <a:ext cx="1828800" cy="347472"/>
          </a:xfrm>
          <a:prstGeom prst="rect">
            <a:avLst/>
          </a:prstGeom>
          <a:noFill/>
          <a:ln/>
        </p:spPr>
        <p:txBody>
          <a:bodyPr wrap="square" lIns="0" tIns="0" rIns="0" bIns="0" rtlCol="0" anchor="ctr"/>
          <a:lstStyle/>
          <a:p>
            <a:pPr algn="ctr" indent="0" marL="0">
              <a:buNone/>
            </a:pPr>
            <a:r>
              <a:rPr lang="en-US" sz="2400" b="1" dirty="0">
                <a:solidFill>
                  <a:srgbClr val="A0C4FF"/>
                </a:solidFill>
                <a:latin typeface="Calibri" pitchFamily="34" charset="0"/>
                <a:ea typeface="Calibri" pitchFamily="34" charset="-122"/>
                <a:cs typeface="Calibri" pitchFamily="34" charset="-120"/>
              </a:rPr>
              <a:t>10</a:t>
            </a:r>
            <a:endParaRPr lang="en-US" sz="2400" dirty="0"/>
          </a:p>
        </p:txBody>
      </p:sp>
      <p:sp>
        <p:nvSpPr>
          <p:cNvPr id="68" name="Text 65"/>
          <p:cNvSpPr/>
          <p:nvPr/>
        </p:nvSpPr>
        <p:spPr>
          <a:xfrm>
            <a:off x="548640" y="4700016"/>
            <a:ext cx="1828800" cy="228600"/>
          </a:xfrm>
          <a:prstGeom prst="rect">
            <a:avLst/>
          </a:prstGeom>
          <a:noFill/>
          <a:ln/>
        </p:spPr>
        <p:txBody>
          <a:bodyPr wrap="square" lIns="0" tIns="0" rIns="0" bIns="0" rtlCol="0" anchor="ctr"/>
          <a:lstStyle/>
          <a:p>
            <a:pPr algn="ctr" indent="0" marL="0">
              <a:buNone/>
            </a:pPr>
            <a:r>
              <a:rPr lang="en-US" sz="900" dirty="0">
                <a:solidFill>
                  <a:srgbClr val="718096"/>
                </a:solidFill>
                <a:latin typeface="Calibri" pitchFamily="34" charset="0"/>
                <a:ea typeface="Calibri" pitchFamily="34" charset="-122"/>
                <a:cs typeface="Calibri" pitchFamily="34" charset="-120"/>
              </a:rPr>
              <a:t>Issues Resolved</a:t>
            </a:r>
            <a:endParaRPr lang="en-US" sz="900" dirty="0"/>
          </a:p>
        </p:txBody>
      </p:sp>
      <p:sp>
        <p:nvSpPr>
          <p:cNvPr id="69" name="Shape 66"/>
          <p:cNvSpPr/>
          <p:nvPr/>
        </p:nvSpPr>
        <p:spPr>
          <a:xfrm>
            <a:off x="2331720" y="4434840"/>
            <a:ext cx="36576" cy="475488"/>
          </a:xfrm>
          <a:prstGeom prst="rect">
            <a:avLst/>
          </a:prstGeom>
          <a:solidFill>
            <a:srgbClr val="718096"/>
          </a:solidFill>
          <a:ln/>
        </p:spPr>
      </p:sp>
      <p:sp>
        <p:nvSpPr>
          <p:cNvPr id="70" name="Text 67"/>
          <p:cNvSpPr/>
          <p:nvPr/>
        </p:nvSpPr>
        <p:spPr>
          <a:xfrm>
            <a:off x="2697480" y="4370832"/>
            <a:ext cx="1828800" cy="347472"/>
          </a:xfrm>
          <a:prstGeom prst="rect">
            <a:avLst/>
          </a:prstGeom>
          <a:noFill/>
          <a:ln/>
        </p:spPr>
        <p:txBody>
          <a:bodyPr wrap="square" lIns="0" tIns="0" rIns="0" bIns="0" rtlCol="0" anchor="ctr"/>
          <a:lstStyle/>
          <a:p>
            <a:pPr algn="ctr" indent="0" marL="0">
              <a:buNone/>
            </a:pPr>
            <a:r>
              <a:rPr lang="en-US" sz="2400" b="1" dirty="0">
                <a:solidFill>
                  <a:srgbClr val="A0C4FF"/>
                </a:solidFill>
                <a:latin typeface="Calibri" pitchFamily="34" charset="0"/>
                <a:ea typeface="Calibri" pitchFamily="34" charset="-122"/>
                <a:cs typeface="Calibri" pitchFamily="34" charset="-120"/>
              </a:rPr>
              <a:t>$40K</a:t>
            </a:r>
            <a:endParaRPr lang="en-US" sz="2400" dirty="0"/>
          </a:p>
        </p:txBody>
      </p:sp>
      <p:sp>
        <p:nvSpPr>
          <p:cNvPr id="71" name="Text 68"/>
          <p:cNvSpPr/>
          <p:nvPr/>
        </p:nvSpPr>
        <p:spPr>
          <a:xfrm>
            <a:off x="2697480" y="4700016"/>
            <a:ext cx="1828800" cy="228600"/>
          </a:xfrm>
          <a:prstGeom prst="rect">
            <a:avLst/>
          </a:prstGeom>
          <a:noFill/>
          <a:ln/>
        </p:spPr>
        <p:txBody>
          <a:bodyPr wrap="square" lIns="0" tIns="0" rIns="0" bIns="0" rtlCol="0" anchor="ctr"/>
          <a:lstStyle/>
          <a:p>
            <a:pPr algn="ctr" indent="0" marL="0">
              <a:buNone/>
            </a:pPr>
            <a:r>
              <a:rPr lang="en-US" sz="900" dirty="0">
                <a:solidFill>
                  <a:srgbClr val="718096"/>
                </a:solidFill>
                <a:latin typeface="Calibri" pitchFamily="34" charset="0"/>
                <a:ea typeface="Calibri" pitchFamily="34" charset="-122"/>
                <a:cs typeface="Calibri" pitchFamily="34" charset="-120"/>
              </a:rPr>
              <a:t>Annual Risk Eliminated</a:t>
            </a:r>
            <a:endParaRPr lang="en-US" sz="900" dirty="0"/>
          </a:p>
        </p:txBody>
      </p:sp>
      <p:sp>
        <p:nvSpPr>
          <p:cNvPr id="72" name="Shape 69"/>
          <p:cNvSpPr/>
          <p:nvPr/>
        </p:nvSpPr>
        <p:spPr>
          <a:xfrm>
            <a:off x="4480560" y="4434840"/>
            <a:ext cx="36576" cy="475488"/>
          </a:xfrm>
          <a:prstGeom prst="rect">
            <a:avLst/>
          </a:prstGeom>
          <a:solidFill>
            <a:srgbClr val="718096"/>
          </a:solidFill>
          <a:ln/>
        </p:spPr>
      </p:sp>
      <p:sp>
        <p:nvSpPr>
          <p:cNvPr id="73" name="Text 70"/>
          <p:cNvSpPr/>
          <p:nvPr/>
        </p:nvSpPr>
        <p:spPr>
          <a:xfrm>
            <a:off x="4846320" y="4370832"/>
            <a:ext cx="1828800" cy="347472"/>
          </a:xfrm>
          <a:prstGeom prst="rect">
            <a:avLst/>
          </a:prstGeom>
          <a:noFill/>
          <a:ln/>
        </p:spPr>
        <p:txBody>
          <a:bodyPr wrap="square" lIns="0" tIns="0" rIns="0" bIns="0" rtlCol="0" anchor="ctr"/>
          <a:lstStyle/>
          <a:p>
            <a:pPr algn="ctr" indent="0" marL="0">
              <a:buNone/>
            </a:pPr>
            <a:r>
              <a:rPr lang="en-US" sz="2400" b="1" dirty="0">
                <a:solidFill>
                  <a:srgbClr val="A0C4FF"/>
                </a:solidFill>
                <a:latin typeface="Calibri" pitchFamily="34" charset="0"/>
                <a:ea typeface="Calibri" pitchFamily="34" charset="-122"/>
                <a:cs typeface="Calibri" pitchFamily="34" charset="-120"/>
              </a:rPr>
              <a:t>100%</a:t>
            </a:r>
            <a:endParaRPr lang="en-US" sz="2400" dirty="0"/>
          </a:p>
        </p:txBody>
      </p:sp>
      <p:sp>
        <p:nvSpPr>
          <p:cNvPr id="74" name="Text 71"/>
          <p:cNvSpPr/>
          <p:nvPr/>
        </p:nvSpPr>
        <p:spPr>
          <a:xfrm>
            <a:off x="4846320" y="4700016"/>
            <a:ext cx="1828800" cy="228600"/>
          </a:xfrm>
          <a:prstGeom prst="rect">
            <a:avLst/>
          </a:prstGeom>
          <a:noFill/>
          <a:ln/>
        </p:spPr>
        <p:txBody>
          <a:bodyPr wrap="square" lIns="0" tIns="0" rIns="0" bIns="0" rtlCol="0" anchor="ctr"/>
          <a:lstStyle/>
          <a:p>
            <a:pPr algn="ctr" indent="0" marL="0">
              <a:buNone/>
            </a:pPr>
            <a:r>
              <a:rPr lang="en-US" sz="900" dirty="0">
                <a:solidFill>
                  <a:srgbClr val="718096"/>
                </a:solidFill>
                <a:latin typeface="Calibri" pitchFamily="34" charset="0"/>
                <a:ea typeface="Calibri" pitchFamily="34" charset="-122"/>
                <a:cs typeface="Calibri" pitchFamily="34" charset="-120"/>
              </a:rPr>
              <a:t>SAST Pass Rate</a:t>
            </a:r>
            <a:endParaRPr lang="en-US" sz="900" dirty="0"/>
          </a:p>
        </p:txBody>
      </p:sp>
      <p:sp>
        <p:nvSpPr>
          <p:cNvPr id="75" name="Shape 72"/>
          <p:cNvSpPr/>
          <p:nvPr/>
        </p:nvSpPr>
        <p:spPr>
          <a:xfrm>
            <a:off x="6629400" y="4434840"/>
            <a:ext cx="36576" cy="475488"/>
          </a:xfrm>
          <a:prstGeom prst="rect">
            <a:avLst/>
          </a:prstGeom>
          <a:solidFill>
            <a:srgbClr val="718096"/>
          </a:solidFill>
          <a:ln/>
        </p:spPr>
      </p:sp>
      <p:sp>
        <p:nvSpPr>
          <p:cNvPr id="76" name="Text 73"/>
          <p:cNvSpPr/>
          <p:nvPr/>
        </p:nvSpPr>
        <p:spPr>
          <a:xfrm>
            <a:off x="6995160" y="4370832"/>
            <a:ext cx="1828800" cy="347472"/>
          </a:xfrm>
          <a:prstGeom prst="rect">
            <a:avLst/>
          </a:prstGeom>
          <a:noFill/>
          <a:ln/>
        </p:spPr>
        <p:txBody>
          <a:bodyPr wrap="square" lIns="0" tIns="0" rIns="0" bIns="0" rtlCol="0" anchor="ctr"/>
          <a:lstStyle/>
          <a:p>
            <a:pPr algn="ctr" indent="0" marL="0">
              <a:buNone/>
            </a:pPr>
            <a:r>
              <a:rPr lang="en-US" sz="2400" b="1" dirty="0">
                <a:solidFill>
                  <a:srgbClr val="A0C4FF"/>
                </a:solidFill>
                <a:latin typeface="Calibri" pitchFamily="34" charset="0"/>
                <a:ea typeface="Calibri" pitchFamily="34" charset="-122"/>
                <a:cs typeface="Calibri" pitchFamily="34" charset="-120"/>
              </a:rPr>
              <a:t>0</a:t>
            </a:r>
            <a:endParaRPr lang="en-US" sz="2400" dirty="0"/>
          </a:p>
        </p:txBody>
      </p:sp>
      <p:sp>
        <p:nvSpPr>
          <p:cNvPr id="77" name="Text 74"/>
          <p:cNvSpPr/>
          <p:nvPr/>
        </p:nvSpPr>
        <p:spPr>
          <a:xfrm>
            <a:off x="6995160" y="4700016"/>
            <a:ext cx="1828800" cy="228600"/>
          </a:xfrm>
          <a:prstGeom prst="rect">
            <a:avLst/>
          </a:prstGeom>
          <a:noFill/>
          <a:ln/>
        </p:spPr>
        <p:txBody>
          <a:bodyPr wrap="square" lIns="0" tIns="0" rIns="0" bIns="0" rtlCol="0" anchor="ctr"/>
          <a:lstStyle/>
          <a:p>
            <a:pPr algn="ctr" indent="0" marL="0">
              <a:buNone/>
            </a:pPr>
            <a:r>
              <a:rPr lang="en-US" sz="900" dirty="0">
                <a:solidFill>
                  <a:srgbClr val="718096"/>
                </a:solidFill>
                <a:latin typeface="Calibri" pitchFamily="34" charset="0"/>
                <a:ea typeface="Calibri" pitchFamily="34" charset="-122"/>
                <a:cs typeface="Calibri" pitchFamily="34" charset="-120"/>
              </a:rPr>
              <a:t>Residual HIGH Findings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1B3A5C">
              <a:alpha val="40000"/>
            </a:srgbClr>
          </a:solidFill>
          <a:ln/>
        </p:spPr>
      </p:sp>
      <p:sp>
        <p:nvSpPr>
          <p:cNvPr id="3" name="Shape 1"/>
          <p:cNvSpPr/>
          <p:nvPr/>
        </p:nvSpPr>
        <p:spPr>
          <a:xfrm>
            <a:off x="7315200" y="0"/>
            <a:ext cx="1828800" cy="5143500"/>
          </a:xfrm>
          <a:prstGeom prst="rect">
            <a:avLst/>
          </a:prstGeom>
          <a:solidFill>
            <a:srgbClr val="4A6FA5">
              <a:alpha val="25000"/>
            </a:srgbClr>
          </a:solidFill>
          <a:ln/>
        </p:spPr>
      </p:sp>
      <p:pic>
        <p:nvPicPr>
          <p:cNvPr id="4" name="Image 0" descr="preencoded.png">    </p:cNvPr>
          <p:cNvPicPr>
            <a:picLocks noChangeAspect="1"/>
          </p:cNvPicPr>
          <p:nvPr/>
        </p:nvPicPr>
        <p:blipFill>
          <a:blip r:embed="rId1">
            <a:alphaModFix amt="75000"/>
          </a:blip>
          <a:stretch>
            <a:fillRect/>
          </a:stretch>
        </p:blipFill>
        <p:spPr>
          <a:xfrm>
            <a:off x="6583680" y="731520"/>
            <a:ext cx="2194560" cy="2194560"/>
          </a:xfrm>
          <a:prstGeom prst="rect">
            <a:avLst/>
          </a:prstGeom>
        </p:spPr>
      </p:pic>
      <p:sp>
        <p:nvSpPr>
          <p:cNvPr id="5" name="Shape 2"/>
          <p:cNvSpPr/>
          <p:nvPr/>
        </p:nvSpPr>
        <p:spPr>
          <a:xfrm>
            <a:off x="0" y="0"/>
            <a:ext cx="73152" cy="5143500"/>
          </a:xfrm>
          <a:prstGeom prst="rect">
            <a:avLst/>
          </a:prstGeom>
          <a:solidFill>
            <a:srgbClr val="1A7A4A"/>
          </a:solidFill>
          <a:ln/>
        </p:spPr>
      </p:sp>
      <p:sp>
        <p:nvSpPr>
          <p:cNvPr id="6" name="Shape 3"/>
          <p:cNvSpPr/>
          <p:nvPr/>
        </p:nvSpPr>
        <p:spPr>
          <a:xfrm>
            <a:off x="228600" y="182880"/>
            <a:ext cx="2011680" cy="320040"/>
          </a:xfrm>
          <a:prstGeom prst="rect">
            <a:avLst/>
          </a:prstGeom>
          <a:solidFill>
            <a:srgbClr val="1A7A4A"/>
          </a:solidFill>
          <a:ln/>
        </p:spPr>
      </p:sp>
      <p:sp>
        <p:nvSpPr>
          <p:cNvPr id="7" name="Text 4"/>
          <p:cNvSpPr/>
          <p:nvPr/>
        </p:nvSpPr>
        <p:spPr>
          <a:xfrm>
            <a:off x="228600" y="182880"/>
            <a:ext cx="2011680" cy="320040"/>
          </a:xfrm>
          <a:prstGeom prst="rect">
            <a:avLst/>
          </a:prstGeom>
          <a:noFill/>
          <a:ln/>
        </p:spPr>
        <p:txBody>
          <a:bodyPr wrap="square" lIns="0" tIns="0" rIns="0" bIns="0" rtlCol="0" anchor="ctr"/>
          <a:lstStyle/>
          <a:p>
            <a:pPr algn="ctr" indent="0" marL="0">
              <a:buNone/>
            </a:pPr>
            <a:r>
              <a:rPr lang="en-US" sz="1000" b="1" spc="200" kern="0" dirty="0">
                <a:solidFill>
                  <a:srgbClr val="FFFFFF"/>
                </a:solidFill>
              </a:rPr>
              <a:t>KEY TAKEAWAYS</a:t>
            </a:r>
            <a:endParaRPr lang="en-US" sz="1000" dirty="0"/>
          </a:p>
        </p:txBody>
      </p:sp>
      <p:sp>
        <p:nvSpPr>
          <p:cNvPr id="8" name="Text 5"/>
          <p:cNvSpPr/>
          <p:nvPr/>
        </p:nvSpPr>
        <p:spPr>
          <a:xfrm>
            <a:off x="228600" y="594360"/>
            <a:ext cx="566928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Project Teaches Us</a:t>
            </a:r>
            <a:endParaRPr lang="en-US" sz="2600" dirty="0"/>
          </a:p>
        </p:txBody>
      </p:sp>
      <p:sp>
        <p:nvSpPr>
          <p:cNvPr id="9" name="Shape 6"/>
          <p:cNvSpPr/>
          <p:nvPr/>
        </p:nvSpPr>
        <p:spPr>
          <a:xfrm>
            <a:off x="228600" y="1371600"/>
            <a:ext cx="5760720" cy="804672"/>
          </a:xfrm>
          <a:prstGeom prst="rect">
            <a:avLst/>
          </a:prstGeom>
          <a:solidFill>
            <a:srgbClr val="2C5282">
              <a:alpha val="60000"/>
            </a:srgbClr>
          </a:solidFill>
          <a:ln/>
        </p:spPr>
      </p:sp>
      <p:sp>
        <p:nvSpPr>
          <p:cNvPr id="10" name="Shape 7"/>
          <p:cNvSpPr/>
          <p:nvPr/>
        </p:nvSpPr>
        <p:spPr>
          <a:xfrm>
            <a:off x="228600" y="1371600"/>
            <a:ext cx="502920" cy="804672"/>
          </a:xfrm>
          <a:prstGeom prst="rect">
            <a:avLst/>
          </a:prstGeom>
          <a:solidFill>
            <a:srgbClr val="1A7A4A">
              <a:alpha val="80000"/>
            </a:srgbClr>
          </a:solidFill>
          <a:ln/>
        </p:spPr>
      </p:sp>
      <p:sp>
        <p:nvSpPr>
          <p:cNvPr id="11" name="Text 8"/>
          <p:cNvSpPr/>
          <p:nvPr/>
        </p:nvSpPr>
        <p:spPr>
          <a:xfrm>
            <a:off x="228600" y="1371600"/>
            <a:ext cx="502920" cy="804672"/>
          </a:xfrm>
          <a:prstGeom prst="rect">
            <a:avLst/>
          </a:prstGeom>
          <a:noFill/>
          <a:ln/>
        </p:spPr>
        <p:txBody>
          <a:bodyPr wrap="square" lIns="0" tIns="0" rIns="0" bIns="0" rtlCol="0" anchor="ctr"/>
          <a:lstStyle/>
          <a:p>
            <a:pPr algn="ctr" indent="0" marL="0">
              <a:buNone/>
            </a:pPr>
            <a:r>
              <a:rPr lang="en-US" sz="1400" b="1" dirty="0">
                <a:solidFill>
                  <a:srgbClr val="A0E8B8"/>
                </a:solidFill>
              </a:rPr>
              <a:t>01</a:t>
            </a:r>
            <a:endParaRPr lang="en-US" sz="1400" dirty="0"/>
          </a:p>
        </p:txBody>
      </p:sp>
      <p:sp>
        <p:nvSpPr>
          <p:cNvPr id="12" name="Text 9"/>
          <p:cNvSpPr/>
          <p:nvPr/>
        </p:nvSpPr>
        <p:spPr>
          <a:xfrm>
            <a:off x="841248" y="1426464"/>
            <a:ext cx="5029200" cy="256032"/>
          </a:xfrm>
          <a:prstGeom prst="rect">
            <a:avLst/>
          </a:prstGeom>
          <a:noFill/>
          <a:ln/>
        </p:spPr>
        <p:txBody>
          <a:bodyPr wrap="square" lIns="0" tIns="0" rIns="0" bIns="0" rtlCol="0" anchor="ctr"/>
          <a:lstStyle/>
          <a:p>
            <a:pPr indent="0" marL="0">
              <a:buNone/>
            </a:pPr>
            <a:r>
              <a:rPr lang="en-US" sz="1100" b="1" dirty="0">
                <a:solidFill>
                  <a:srgbClr val="A0C4FF"/>
                </a:solidFill>
                <a:latin typeface="Calibri" pitchFamily="34" charset="0"/>
                <a:ea typeface="Calibri" pitchFamily="34" charset="-122"/>
                <a:cs typeface="Calibri" pitchFamily="34" charset="-120"/>
              </a:rPr>
              <a:t>Security Must Be Built-In, Not Bolted-On</a:t>
            </a:r>
            <a:endParaRPr lang="en-US" sz="1100" dirty="0"/>
          </a:p>
        </p:txBody>
      </p:sp>
      <p:sp>
        <p:nvSpPr>
          <p:cNvPr id="13" name="Text 10"/>
          <p:cNvSpPr/>
          <p:nvPr/>
        </p:nvSpPr>
        <p:spPr>
          <a:xfrm>
            <a:off x="841248" y="1673352"/>
            <a:ext cx="5029200" cy="438912"/>
          </a:xfrm>
          <a:prstGeom prst="rect">
            <a:avLst/>
          </a:prstGeom>
          <a:noFill/>
          <a:ln/>
        </p:spPr>
        <p:txBody>
          <a:bodyPr wrap="square" lIns="0" tIns="0" rIns="0" bIns="0" rtlCol="0" anchor="ctr"/>
          <a:lstStyle/>
          <a:p>
            <a:pPr indent="0" marL="0">
              <a:buNone/>
            </a:pPr>
            <a:r>
              <a:rPr lang="en-US" sz="900" dirty="0">
                <a:solidFill>
                  <a:srgbClr val="C8D8F0"/>
                </a:solidFill>
                <a:latin typeface="Calibri" pitchFamily="34" charset="0"/>
                <a:ea typeface="Calibri" pitchFamily="34" charset="-122"/>
                <a:cs typeface="Calibri" pitchFamily="34" charset="-120"/>
              </a:rPr>
              <a:t>Intentionally building vulnerable code and then securing it shows how architecture decisions made early in the SDLC directly determine attack surface.</a:t>
            </a:r>
            <a:endParaRPr lang="en-US" sz="900" dirty="0"/>
          </a:p>
        </p:txBody>
      </p:sp>
      <p:sp>
        <p:nvSpPr>
          <p:cNvPr id="14" name="Shape 11"/>
          <p:cNvSpPr/>
          <p:nvPr/>
        </p:nvSpPr>
        <p:spPr>
          <a:xfrm>
            <a:off x="228600" y="2267712"/>
            <a:ext cx="5760720" cy="804672"/>
          </a:xfrm>
          <a:prstGeom prst="rect">
            <a:avLst/>
          </a:prstGeom>
          <a:solidFill>
            <a:srgbClr val="2C5282">
              <a:alpha val="60000"/>
            </a:srgbClr>
          </a:solidFill>
          <a:ln/>
        </p:spPr>
      </p:sp>
      <p:sp>
        <p:nvSpPr>
          <p:cNvPr id="15" name="Shape 12"/>
          <p:cNvSpPr/>
          <p:nvPr/>
        </p:nvSpPr>
        <p:spPr>
          <a:xfrm>
            <a:off x="228600" y="2267712"/>
            <a:ext cx="502920" cy="804672"/>
          </a:xfrm>
          <a:prstGeom prst="rect">
            <a:avLst/>
          </a:prstGeom>
          <a:solidFill>
            <a:srgbClr val="1A7A4A">
              <a:alpha val="80000"/>
            </a:srgbClr>
          </a:solidFill>
          <a:ln/>
        </p:spPr>
      </p:sp>
      <p:sp>
        <p:nvSpPr>
          <p:cNvPr id="16" name="Text 13"/>
          <p:cNvSpPr/>
          <p:nvPr/>
        </p:nvSpPr>
        <p:spPr>
          <a:xfrm>
            <a:off x="228600" y="2267712"/>
            <a:ext cx="502920" cy="804672"/>
          </a:xfrm>
          <a:prstGeom prst="rect">
            <a:avLst/>
          </a:prstGeom>
          <a:noFill/>
          <a:ln/>
        </p:spPr>
        <p:txBody>
          <a:bodyPr wrap="square" lIns="0" tIns="0" rIns="0" bIns="0" rtlCol="0" anchor="ctr"/>
          <a:lstStyle/>
          <a:p>
            <a:pPr algn="ctr" indent="0" marL="0">
              <a:buNone/>
            </a:pPr>
            <a:r>
              <a:rPr lang="en-US" sz="1400" b="1" dirty="0">
                <a:solidFill>
                  <a:srgbClr val="A0E8B8"/>
                </a:solidFill>
              </a:rPr>
              <a:t>02</a:t>
            </a:r>
            <a:endParaRPr lang="en-US" sz="1400" dirty="0"/>
          </a:p>
        </p:txBody>
      </p:sp>
      <p:sp>
        <p:nvSpPr>
          <p:cNvPr id="17" name="Text 14"/>
          <p:cNvSpPr/>
          <p:nvPr/>
        </p:nvSpPr>
        <p:spPr>
          <a:xfrm>
            <a:off x="841248" y="2322576"/>
            <a:ext cx="5029200" cy="256032"/>
          </a:xfrm>
          <a:prstGeom prst="rect">
            <a:avLst/>
          </a:prstGeom>
          <a:noFill/>
          <a:ln/>
        </p:spPr>
        <p:txBody>
          <a:bodyPr wrap="square" lIns="0" tIns="0" rIns="0" bIns="0" rtlCol="0" anchor="ctr"/>
          <a:lstStyle/>
          <a:p>
            <a:pPr indent="0" marL="0">
              <a:buNone/>
            </a:pPr>
            <a:r>
              <a:rPr lang="en-US" sz="1100" b="1" dirty="0">
                <a:solidFill>
                  <a:srgbClr val="A0C4FF"/>
                </a:solidFill>
                <a:latin typeface="Calibri" pitchFamily="34" charset="0"/>
                <a:ea typeface="Calibri" pitchFamily="34" charset="-122"/>
                <a:cs typeface="Calibri" pitchFamily="34" charset="-120"/>
              </a:rPr>
              <a:t>Automation Enforces Standards at Scale</a:t>
            </a:r>
            <a:endParaRPr lang="en-US" sz="1100" dirty="0"/>
          </a:p>
        </p:txBody>
      </p:sp>
      <p:sp>
        <p:nvSpPr>
          <p:cNvPr id="18" name="Text 15"/>
          <p:cNvSpPr/>
          <p:nvPr/>
        </p:nvSpPr>
        <p:spPr>
          <a:xfrm>
            <a:off x="841248" y="2569464"/>
            <a:ext cx="5029200" cy="438912"/>
          </a:xfrm>
          <a:prstGeom prst="rect">
            <a:avLst/>
          </a:prstGeom>
          <a:noFill/>
          <a:ln/>
        </p:spPr>
        <p:txBody>
          <a:bodyPr wrap="square" lIns="0" tIns="0" rIns="0" bIns="0" rtlCol="0" anchor="ctr"/>
          <a:lstStyle/>
          <a:p>
            <a:pPr indent="0" marL="0">
              <a:buNone/>
            </a:pPr>
            <a:r>
              <a:rPr lang="en-US" sz="900" dirty="0">
                <a:solidFill>
                  <a:srgbClr val="C8D8F0"/>
                </a:solidFill>
                <a:latin typeface="Calibri" pitchFamily="34" charset="0"/>
                <a:ea typeface="Calibri" pitchFamily="34" charset="-122"/>
                <a:cs typeface="Calibri" pitchFamily="34" charset="-120"/>
              </a:rPr>
              <a:t>A GitHub Actions pipeline that fails on HIGH Bandit findings means no insecure code can ship — human review alone is insufficient.</a:t>
            </a:r>
            <a:endParaRPr lang="en-US" sz="900" dirty="0"/>
          </a:p>
        </p:txBody>
      </p:sp>
      <p:sp>
        <p:nvSpPr>
          <p:cNvPr id="19" name="Shape 16"/>
          <p:cNvSpPr/>
          <p:nvPr/>
        </p:nvSpPr>
        <p:spPr>
          <a:xfrm>
            <a:off x="228600" y="3163824"/>
            <a:ext cx="5760720" cy="804672"/>
          </a:xfrm>
          <a:prstGeom prst="rect">
            <a:avLst/>
          </a:prstGeom>
          <a:solidFill>
            <a:srgbClr val="2C5282">
              <a:alpha val="60000"/>
            </a:srgbClr>
          </a:solidFill>
          <a:ln/>
        </p:spPr>
      </p:sp>
      <p:sp>
        <p:nvSpPr>
          <p:cNvPr id="20" name="Shape 17"/>
          <p:cNvSpPr/>
          <p:nvPr/>
        </p:nvSpPr>
        <p:spPr>
          <a:xfrm>
            <a:off x="228600" y="3163824"/>
            <a:ext cx="502920" cy="804672"/>
          </a:xfrm>
          <a:prstGeom prst="rect">
            <a:avLst/>
          </a:prstGeom>
          <a:solidFill>
            <a:srgbClr val="1A7A4A">
              <a:alpha val="80000"/>
            </a:srgbClr>
          </a:solidFill>
          <a:ln/>
        </p:spPr>
      </p:sp>
      <p:sp>
        <p:nvSpPr>
          <p:cNvPr id="21" name="Text 18"/>
          <p:cNvSpPr/>
          <p:nvPr/>
        </p:nvSpPr>
        <p:spPr>
          <a:xfrm>
            <a:off x="228600" y="3163824"/>
            <a:ext cx="502920" cy="804672"/>
          </a:xfrm>
          <a:prstGeom prst="rect">
            <a:avLst/>
          </a:prstGeom>
          <a:noFill/>
          <a:ln/>
        </p:spPr>
        <p:txBody>
          <a:bodyPr wrap="square" lIns="0" tIns="0" rIns="0" bIns="0" rtlCol="0" anchor="ctr"/>
          <a:lstStyle/>
          <a:p>
            <a:pPr algn="ctr" indent="0" marL="0">
              <a:buNone/>
            </a:pPr>
            <a:r>
              <a:rPr lang="en-US" sz="1400" b="1" dirty="0">
                <a:solidFill>
                  <a:srgbClr val="A0E8B8"/>
                </a:solidFill>
              </a:rPr>
              <a:t>03</a:t>
            </a:r>
            <a:endParaRPr lang="en-US" sz="1400" dirty="0"/>
          </a:p>
        </p:txBody>
      </p:sp>
      <p:sp>
        <p:nvSpPr>
          <p:cNvPr id="22" name="Text 19"/>
          <p:cNvSpPr/>
          <p:nvPr/>
        </p:nvSpPr>
        <p:spPr>
          <a:xfrm>
            <a:off x="841248" y="3218688"/>
            <a:ext cx="5029200" cy="256032"/>
          </a:xfrm>
          <a:prstGeom prst="rect">
            <a:avLst/>
          </a:prstGeom>
          <a:noFill/>
          <a:ln/>
        </p:spPr>
        <p:txBody>
          <a:bodyPr wrap="square" lIns="0" tIns="0" rIns="0" bIns="0" rtlCol="0" anchor="ctr"/>
          <a:lstStyle/>
          <a:p>
            <a:pPr indent="0" marL="0">
              <a:buNone/>
            </a:pPr>
            <a:r>
              <a:rPr lang="en-US" sz="1100" b="1" dirty="0">
                <a:solidFill>
                  <a:srgbClr val="A0C4FF"/>
                </a:solidFill>
                <a:latin typeface="Calibri" pitchFamily="34" charset="0"/>
                <a:ea typeface="Calibri" pitchFamily="34" charset="-122"/>
                <a:cs typeface="Calibri" pitchFamily="34" charset="-120"/>
              </a:rPr>
              <a:t>Quantify Risk to Prioritize Investment</a:t>
            </a:r>
            <a:endParaRPr lang="en-US" sz="1100" dirty="0"/>
          </a:p>
        </p:txBody>
      </p:sp>
      <p:sp>
        <p:nvSpPr>
          <p:cNvPr id="23" name="Text 20"/>
          <p:cNvSpPr/>
          <p:nvPr/>
        </p:nvSpPr>
        <p:spPr>
          <a:xfrm>
            <a:off x="841248" y="3465576"/>
            <a:ext cx="5029200" cy="438912"/>
          </a:xfrm>
          <a:prstGeom prst="rect">
            <a:avLst/>
          </a:prstGeom>
          <a:noFill/>
          <a:ln/>
        </p:spPr>
        <p:txBody>
          <a:bodyPr wrap="square" lIns="0" tIns="0" rIns="0" bIns="0" rtlCol="0" anchor="ctr"/>
          <a:lstStyle/>
          <a:p>
            <a:pPr indent="0" marL="0">
              <a:buNone/>
            </a:pPr>
            <a:r>
              <a:rPr lang="en-US" sz="900" dirty="0">
                <a:solidFill>
                  <a:srgbClr val="C8D8F0"/>
                </a:solidFill>
                <a:latin typeface="Calibri" pitchFamily="34" charset="0"/>
                <a:ea typeface="Calibri" pitchFamily="34" charset="-122"/>
                <a:cs typeface="Calibri" pitchFamily="34" charset="-120"/>
              </a:rPr>
              <a:t>ALE=$40K/year for SQL injection translates a technical risk into business language. A $2K dev sprint to fix it has a 20× ROI.</a:t>
            </a:r>
            <a:endParaRPr lang="en-US" sz="900" dirty="0"/>
          </a:p>
        </p:txBody>
      </p:sp>
      <p:sp>
        <p:nvSpPr>
          <p:cNvPr id="24" name="Shape 21"/>
          <p:cNvSpPr/>
          <p:nvPr/>
        </p:nvSpPr>
        <p:spPr>
          <a:xfrm>
            <a:off x="228600" y="4059936"/>
            <a:ext cx="5760720" cy="804672"/>
          </a:xfrm>
          <a:prstGeom prst="rect">
            <a:avLst/>
          </a:prstGeom>
          <a:solidFill>
            <a:srgbClr val="2C5282">
              <a:alpha val="60000"/>
            </a:srgbClr>
          </a:solidFill>
          <a:ln/>
        </p:spPr>
      </p:sp>
      <p:sp>
        <p:nvSpPr>
          <p:cNvPr id="25" name="Shape 22"/>
          <p:cNvSpPr/>
          <p:nvPr/>
        </p:nvSpPr>
        <p:spPr>
          <a:xfrm>
            <a:off x="228600" y="4059936"/>
            <a:ext cx="502920" cy="804672"/>
          </a:xfrm>
          <a:prstGeom prst="rect">
            <a:avLst/>
          </a:prstGeom>
          <a:solidFill>
            <a:srgbClr val="1A7A4A">
              <a:alpha val="80000"/>
            </a:srgbClr>
          </a:solidFill>
          <a:ln/>
        </p:spPr>
      </p:sp>
      <p:sp>
        <p:nvSpPr>
          <p:cNvPr id="26" name="Text 23"/>
          <p:cNvSpPr/>
          <p:nvPr/>
        </p:nvSpPr>
        <p:spPr>
          <a:xfrm>
            <a:off x="228600" y="4059936"/>
            <a:ext cx="502920" cy="804672"/>
          </a:xfrm>
          <a:prstGeom prst="rect">
            <a:avLst/>
          </a:prstGeom>
          <a:noFill/>
          <a:ln/>
        </p:spPr>
        <p:txBody>
          <a:bodyPr wrap="square" lIns="0" tIns="0" rIns="0" bIns="0" rtlCol="0" anchor="ctr"/>
          <a:lstStyle/>
          <a:p>
            <a:pPr algn="ctr" indent="0" marL="0">
              <a:buNone/>
            </a:pPr>
            <a:r>
              <a:rPr lang="en-US" sz="1400" b="1" dirty="0">
                <a:solidFill>
                  <a:srgbClr val="A0E8B8"/>
                </a:solidFill>
              </a:rPr>
              <a:t>04</a:t>
            </a:r>
            <a:endParaRPr lang="en-US" sz="1400" dirty="0"/>
          </a:p>
        </p:txBody>
      </p:sp>
      <p:sp>
        <p:nvSpPr>
          <p:cNvPr id="27" name="Text 24"/>
          <p:cNvSpPr/>
          <p:nvPr/>
        </p:nvSpPr>
        <p:spPr>
          <a:xfrm>
            <a:off x="841248" y="4114800"/>
            <a:ext cx="5029200" cy="256032"/>
          </a:xfrm>
          <a:prstGeom prst="rect">
            <a:avLst/>
          </a:prstGeom>
          <a:noFill/>
          <a:ln/>
        </p:spPr>
        <p:txBody>
          <a:bodyPr wrap="square" lIns="0" tIns="0" rIns="0" bIns="0" rtlCol="0" anchor="ctr"/>
          <a:lstStyle/>
          <a:p>
            <a:pPr indent="0" marL="0">
              <a:buNone/>
            </a:pPr>
            <a:r>
              <a:rPr lang="en-US" sz="1100" b="1" dirty="0">
                <a:solidFill>
                  <a:srgbClr val="A0C4FF"/>
                </a:solidFill>
                <a:latin typeface="Calibri" pitchFamily="34" charset="0"/>
                <a:ea typeface="Calibri" pitchFamily="34" charset="-122"/>
                <a:cs typeface="Calibri" pitchFamily="34" charset="-120"/>
              </a:rPr>
              <a:t>STRIDE + MITRE = Comprehensive Coverage</a:t>
            </a:r>
            <a:endParaRPr lang="en-US" sz="1100" dirty="0"/>
          </a:p>
        </p:txBody>
      </p:sp>
      <p:sp>
        <p:nvSpPr>
          <p:cNvPr id="28" name="Text 25"/>
          <p:cNvSpPr/>
          <p:nvPr/>
        </p:nvSpPr>
        <p:spPr>
          <a:xfrm>
            <a:off x="841248" y="4361688"/>
            <a:ext cx="5029200" cy="438912"/>
          </a:xfrm>
          <a:prstGeom prst="rect">
            <a:avLst/>
          </a:prstGeom>
          <a:noFill/>
          <a:ln/>
        </p:spPr>
        <p:txBody>
          <a:bodyPr wrap="square" lIns="0" tIns="0" rIns="0" bIns="0" rtlCol="0" anchor="ctr"/>
          <a:lstStyle/>
          <a:p>
            <a:pPr indent="0" marL="0">
              <a:buNone/>
            </a:pPr>
            <a:r>
              <a:rPr lang="en-US" sz="900" dirty="0">
                <a:solidFill>
                  <a:srgbClr val="C8D8F0"/>
                </a:solidFill>
                <a:latin typeface="Calibri" pitchFamily="34" charset="0"/>
                <a:ea typeface="Calibri" pitchFamily="34" charset="-122"/>
                <a:cs typeface="Calibri" pitchFamily="34" charset="-120"/>
              </a:rPr>
              <a:t>Combining STRIDE threat modeling with MITRE ATT&amp;CK attack chaining ensures no threat category is overlooked — from design through deployment.</a:t>
            </a:r>
            <a:endParaRPr lang="en-US" sz="900" dirty="0"/>
          </a:p>
        </p:txBody>
      </p:sp>
      <p:sp>
        <p:nvSpPr>
          <p:cNvPr id="29" name="Shape 26"/>
          <p:cNvSpPr/>
          <p:nvPr/>
        </p:nvSpPr>
        <p:spPr>
          <a:xfrm>
            <a:off x="228600" y="4892040"/>
            <a:ext cx="5760720" cy="201168"/>
          </a:xfrm>
          <a:prstGeom prst="rect">
            <a:avLst/>
          </a:prstGeom>
          <a:solidFill>
            <a:srgbClr val="1A7A4A">
              <a:alpha val="40000"/>
            </a:srgbClr>
          </a:solidFill>
          <a:ln/>
        </p:spPr>
      </p:sp>
      <p:sp>
        <p:nvSpPr>
          <p:cNvPr id="30" name="Text 27"/>
          <p:cNvSpPr/>
          <p:nvPr/>
        </p:nvSpPr>
        <p:spPr>
          <a:xfrm>
            <a:off x="228600" y="4892040"/>
            <a:ext cx="5760720" cy="201168"/>
          </a:xfrm>
          <a:prstGeom prst="rect">
            <a:avLst/>
          </a:prstGeom>
          <a:noFill/>
          <a:ln/>
        </p:spPr>
        <p:txBody>
          <a:bodyPr wrap="square" lIns="0" tIns="0" rIns="0" bIns="0" rtlCol="0" anchor="ctr"/>
          <a:lstStyle/>
          <a:p>
            <a:pPr algn="ctr" indent="0" marL="0">
              <a:buNone/>
            </a:pPr>
            <a:r>
              <a:rPr lang="en-US" sz="850" i="1" dirty="0">
                <a:solidFill>
                  <a:srgbClr val="A0C4FF"/>
                </a:solidFill>
                <a:latin typeface="Calibri" pitchFamily="34" charset="0"/>
                <a:ea typeface="Calibri" pitchFamily="34" charset="-122"/>
                <a:cs typeface="Calibri" pitchFamily="34" charset="-120"/>
              </a:rPr>
              <a:t>Risk Management is not a one-time event — it is a continuous practice embedded into every phase of the SDLC.</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p:spPr>
      </p:sp>
      <p:sp>
        <p:nvSpPr>
          <p:cNvPr id="3" name="Shape 1"/>
          <p:cNvSpPr/>
          <p:nvPr/>
        </p:nvSpPr>
        <p:spPr>
          <a:xfrm>
            <a:off x="0" y="5070348"/>
            <a:ext cx="9144000" cy="73152"/>
          </a:xfrm>
          <a:prstGeom prst="rect">
            <a:avLst/>
          </a:prstGeom>
          <a:solidFill>
            <a:srgbClr val="1A7A4A"/>
          </a:solidFill>
          <a:ln/>
        </p:spPr>
      </p:sp>
      <p:pic>
        <p:nvPicPr>
          <p:cNvPr id="4" name="Image 0" descr="preencoded.png">    </p:cNvPr>
          <p:cNvPicPr>
            <a:picLocks noChangeAspect="1"/>
          </p:cNvPicPr>
          <p:nvPr/>
        </p:nvPicPr>
        <p:blipFill>
          <a:blip r:embed="rId1">
            <a:alphaModFix amt="85000"/>
          </a:blip>
          <a:stretch>
            <a:fillRect/>
          </a:stretch>
        </p:blipFill>
        <p:spPr>
          <a:xfrm>
            <a:off x="3474720" y="365760"/>
            <a:ext cx="2194560" cy="2194560"/>
          </a:xfrm>
          <a:prstGeom prst="rect">
            <a:avLst/>
          </a:prstGeom>
        </p:spPr>
      </p:pic>
      <p:sp>
        <p:nvSpPr>
          <p:cNvPr id="5" name="Text 2"/>
          <p:cNvSpPr/>
          <p:nvPr/>
        </p:nvSpPr>
        <p:spPr>
          <a:xfrm>
            <a:off x="0" y="2651760"/>
            <a:ext cx="9144000" cy="64008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6" name="Text 3"/>
          <p:cNvSpPr/>
          <p:nvPr/>
        </p:nvSpPr>
        <p:spPr>
          <a:xfrm>
            <a:off x="0" y="3246120"/>
            <a:ext cx="9144000" cy="411480"/>
          </a:xfrm>
          <a:prstGeom prst="rect">
            <a:avLst/>
          </a:prstGeom>
          <a:noFill/>
          <a:ln/>
        </p:spPr>
        <p:txBody>
          <a:bodyPr wrap="square" rtlCol="0" anchor="ctr"/>
          <a:lstStyle/>
          <a:p>
            <a:pPr algn="ctr" indent="0" marL="0">
              <a:buNone/>
            </a:pPr>
            <a:r>
              <a:rPr lang="en-US" sz="1800" i="1" dirty="0">
                <a:solidFill>
                  <a:srgbClr val="A0C4FF"/>
                </a:solidFill>
                <a:latin typeface="Calibri" pitchFamily="34" charset="0"/>
                <a:ea typeface="Calibri" pitchFamily="34" charset="-122"/>
                <a:cs typeface="Calibri" pitchFamily="34" charset="-120"/>
              </a:rPr>
              <a:t>Questions &amp; Discussion</a:t>
            </a:r>
            <a:endParaRPr lang="en-US" sz="1800" dirty="0"/>
          </a:p>
        </p:txBody>
      </p:sp>
      <p:sp>
        <p:nvSpPr>
          <p:cNvPr id="7" name="Shape 4"/>
          <p:cNvSpPr/>
          <p:nvPr/>
        </p:nvSpPr>
        <p:spPr>
          <a:xfrm>
            <a:off x="365760" y="3749040"/>
            <a:ext cx="1325880" cy="292608"/>
          </a:xfrm>
          <a:prstGeom prst="rect">
            <a:avLst/>
          </a:prstGeom>
          <a:solidFill>
            <a:srgbClr val="C0392B"/>
          </a:solidFill>
          <a:ln/>
        </p:spPr>
      </p:sp>
      <p:sp>
        <p:nvSpPr>
          <p:cNvPr id="8" name="Text 5"/>
          <p:cNvSpPr/>
          <p:nvPr/>
        </p:nvSpPr>
        <p:spPr>
          <a:xfrm>
            <a:off x="365760" y="3749040"/>
            <a:ext cx="1325880" cy="292608"/>
          </a:xfrm>
          <a:prstGeom prst="rect">
            <a:avLst/>
          </a:prstGeom>
          <a:noFill/>
          <a:ln/>
        </p:spPr>
        <p:txBody>
          <a:bodyPr wrap="square" lIns="0" tIns="0" rIns="0" bIns="0" rtlCol="0" anchor="ctr"/>
          <a:lstStyle/>
          <a:p>
            <a:pPr algn="ctr" indent="0" marL="0">
              <a:buNone/>
            </a:pPr>
            <a:r>
              <a:rPr lang="en-US" sz="850" b="1" dirty="0">
                <a:solidFill>
                  <a:srgbClr val="FFFFFF"/>
                </a:solidFill>
              </a:rPr>
              <a:t>Flask + MITRE ATT&amp;CK</a:t>
            </a:r>
            <a:endParaRPr lang="en-US" sz="850" dirty="0"/>
          </a:p>
        </p:txBody>
      </p:sp>
      <p:sp>
        <p:nvSpPr>
          <p:cNvPr id="9" name="Shape 6"/>
          <p:cNvSpPr/>
          <p:nvPr/>
        </p:nvSpPr>
        <p:spPr>
          <a:xfrm>
            <a:off x="1783080" y="3749040"/>
            <a:ext cx="1325880" cy="292608"/>
          </a:xfrm>
          <a:prstGeom prst="rect">
            <a:avLst/>
          </a:prstGeom>
          <a:solidFill>
            <a:srgbClr val="4A6FA5"/>
          </a:solidFill>
          <a:ln/>
        </p:spPr>
      </p:sp>
      <p:sp>
        <p:nvSpPr>
          <p:cNvPr id="10" name="Text 7"/>
          <p:cNvSpPr/>
          <p:nvPr/>
        </p:nvSpPr>
        <p:spPr>
          <a:xfrm>
            <a:off x="1783080" y="3749040"/>
            <a:ext cx="1325880" cy="292608"/>
          </a:xfrm>
          <a:prstGeom prst="rect">
            <a:avLst/>
          </a:prstGeom>
          <a:noFill/>
          <a:ln/>
        </p:spPr>
        <p:txBody>
          <a:bodyPr wrap="square" lIns="0" tIns="0" rIns="0" bIns="0" rtlCol="0" anchor="ctr"/>
          <a:lstStyle/>
          <a:p>
            <a:pPr algn="ctr" indent="0" marL="0">
              <a:buNone/>
            </a:pPr>
            <a:r>
              <a:rPr lang="en-US" sz="850" b="1" dirty="0">
                <a:solidFill>
                  <a:srgbClr val="FFFFFF"/>
                </a:solidFill>
              </a:rPr>
              <a:t>Bandit SAST</a:t>
            </a:r>
            <a:endParaRPr lang="en-US" sz="850" dirty="0"/>
          </a:p>
        </p:txBody>
      </p:sp>
      <p:sp>
        <p:nvSpPr>
          <p:cNvPr id="11" name="Shape 8"/>
          <p:cNvSpPr/>
          <p:nvPr/>
        </p:nvSpPr>
        <p:spPr>
          <a:xfrm>
            <a:off x="3200400" y="3749040"/>
            <a:ext cx="1325880" cy="292608"/>
          </a:xfrm>
          <a:prstGeom prst="rect">
            <a:avLst/>
          </a:prstGeom>
          <a:solidFill>
            <a:srgbClr val="2C5282"/>
          </a:solidFill>
          <a:ln/>
        </p:spPr>
      </p:sp>
      <p:sp>
        <p:nvSpPr>
          <p:cNvPr id="12" name="Text 9"/>
          <p:cNvSpPr/>
          <p:nvPr/>
        </p:nvSpPr>
        <p:spPr>
          <a:xfrm>
            <a:off x="3200400" y="3749040"/>
            <a:ext cx="1325880" cy="292608"/>
          </a:xfrm>
          <a:prstGeom prst="rect">
            <a:avLst/>
          </a:prstGeom>
          <a:noFill/>
          <a:ln/>
        </p:spPr>
        <p:txBody>
          <a:bodyPr wrap="square" lIns="0" tIns="0" rIns="0" bIns="0" rtlCol="0" anchor="ctr"/>
          <a:lstStyle/>
          <a:p>
            <a:pPr algn="ctr" indent="0" marL="0">
              <a:buNone/>
            </a:pPr>
            <a:r>
              <a:rPr lang="en-US" sz="850" b="1" dirty="0">
                <a:solidFill>
                  <a:srgbClr val="FFFFFF"/>
                </a:solidFill>
              </a:rPr>
              <a:t>STRIDE Modeling</a:t>
            </a:r>
            <a:endParaRPr lang="en-US" sz="850" dirty="0"/>
          </a:p>
        </p:txBody>
      </p:sp>
      <p:sp>
        <p:nvSpPr>
          <p:cNvPr id="13" name="Shape 10"/>
          <p:cNvSpPr/>
          <p:nvPr/>
        </p:nvSpPr>
        <p:spPr>
          <a:xfrm>
            <a:off x="4617720" y="3749040"/>
            <a:ext cx="1325880" cy="292608"/>
          </a:xfrm>
          <a:prstGeom prst="rect">
            <a:avLst/>
          </a:prstGeom>
          <a:solidFill>
            <a:srgbClr val="8B1A1A"/>
          </a:solidFill>
          <a:ln/>
        </p:spPr>
      </p:sp>
      <p:sp>
        <p:nvSpPr>
          <p:cNvPr id="14" name="Text 11"/>
          <p:cNvSpPr/>
          <p:nvPr/>
        </p:nvSpPr>
        <p:spPr>
          <a:xfrm>
            <a:off x="4617720" y="3749040"/>
            <a:ext cx="1325880" cy="292608"/>
          </a:xfrm>
          <a:prstGeom prst="rect">
            <a:avLst/>
          </a:prstGeom>
          <a:noFill/>
          <a:ln/>
        </p:spPr>
        <p:txBody>
          <a:bodyPr wrap="square" lIns="0" tIns="0" rIns="0" bIns="0" rtlCol="0" anchor="ctr"/>
          <a:lstStyle/>
          <a:p>
            <a:pPr algn="ctr" indent="0" marL="0">
              <a:buNone/>
            </a:pPr>
            <a:r>
              <a:rPr lang="en-US" sz="850" b="1" dirty="0">
                <a:solidFill>
                  <a:srgbClr val="FFFFFF"/>
                </a:solidFill>
              </a:rPr>
              <a:t>ALE = $40K/yr</a:t>
            </a:r>
            <a:endParaRPr lang="en-US" sz="850" dirty="0"/>
          </a:p>
        </p:txBody>
      </p:sp>
      <p:sp>
        <p:nvSpPr>
          <p:cNvPr id="15" name="Shape 12"/>
          <p:cNvSpPr/>
          <p:nvPr/>
        </p:nvSpPr>
        <p:spPr>
          <a:xfrm>
            <a:off x="6035040" y="3749040"/>
            <a:ext cx="1325880" cy="292608"/>
          </a:xfrm>
          <a:prstGeom prst="rect">
            <a:avLst/>
          </a:prstGeom>
          <a:solidFill>
            <a:srgbClr val="1B1F23"/>
          </a:solidFill>
          <a:ln/>
        </p:spPr>
      </p:sp>
      <p:sp>
        <p:nvSpPr>
          <p:cNvPr id="16" name="Text 13"/>
          <p:cNvSpPr/>
          <p:nvPr/>
        </p:nvSpPr>
        <p:spPr>
          <a:xfrm>
            <a:off x="6035040" y="3749040"/>
            <a:ext cx="1325880" cy="292608"/>
          </a:xfrm>
          <a:prstGeom prst="rect">
            <a:avLst/>
          </a:prstGeom>
          <a:noFill/>
          <a:ln/>
        </p:spPr>
        <p:txBody>
          <a:bodyPr wrap="square" lIns="0" tIns="0" rIns="0" bIns="0" rtlCol="0" anchor="ctr"/>
          <a:lstStyle/>
          <a:p>
            <a:pPr algn="ctr" indent="0" marL="0">
              <a:buNone/>
            </a:pPr>
            <a:r>
              <a:rPr lang="en-US" sz="850" b="1" dirty="0">
                <a:solidFill>
                  <a:srgbClr val="FFFFFF"/>
                </a:solidFill>
              </a:rPr>
              <a:t>DevSecOps CI/CD</a:t>
            </a:r>
            <a:endParaRPr lang="en-US" sz="850" dirty="0"/>
          </a:p>
        </p:txBody>
      </p:sp>
      <p:sp>
        <p:nvSpPr>
          <p:cNvPr id="17" name="Shape 14"/>
          <p:cNvSpPr/>
          <p:nvPr/>
        </p:nvSpPr>
        <p:spPr>
          <a:xfrm>
            <a:off x="7452360" y="3749040"/>
            <a:ext cx="1325880" cy="292608"/>
          </a:xfrm>
          <a:prstGeom prst="rect">
            <a:avLst/>
          </a:prstGeom>
          <a:solidFill>
            <a:srgbClr val="1A7A4A"/>
          </a:solidFill>
          <a:ln/>
        </p:spPr>
      </p:sp>
      <p:sp>
        <p:nvSpPr>
          <p:cNvPr id="18" name="Text 15"/>
          <p:cNvSpPr/>
          <p:nvPr/>
        </p:nvSpPr>
        <p:spPr>
          <a:xfrm>
            <a:off x="7452360" y="3749040"/>
            <a:ext cx="1325880" cy="292608"/>
          </a:xfrm>
          <a:prstGeom prst="rect">
            <a:avLst/>
          </a:prstGeom>
          <a:noFill/>
          <a:ln/>
        </p:spPr>
        <p:txBody>
          <a:bodyPr wrap="square" lIns="0" tIns="0" rIns="0" bIns="0" rtlCol="0" anchor="ctr"/>
          <a:lstStyle/>
          <a:p>
            <a:pPr algn="ctr" indent="0" marL="0">
              <a:buNone/>
            </a:pPr>
            <a:r>
              <a:rPr lang="en-US" sz="850" b="1" dirty="0">
                <a:solidFill>
                  <a:srgbClr val="FFFFFF"/>
                </a:solidFill>
              </a:rPr>
              <a:t>Full Remediation</a:t>
            </a:r>
            <a:endParaRPr lang="en-US" sz="850" dirty="0"/>
          </a:p>
        </p:txBody>
      </p:sp>
      <p:sp>
        <p:nvSpPr>
          <p:cNvPr id="19" name="Text 16"/>
          <p:cNvSpPr/>
          <p:nvPr/>
        </p:nvSpPr>
        <p:spPr>
          <a:xfrm>
            <a:off x="0" y="4800600"/>
            <a:ext cx="9144000" cy="256032"/>
          </a:xfrm>
          <a:prstGeom prst="rect">
            <a:avLst/>
          </a:prstGeom>
          <a:noFill/>
          <a:ln/>
        </p:spPr>
        <p:txBody>
          <a:bodyPr wrap="square" rtlCol="0" anchor="ctr"/>
          <a:lstStyle/>
          <a:p>
            <a:pPr algn="ctr" indent="0" marL="0">
              <a:buNone/>
            </a:pPr>
            <a:r>
              <a:rPr lang="en-US" sz="900" i="1" dirty="0">
                <a:solidFill>
                  <a:srgbClr val="718096"/>
                </a:solidFill>
              </a:rPr>
              <a:t>Information Security Risk Management  •  End-to-End Risk Assessment of a Software System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Risk Assessment of a Software System</dc:title>
  <dc:subject>PptxGenJS Presentation</dc:subject>
  <dc:creator>ISRM Project</dc:creator>
  <cp:lastModifiedBy>ISRM Project</cp:lastModifiedBy>
  <cp:revision>1</cp:revision>
  <dcterms:created xsi:type="dcterms:W3CDTF">2026-04-24T05:57:49Z</dcterms:created>
  <dcterms:modified xsi:type="dcterms:W3CDTF">2026-04-24T05:57:49Z</dcterms:modified>
</cp:coreProperties>
</file>